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98" r:id="rId2"/>
    <p:sldId id="299" r:id="rId3"/>
    <p:sldId id="300" r:id="rId4"/>
    <p:sldId id="301" r:id="rId5"/>
    <p:sldId id="302" r:id="rId6"/>
    <p:sldId id="303" r:id="rId7"/>
    <p:sldId id="305" r:id="rId8"/>
    <p:sldId id="304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7" r:id="rId20"/>
    <p:sldId id="318" r:id="rId21"/>
    <p:sldId id="319" r:id="rId22"/>
    <p:sldId id="320" r:id="rId23"/>
    <p:sldId id="321" r:id="rId24"/>
    <p:sldId id="322" r:id="rId25"/>
  </p:sldIdLst>
  <p:sldSz cx="10323513" cy="7561263"/>
  <p:notesSz cx="7099300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19113" indent="-619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39813" indent="-1254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560513" indent="-1889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081213" indent="-2524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2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8D7FA"/>
    <a:srgbClr val="FF9900"/>
    <a:srgbClr val="FFFF00"/>
    <a:srgbClr val="6699FF"/>
    <a:srgbClr val="000066"/>
    <a:srgbClr val="003399"/>
    <a:srgbClr val="423C3D"/>
    <a:srgbClr val="808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65" autoAdjust="0"/>
    <p:restoredTop sz="94581" autoAdjust="0"/>
  </p:normalViewPr>
  <p:slideViewPr>
    <p:cSldViewPr>
      <p:cViewPr varScale="1">
        <p:scale>
          <a:sx n="80" d="100"/>
          <a:sy n="80" d="100"/>
        </p:scale>
        <p:origin x="1290" y="96"/>
      </p:cViewPr>
      <p:guideLst>
        <p:guide orient="horz" pos="2381"/>
        <p:guide pos="32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350" y="-78"/>
      </p:cViewPr>
      <p:guideLst>
        <p:guide orient="horz" pos="3222"/>
        <p:guide pos="2236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6553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4"/>
            <a:ext cx="3076978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t" anchorCtr="0" compatLnSpc="1">
            <a:prstTxWarp prst="textNoShape">
              <a:avLst/>
            </a:prstTxWarp>
          </a:bodyPr>
          <a:lstStyle>
            <a:lvl1pPr defTabSz="990907">
              <a:defRPr sz="1200" b="0" smtClean="0"/>
            </a:lvl1pPr>
          </a:lstStyle>
          <a:p>
            <a:pPr>
              <a:defRPr/>
            </a:pPr>
            <a:r>
              <a:rPr lang="en-US" altLang="ko-KR"/>
              <a:t>Dongguk University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0651" y="4"/>
            <a:ext cx="3076977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t" anchorCtr="0" compatLnSpc="1">
            <a:prstTxWarp prst="textNoShape">
              <a:avLst/>
            </a:prstTxWarp>
          </a:bodyPr>
          <a:lstStyle>
            <a:lvl1pPr algn="r" defTabSz="990907">
              <a:defRPr sz="1200" b="0" smtClean="0"/>
            </a:lvl1pPr>
          </a:lstStyle>
          <a:p>
            <a:pPr>
              <a:defRPr/>
            </a:pPr>
            <a:r>
              <a:rPr lang="en-US"/>
              <a:t>11/25/2008</a:t>
            </a:r>
            <a:endParaRPr lang="en-US" altLang="ko-KR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8688" y="769938"/>
            <a:ext cx="524192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430" y="4861236"/>
            <a:ext cx="5680443" cy="460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472"/>
            <a:ext cx="3076978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b" anchorCtr="0" compatLnSpc="1">
            <a:prstTxWarp prst="textNoShape">
              <a:avLst/>
            </a:prstTxWarp>
          </a:bodyPr>
          <a:lstStyle>
            <a:lvl1pPr defTabSz="990907">
              <a:defRPr sz="1200" b="0" smtClean="0"/>
            </a:lvl1pPr>
          </a:lstStyle>
          <a:p>
            <a:pPr>
              <a:defRPr/>
            </a:pPr>
            <a:r>
              <a:rPr lang="en-US" altLang="ko-KR"/>
              <a:t>Department of Multimedia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651" y="9722472"/>
            <a:ext cx="3076977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b" anchorCtr="0" compatLnSpc="1">
            <a:prstTxWarp prst="textNoShape">
              <a:avLst/>
            </a:prstTxWarp>
          </a:bodyPr>
          <a:lstStyle>
            <a:lvl1pPr algn="r" defTabSz="990907">
              <a:defRPr sz="1200" b="0" smtClean="0"/>
            </a:lvl1pPr>
          </a:lstStyle>
          <a:p>
            <a:pPr>
              <a:defRPr/>
            </a:pPr>
            <a:fld id="{72223526-C2E7-4AD9-8A99-88A2648255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472744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191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398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5605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0812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602792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3351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43909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64468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1-31-Graphic-Motif-Type-B-U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588" y="4489450"/>
            <a:ext cx="31623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4" descr="1-05-Signature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035925" y="139700"/>
            <a:ext cx="2228850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6" descr="1-29-Graphic-Motif-Type-A-Co"/>
          <p:cNvPicPr preferRelativeResize="0">
            <a:picLocks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1019175"/>
            <a:ext cx="10323513" cy="4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3514" y="1994681"/>
            <a:ext cx="8774987" cy="2143140"/>
          </a:xfrm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>
            <a:lvl1pPr algn="ctr">
              <a:lnSpc>
                <a:spcPct val="100000"/>
              </a:lnSpc>
              <a:defRPr sz="5400" b="1" cap="none" spc="0">
                <a:ln>
                  <a:noFill/>
                </a:ln>
                <a:solidFill>
                  <a:srgbClr val="003399"/>
                </a:solidFill>
                <a:effectLst/>
                <a:latin typeface="Helvetica" pitchFamily="34" charset="0"/>
                <a:ea typeface="HY강M" pitchFamily="18" charset="-127"/>
              </a:defRPr>
            </a:lvl1pPr>
          </a:lstStyle>
          <a:p>
            <a:r>
              <a:rPr lang="en-US" altLang="ko-KR" dirty="0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8283" y="4575271"/>
            <a:ext cx="7930824" cy="16417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lnSpc>
                <a:spcPct val="80000"/>
              </a:lnSpc>
              <a:buFont typeface="Wingdings" pitchFamily="2" charset="2"/>
              <a:buNone/>
              <a:defRPr sz="3600" b="0" cap="none" spc="0">
                <a:ln>
                  <a:noFill/>
                </a:ln>
                <a:solidFill>
                  <a:schemeClr val="accent5">
                    <a:lumMod val="25000"/>
                  </a:schemeClr>
                </a:solidFill>
                <a:effectLst/>
                <a:latin typeface="Helvetica" pitchFamily="34" charset="0"/>
                <a:ea typeface="HY강B" pitchFamily="18" charset="-127"/>
              </a:defRPr>
            </a:lvl1pPr>
          </a:lstStyle>
          <a:p>
            <a:r>
              <a:rPr lang="en-US" altLang="ko-KR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cap="none" spc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D57F253-BFD6-4B06-BA72-D88E120B01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1-31-Graphic-Motif-Type-B-Us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588" y="4494213"/>
            <a:ext cx="31623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77788"/>
            <a:ext cx="9927246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112" tIns="52056" rIns="104112" bIns="52056" numCol="1" anchor="b" anchorCtr="0" compatLnSpc="1"/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3200" y="1079500"/>
            <a:ext cx="9917113" cy="603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112" tIns="52056" rIns="104112" bIns="520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5938" y="7224713"/>
            <a:ext cx="2409825" cy="29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112" tIns="52056" rIns="104112" bIns="52056" numCol="1" anchor="t" anchorCtr="0" compatLnSpc="1">
            <a:prstTxWarp prst="textNoShape">
              <a:avLst/>
            </a:prstTxWarp>
          </a:bodyPr>
          <a:lstStyle>
            <a:lvl1pPr>
              <a:defRPr sz="1400" b="0" smtClean="0">
                <a:solidFill>
                  <a:schemeClr val="bg2"/>
                </a:solidFill>
                <a:latin typeface="Helvetica" pitchFamily="34" charset="0"/>
              </a:defRPr>
            </a:lvl1pPr>
          </a:lstStyle>
          <a:p>
            <a:pPr>
              <a:defRPr/>
            </a:pPr>
            <a:fld id="{76D4B86E-74BB-441A-9532-38AF29BD327E}" type="datetime1">
              <a:rPr lang="ko-KR" altLang="en-US" smtClean="0"/>
              <a:t>2018-05-03</a:t>
            </a:fld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97750" y="7224713"/>
            <a:ext cx="2409825" cy="29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112" tIns="52056" rIns="104112" bIns="52056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>
                <a:solidFill>
                  <a:schemeClr val="bg2"/>
                </a:solidFill>
                <a:latin typeface="Helvetica" pitchFamily="34" charset="0"/>
              </a:defRPr>
            </a:lvl1pPr>
          </a:lstStyle>
          <a:p>
            <a:pPr>
              <a:defRPr/>
            </a:pPr>
            <a:fld id="{BEA56C7E-B086-4260-9634-0FD7B2E06793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2" name="Picture 18" descr="1-29-Graphic-Motif-Type-A-Co"/>
          <p:cNvPicPr preferRelativeResize="0">
            <a:picLocks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1588" y="7178675"/>
            <a:ext cx="10323512" cy="4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14" descr="1-05-Signature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8593138" y="258763"/>
            <a:ext cx="1655762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hdr="0"/>
  <p:txStyles>
    <p:titleStyle>
      <a:lvl1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4400" b="1" cap="none" spc="0">
          <a:ln>
            <a:noFill/>
          </a:ln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Helvetica" pitchFamily="34" charset="0"/>
          <a:ea typeface="HY강M" pitchFamily="18" charset="-127"/>
          <a:cs typeface="+mj-cs"/>
        </a:defRPr>
      </a:lvl1pPr>
      <a:lvl2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2pPr>
      <a:lvl3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3pPr>
      <a:lvl4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4pPr>
      <a:lvl5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5pPr>
      <a:lvl6pPr marL="520559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6pPr>
      <a:lvl7pPr marL="1041117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7pPr>
      <a:lvl8pPr marL="1561676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8pPr>
      <a:lvl9pPr marL="2082235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9pPr>
    </p:titleStyle>
    <p:bodyStyle>
      <a:lvl1pPr marL="388938" indent="-388938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§"/>
        <a:defRPr kumimoji="1" sz="28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844550" indent="-323850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ú"/>
        <a:defRPr kumimoji="1" sz="24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1300163" indent="-258763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Char char="•"/>
        <a:defRPr kumimoji="1" sz="20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820863" indent="-258763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w"/>
        <a:defRPr kumimoji="1" sz="16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2341563" indent="-258763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ü"/>
        <a:defRPr kumimoji="1" sz="16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2863072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6pPr>
      <a:lvl7pPr marL="3383630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7pPr>
      <a:lvl8pPr marL="3904189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8pPr>
      <a:lvl9pPr marL="4424747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0559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1117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1676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2235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2792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3351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43909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64468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2400" dirty="0"/>
              <a:t> </a:t>
            </a:r>
            <a:br>
              <a:rPr lang="ko-KR" altLang="en-US" sz="2400" b="0" dirty="0"/>
            </a:br>
            <a:r>
              <a:rPr lang="en-US" altLang="ko-KR" sz="2400" b="0" dirty="0"/>
              <a:t> </a:t>
            </a:r>
            <a:r>
              <a:rPr lang="en-US" altLang="ko-KR" sz="2400" dirty="0"/>
              <a:t>Keep it SMPL: Automatic Estimation of 3D Human Pose and Shape from a Single Image</a:t>
            </a:r>
            <a:endParaRPr lang="ko-KR" altLang="en-US" sz="2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2018.05.03</a:t>
            </a:r>
            <a:endParaRPr lang="en-US" altLang="ko-KR" dirty="0"/>
          </a:p>
          <a:p>
            <a:r>
              <a:rPr lang="en-US" altLang="ko-KR" dirty="0"/>
              <a:t>Jae-Ryun Chung</a:t>
            </a:r>
          </a:p>
        </p:txBody>
      </p:sp>
    </p:spTree>
    <p:extLst>
      <p:ext uri="{BB962C8B-B14F-4D97-AF65-F5344CB8AC3E}">
        <p14:creationId xmlns:p14="http://schemas.microsoft.com/office/powerpoint/2010/main" val="1415852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Estimate 3D pose and shape from a single unconstrained image</a:t>
            </a:r>
          </a:p>
          <a:p>
            <a:r>
              <a:rPr lang="en-US" altLang="ko-KR" dirty="0"/>
              <a:t>Problems : complexity of body, articulation, occlusion, </a:t>
            </a:r>
            <a:r>
              <a:rPr lang="en-US" altLang="ko-KR" u="sng" dirty="0"/>
              <a:t>clothing,</a:t>
            </a:r>
            <a:r>
              <a:rPr lang="en-US" altLang="ko-KR" dirty="0"/>
              <a:t> lighting,…</a:t>
            </a:r>
          </a:p>
          <a:p>
            <a:r>
              <a:rPr lang="en-US" altLang="ko-KR" dirty="0"/>
              <a:t>Solve :</a:t>
            </a:r>
          </a:p>
          <a:p>
            <a:pPr lvl="1"/>
            <a:r>
              <a:rPr lang="en-US" altLang="ko-KR" dirty="0"/>
              <a:t>(bottom-up) </a:t>
            </a:r>
            <a:r>
              <a:rPr lang="en-US" altLang="ko-KR" dirty="0" err="1"/>
              <a:t>DeepCut</a:t>
            </a:r>
            <a:r>
              <a:rPr lang="en-US" altLang="ko-KR" dirty="0"/>
              <a:t> – CNN based method predict 2D body joint locations</a:t>
            </a:r>
          </a:p>
          <a:p>
            <a:pPr lvl="1"/>
            <a:r>
              <a:rPr lang="en-US" altLang="ko-KR" dirty="0"/>
              <a:t>(top-down) fit SMPL, statistical body shape model, to 2D joints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336" y="4932791"/>
            <a:ext cx="4852839" cy="205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1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Prev. approaches focus only on pose</a:t>
            </a:r>
          </a:p>
          <a:p>
            <a:r>
              <a:rPr lang="en-US" altLang="ko-KR" dirty="0"/>
              <a:t>Key contributions</a:t>
            </a:r>
          </a:p>
          <a:p>
            <a:pPr lvl="1"/>
            <a:r>
              <a:rPr lang="en-US" altLang="ko-KR" dirty="0"/>
              <a:t>Proposed method is fully automatic estimating both pose and shape</a:t>
            </a:r>
          </a:p>
          <a:p>
            <a:pPr lvl="1"/>
            <a:r>
              <a:rPr lang="en-US" altLang="ko-KR" dirty="0"/>
              <a:t>Interpenetration term</a:t>
            </a:r>
          </a:p>
          <a:p>
            <a:pPr lvl="2"/>
            <a:r>
              <a:rPr lang="en-US" altLang="ko-KR" dirty="0"/>
              <a:t>differentiable with respect to shape and pose</a:t>
            </a:r>
          </a:p>
          <a:p>
            <a:pPr lvl="2"/>
            <a:r>
              <a:rPr lang="en-US" altLang="ko-KR" dirty="0"/>
              <a:t>Define a set </a:t>
            </a:r>
            <a:r>
              <a:rPr lang="en-US" altLang="ko-KR" dirty="0" err="1"/>
              <a:t>of”capsules</a:t>
            </a:r>
            <a:r>
              <a:rPr lang="en-US" altLang="ko-KR" dirty="0"/>
              <a:t>” for body shape</a:t>
            </a:r>
          </a:p>
          <a:p>
            <a:pPr lvl="1"/>
            <a:r>
              <a:rPr lang="en-US" altLang="ko-KR" dirty="0"/>
              <a:t>Define objective function and optimize pose and shape</a:t>
            </a:r>
          </a:p>
          <a:p>
            <a:r>
              <a:rPr lang="en-US" altLang="ko-KR" dirty="0"/>
              <a:t>Insist 2D joint locations contain 3D shape information</a:t>
            </a:r>
          </a:p>
          <a:p>
            <a:r>
              <a:rPr lang="en-US" altLang="ko-KR" dirty="0"/>
              <a:t>Gender-specific</a:t>
            </a:r>
          </a:p>
          <a:p>
            <a:pPr lvl="1"/>
            <a:r>
              <a:rPr lang="en-US" altLang="ko-KR" dirty="0"/>
              <a:t>Know gender – use specific model (pink model)</a:t>
            </a:r>
          </a:p>
          <a:p>
            <a:pPr lvl="1"/>
            <a:r>
              <a:rPr lang="en-US" altLang="ko-KR" dirty="0"/>
              <a:t>Don’t know – use neutral model (light blue model)</a:t>
            </a:r>
          </a:p>
          <a:p>
            <a:pPr lvl="2"/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101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z="2400" dirty="0" err="1"/>
              <a:t>DeepCut</a:t>
            </a:r>
            <a:r>
              <a:rPr lang="en-US" altLang="ko-KR" sz="2400" dirty="0"/>
              <a:t> predict 2D body joints – provide confidence value</a:t>
            </a:r>
            <a:endParaRPr lang="en-US" altLang="ko-KR" dirty="0"/>
          </a:p>
          <a:p>
            <a:r>
              <a:rPr lang="en-US" altLang="ko-KR" sz="2400" dirty="0"/>
              <a:t>Fit 3D body model minimize weighted error term using SMPL</a:t>
            </a:r>
          </a:p>
          <a:p>
            <a:r>
              <a:rPr lang="en-US" altLang="ko-KR" sz="2400" dirty="0"/>
              <a:t>    =           </a:t>
            </a:r>
          </a:p>
          <a:p>
            <a:pPr lvl="1"/>
            <a:r>
              <a:rPr lang="en-US" altLang="ko-KR" sz="2000" dirty="0"/>
              <a:t>Body model function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226" y="969962"/>
            <a:ext cx="7273010" cy="328728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6" y="5120804"/>
            <a:ext cx="285790" cy="20005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236" y="5073172"/>
            <a:ext cx="1019317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95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   =           </a:t>
            </a:r>
          </a:p>
          <a:p>
            <a:pPr lvl="1"/>
            <a:r>
              <a:rPr lang="en-US" altLang="ko-KR" dirty="0"/>
              <a:t>Body model function – triangulated surface with 6890 vertices</a:t>
            </a:r>
          </a:p>
          <a:p>
            <a:pPr lvl="1"/>
            <a:r>
              <a:rPr lang="en-US" altLang="ko-KR" dirty="0"/>
              <a:t>β : shape – coefficients of low-dimensional shape space</a:t>
            </a:r>
          </a:p>
          <a:p>
            <a:pPr lvl="2"/>
            <a:r>
              <a:rPr lang="en-US" altLang="ko-KR" sz="2400" dirty="0"/>
              <a:t>3 shape models – male, female, gender-neutral</a:t>
            </a:r>
          </a:p>
          <a:p>
            <a:pPr lvl="3"/>
            <a:r>
              <a:rPr lang="en-US" altLang="ko-KR" sz="1800" dirty="0"/>
              <a:t>Trained gender-neutral using 2000+2000 body shapes used to train SMPL</a:t>
            </a:r>
          </a:p>
          <a:p>
            <a:pPr lvl="1"/>
            <a:r>
              <a:rPr lang="en-US" altLang="ko-KR" dirty="0"/>
              <a:t>θ : pose</a:t>
            </a:r>
          </a:p>
          <a:p>
            <a:pPr lvl="2"/>
            <a:r>
              <a:rPr lang="en-US" altLang="ko-KR" sz="1800" dirty="0"/>
              <a:t>Skeleton rig with 23 joints</a:t>
            </a:r>
          </a:p>
          <a:p>
            <a:pPr lvl="2"/>
            <a:r>
              <a:rPr lang="en-US" altLang="ko-KR" sz="1800" dirty="0"/>
              <a:t>Represent axis-angle of relative rotation</a:t>
            </a:r>
          </a:p>
          <a:p>
            <a:pPr lvl="2"/>
            <a:r>
              <a:rPr lang="en-US" altLang="ko-KR" sz="1800" dirty="0"/>
              <a:t>In SMPL, joints are linear combinations of surface vertices or function of shape coefficients</a:t>
            </a:r>
          </a:p>
          <a:p>
            <a:pPr lvl="2"/>
            <a:r>
              <a:rPr lang="en-US" altLang="ko-KR" sz="1800" dirty="0"/>
              <a:t>R</a:t>
            </a:r>
            <a:r>
              <a:rPr lang="en-US" altLang="ko-KR" sz="1800" baseline="-25000" dirty="0"/>
              <a:t>θ</a:t>
            </a:r>
            <a:r>
              <a:rPr lang="en-US" altLang="ko-KR" sz="1800" dirty="0"/>
              <a:t>(J(β)</a:t>
            </a:r>
            <a:r>
              <a:rPr lang="en-US" altLang="ko-KR" sz="1800" baseline="-25000" dirty="0" err="1"/>
              <a:t>i</a:t>
            </a:r>
            <a:r>
              <a:rPr lang="en-US" altLang="ko-KR" sz="1800" dirty="0"/>
              <a:t>) for joint </a:t>
            </a:r>
            <a:r>
              <a:rPr lang="en-US" altLang="ko-KR" sz="1800" dirty="0" err="1"/>
              <a:t>i</a:t>
            </a:r>
            <a:r>
              <a:rPr lang="en-US" altLang="ko-KR" sz="1800" dirty="0"/>
              <a:t>, R</a:t>
            </a:r>
            <a:r>
              <a:rPr lang="en-US" altLang="ko-KR" sz="1800" baseline="-25000" dirty="0"/>
              <a:t>θ </a:t>
            </a:r>
            <a:r>
              <a:rPr lang="en-US" altLang="ko-KR" sz="1800" dirty="0"/>
              <a:t>is global rigid transformation induced by pose</a:t>
            </a:r>
          </a:p>
          <a:p>
            <a:pPr lvl="1"/>
            <a:r>
              <a:rPr lang="en-US" altLang="ko-KR" dirty="0"/>
              <a:t>  : </a:t>
            </a:r>
            <a:r>
              <a:rPr lang="en-US" altLang="ko-KR" dirty="0" err="1"/>
              <a:t>transation</a:t>
            </a:r>
            <a:endParaRPr lang="en-US" altLang="ko-KR" sz="2800" dirty="0"/>
          </a:p>
        </p:txBody>
      </p:sp>
      <p:grpSp>
        <p:nvGrpSpPr>
          <p:cNvPr id="3" name="그룹 2"/>
          <p:cNvGrpSpPr/>
          <p:nvPr/>
        </p:nvGrpSpPr>
        <p:grpSpPr>
          <a:xfrm>
            <a:off x="625126" y="1123951"/>
            <a:ext cx="2088290" cy="466674"/>
            <a:chOff x="769146" y="5073172"/>
            <a:chExt cx="1667407" cy="295316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146" y="5120804"/>
              <a:ext cx="285790" cy="200053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7236" y="5073172"/>
              <a:ext cx="1019317" cy="295316"/>
            </a:xfrm>
            <a:prstGeom prst="rect">
              <a:avLst/>
            </a:prstGeom>
          </p:spPr>
        </p:pic>
      </p:grp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54" y="5364851"/>
            <a:ext cx="288040" cy="31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09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Approximating bodies with capsules</a:t>
            </a:r>
          </a:p>
          <a:p>
            <a:r>
              <a:rPr lang="en-US" altLang="ko-KR" dirty="0"/>
              <a:t>In graphics, use proxy geometries to compute collisions</a:t>
            </a:r>
          </a:p>
          <a:p>
            <a:pPr lvl="1"/>
            <a:r>
              <a:rPr lang="en-US" altLang="ko-KR" dirty="0"/>
              <a:t>Follow this approach</a:t>
            </a:r>
          </a:p>
          <a:p>
            <a:pPr lvl="1"/>
            <a:r>
              <a:rPr lang="en-US" altLang="ko-KR" dirty="0"/>
              <a:t>Each capsule has a radius and axis length</a:t>
            </a:r>
          </a:p>
          <a:p>
            <a:r>
              <a:rPr lang="en-US" altLang="ko-KR" dirty="0"/>
              <a:t>Capsule</a:t>
            </a:r>
          </a:p>
          <a:p>
            <a:pPr lvl="1"/>
            <a:r>
              <a:rPr lang="en-US" altLang="ko-KR" dirty="0"/>
              <a:t>Train </a:t>
            </a:r>
            <a:r>
              <a:rPr lang="en-US" altLang="ko-KR" dirty="0" err="1"/>
              <a:t>regressor</a:t>
            </a:r>
            <a:r>
              <a:rPr lang="en-US" altLang="ko-KR" dirty="0"/>
              <a:t> from model shape parameters to capsule parameters</a:t>
            </a:r>
          </a:p>
          <a:p>
            <a:pPr lvl="2"/>
            <a:r>
              <a:rPr lang="en-US" altLang="ko-KR" dirty="0"/>
              <a:t>Pose capsules according to R</a:t>
            </a:r>
            <a:r>
              <a:rPr lang="en-US" altLang="ko-KR" baseline="-25000" dirty="0"/>
              <a:t>θ</a:t>
            </a:r>
          </a:p>
          <a:p>
            <a:pPr lvl="2"/>
            <a:r>
              <a:rPr lang="en-US" altLang="ko-KR" dirty="0"/>
              <a:t>Rotation induced by kinematic chain</a:t>
            </a:r>
          </a:p>
          <a:p>
            <a:pPr lvl="1"/>
            <a:r>
              <a:rPr lang="en-US" altLang="ko-KR" dirty="0"/>
              <a:t>20 capsules excluding fingers and toes</a:t>
            </a:r>
          </a:p>
          <a:p>
            <a:pPr lvl="1"/>
            <a:r>
              <a:rPr lang="en-US" altLang="ko-KR" dirty="0"/>
              <a:t>Gradient-based optimization of radii and lengths</a:t>
            </a:r>
          </a:p>
          <a:p>
            <a:pPr lvl="1"/>
            <a:r>
              <a:rPr lang="en-US" altLang="ko-KR" dirty="0"/>
              <a:t>Learn a linear </a:t>
            </a:r>
            <a:r>
              <a:rPr lang="en-US" altLang="ko-KR" dirty="0" err="1"/>
              <a:t>regressor</a:t>
            </a:r>
            <a:r>
              <a:rPr lang="en-US" altLang="ko-KR" dirty="0"/>
              <a:t> using cross-validated ridge regression</a:t>
            </a:r>
          </a:p>
          <a:p>
            <a:pPr lvl="1"/>
            <a:r>
              <a:rPr lang="en-US" altLang="ko-KR" dirty="0" err="1"/>
              <a:t>Precedure</a:t>
            </a:r>
            <a:r>
              <a:rPr lang="en-US" altLang="ko-KR" dirty="0"/>
              <a:t> iterated once more so initialize capsules with output</a:t>
            </a:r>
          </a:p>
        </p:txBody>
      </p:sp>
    </p:spTree>
    <p:extLst>
      <p:ext uri="{BB962C8B-B14F-4D97-AF65-F5344CB8AC3E}">
        <p14:creationId xmlns:p14="http://schemas.microsoft.com/office/powerpoint/2010/main" val="3415349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Capsule</a:t>
            </a:r>
          </a:p>
          <a:p>
            <a:pPr lvl="1"/>
            <a:r>
              <a:rPr lang="en-US" altLang="ko-KR" dirty="0"/>
              <a:t>Train </a:t>
            </a:r>
            <a:r>
              <a:rPr lang="en-US" altLang="ko-KR" dirty="0" err="1"/>
              <a:t>regressor</a:t>
            </a:r>
            <a:r>
              <a:rPr lang="en-US" altLang="ko-KR" dirty="0"/>
              <a:t> from model shape parameters to capsule parameters</a:t>
            </a:r>
          </a:p>
          <a:p>
            <a:pPr lvl="2"/>
            <a:r>
              <a:rPr lang="en-US" altLang="ko-KR" dirty="0"/>
              <a:t>Pose capsules according to R</a:t>
            </a:r>
            <a:r>
              <a:rPr lang="en-US" altLang="ko-KR" baseline="-25000" dirty="0"/>
              <a:t>θ</a:t>
            </a:r>
          </a:p>
          <a:p>
            <a:pPr lvl="2"/>
            <a:r>
              <a:rPr lang="en-US" altLang="ko-KR" dirty="0"/>
              <a:t>Rotation induced by kinematic chain</a:t>
            </a:r>
          </a:p>
          <a:p>
            <a:pPr lvl="1"/>
            <a:r>
              <a:rPr lang="en-US" altLang="ko-KR" dirty="0"/>
              <a:t>20 capsules excluding fingers and toes</a:t>
            </a:r>
          </a:p>
          <a:p>
            <a:pPr lvl="1"/>
            <a:r>
              <a:rPr lang="en-US" altLang="ko-KR" dirty="0"/>
              <a:t>Gradient-based optimization of radii and lengths</a:t>
            </a:r>
          </a:p>
          <a:p>
            <a:pPr lvl="1"/>
            <a:r>
              <a:rPr lang="en-US" altLang="ko-KR" dirty="0"/>
              <a:t>Learn a linear </a:t>
            </a:r>
            <a:r>
              <a:rPr lang="en-US" altLang="ko-KR" dirty="0" err="1"/>
              <a:t>regressor</a:t>
            </a:r>
            <a:r>
              <a:rPr lang="en-US" altLang="ko-KR" dirty="0"/>
              <a:t> using cross-validated ridge regression</a:t>
            </a:r>
          </a:p>
          <a:p>
            <a:pPr lvl="1"/>
            <a:r>
              <a:rPr lang="en-US" altLang="ko-KR" dirty="0" err="1"/>
              <a:t>Precedure</a:t>
            </a:r>
            <a:r>
              <a:rPr lang="en-US" altLang="ko-KR" dirty="0"/>
              <a:t> iterated once more so initialize capsules with output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763" y="1050106"/>
            <a:ext cx="4824670" cy="195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5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fit 3D pose and shape to CNN-detected 2D joints</a:t>
            </a:r>
          </a:p>
          <a:p>
            <a:r>
              <a:rPr lang="en-US" altLang="ko-KR" dirty="0"/>
              <a:t>Sum of 5 error terms</a:t>
            </a:r>
          </a:p>
          <a:p>
            <a:pPr lvl="1"/>
            <a:r>
              <a:rPr lang="en-US" altLang="ko-KR" dirty="0"/>
              <a:t>Joint-based data, 3 pose priors and a shape prior</a:t>
            </a:r>
          </a:p>
          <a:p>
            <a:r>
              <a:rPr lang="en-US" altLang="ko-KR" dirty="0"/>
              <a:t>E(β, θ) =</a:t>
            </a:r>
          </a:p>
          <a:p>
            <a:pPr lvl="1"/>
            <a:r>
              <a:rPr lang="en-US" altLang="ko-KR" dirty="0"/>
              <a:t>K : camera parameters</a:t>
            </a:r>
          </a:p>
          <a:p>
            <a:r>
              <a:rPr lang="en-US" altLang="ko-KR" dirty="0" err="1"/>
              <a:t>Df</a:t>
            </a:r>
            <a:endParaRPr lang="en-US" altLang="ko-KR" dirty="0"/>
          </a:p>
          <a:p>
            <a:pPr lvl="1"/>
            <a:r>
              <a:rPr lang="en-US" altLang="ko-KR" dirty="0"/>
              <a:t>Penalize weighted 2D distance between joints J and corresponding SMPL joints</a:t>
            </a:r>
          </a:p>
          <a:p>
            <a:pPr lvl="1"/>
            <a:r>
              <a:rPr lang="en-US" altLang="ko-KR" dirty="0"/>
              <a:t>Π</a:t>
            </a:r>
            <a:r>
              <a:rPr lang="en-US" altLang="ko-KR" baseline="-25000" dirty="0"/>
              <a:t>K </a:t>
            </a:r>
            <a:r>
              <a:rPr lang="en-US" altLang="ko-KR" dirty="0"/>
              <a:t>: projection from 3D to 2D by K</a:t>
            </a:r>
          </a:p>
          <a:p>
            <a:pPr lvl="1"/>
            <a:r>
              <a:rPr lang="en-US" altLang="ko-KR" dirty="0"/>
              <a:t>Weight contribution of each joints by confidence of its estimate, ω</a:t>
            </a:r>
            <a:r>
              <a:rPr lang="en-US" altLang="ko-KR" baseline="-25000" dirty="0"/>
              <a:t>i</a:t>
            </a:r>
            <a:r>
              <a:rPr lang="en-US" altLang="ko-KR" dirty="0"/>
              <a:t>, provided by the CNN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168" y="2556461"/>
            <a:ext cx="8065121" cy="58343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34"/>
          <a:stretch/>
        </p:blipFill>
        <p:spPr>
          <a:xfrm>
            <a:off x="625126" y="3427452"/>
            <a:ext cx="6087325" cy="64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04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  E(β, θ) =</a:t>
            </a:r>
          </a:p>
          <a:p>
            <a:endParaRPr lang="en-US" altLang="ko-KR" dirty="0"/>
          </a:p>
          <a:p>
            <a:r>
              <a:rPr lang="en-US" altLang="ko-KR" dirty="0"/>
              <a:t>d</a:t>
            </a:r>
          </a:p>
          <a:p>
            <a:pPr lvl="1"/>
            <a:r>
              <a:rPr lang="en-US" altLang="ko-KR" dirty="0"/>
              <a:t>Pose prior </a:t>
            </a:r>
            <a:r>
              <a:rPr lang="en-US" altLang="ko-KR" dirty="0" err="1"/>
              <a:t>penaizing</a:t>
            </a:r>
            <a:r>
              <a:rPr lang="en-US" altLang="ko-KR" dirty="0"/>
              <a:t> elbows and knees</a:t>
            </a:r>
          </a:p>
          <a:p>
            <a:pPr lvl="1"/>
            <a:r>
              <a:rPr lang="en-US" altLang="ko-KR" dirty="0" err="1"/>
              <a:t>i</a:t>
            </a:r>
            <a:r>
              <a:rPr lang="en-US" altLang="ko-KR" dirty="0"/>
              <a:t> : sums over pose parameters(rotations) to blending of knees and elbows</a:t>
            </a:r>
          </a:p>
          <a:p>
            <a:pPr lvl="1"/>
            <a:r>
              <a:rPr lang="en-US" altLang="ko-KR" dirty="0"/>
              <a:t>θ</a:t>
            </a:r>
            <a:r>
              <a:rPr lang="en-US" altLang="ko-KR" baseline="-25000" dirty="0"/>
              <a:t>i</a:t>
            </a:r>
            <a:r>
              <a:rPr lang="en-US" altLang="ko-KR" dirty="0"/>
              <a:t> is zero if joint is not bent</a:t>
            </a:r>
          </a:p>
          <a:p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23" y="2124401"/>
            <a:ext cx="4534533" cy="56205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325" y="1058198"/>
            <a:ext cx="8065121" cy="58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36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  E(β, θ) =</a:t>
            </a:r>
          </a:p>
          <a:p>
            <a:endParaRPr lang="en-US" altLang="ko-KR" dirty="0"/>
          </a:p>
          <a:p>
            <a:r>
              <a:rPr lang="en-US" altLang="ko-KR" dirty="0"/>
              <a:t>d</a:t>
            </a:r>
          </a:p>
          <a:p>
            <a:pPr lvl="1"/>
            <a:r>
              <a:rPr lang="en-US" altLang="ko-KR" dirty="0"/>
              <a:t>Pose prior </a:t>
            </a:r>
            <a:r>
              <a:rPr lang="en-US" altLang="ko-KR" dirty="0" err="1"/>
              <a:t>penaizing</a:t>
            </a:r>
            <a:r>
              <a:rPr lang="en-US" altLang="ko-KR" dirty="0"/>
              <a:t> elbows and knees</a:t>
            </a:r>
          </a:p>
          <a:p>
            <a:pPr lvl="1"/>
            <a:r>
              <a:rPr lang="en-US" altLang="ko-KR" dirty="0"/>
              <a:t>3D pose estimation</a:t>
            </a:r>
          </a:p>
          <a:p>
            <a:pPr lvl="1"/>
            <a:r>
              <a:rPr lang="en-US" altLang="ko-KR" dirty="0"/>
              <a:t>Use CMU dataset like prev. methods to train pose prior</a:t>
            </a:r>
          </a:p>
          <a:p>
            <a:pPr lvl="1"/>
            <a:r>
              <a:rPr lang="en-US" altLang="ko-KR" dirty="0"/>
              <a:t>Fitting SMPL to CMU marker data using </a:t>
            </a:r>
            <a:r>
              <a:rPr lang="en-US" altLang="ko-KR" dirty="0" err="1"/>
              <a:t>MoSh</a:t>
            </a:r>
            <a:endParaRPr lang="en-US" altLang="ko-KR" dirty="0"/>
          </a:p>
          <a:p>
            <a:pPr lvl="1"/>
            <a:r>
              <a:rPr lang="en-US" altLang="ko-KR" dirty="0"/>
              <a:t>Then fit mixture of Gaussians to 1m poses, spanning 100 subjects</a:t>
            </a:r>
          </a:p>
          <a:p>
            <a:pPr lvl="1"/>
            <a:r>
              <a:rPr lang="en-US" altLang="ko-KR" dirty="0"/>
              <a:t>g</a:t>
            </a:r>
            <a:r>
              <a:rPr lang="en-US" altLang="ko-KR" baseline="-25000" dirty="0"/>
              <a:t>i</a:t>
            </a:r>
            <a:r>
              <a:rPr lang="en-US" altLang="ko-KR" dirty="0"/>
              <a:t> : N = 8 Gaussians</a:t>
            </a:r>
          </a:p>
          <a:p>
            <a:pPr lvl="1"/>
            <a:r>
              <a:rPr lang="en-US" altLang="ko-KR" dirty="0"/>
              <a:t>C : positive constant for our solver implementation</a:t>
            </a:r>
          </a:p>
          <a:p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325" y="1058198"/>
            <a:ext cx="8065121" cy="58343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26" y="2196411"/>
            <a:ext cx="6868484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28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  E(β, θ) =</a:t>
            </a:r>
          </a:p>
          <a:p>
            <a:endParaRPr lang="en-US" altLang="ko-KR" dirty="0"/>
          </a:p>
          <a:p>
            <a:r>
              <a:rPr lang="en-US" altLang="ko-KR" dirty="0"/>
              <a:t>d</a:t>
            </a:r>
          </a:p>
          <a:p>
            <a:pPr lvl="1"/>
            <a:r>
              <a:rPr lang="en-US" altLang="ko-KR" dirty="0"/>
              <a:t>“Incompatible” - capsules not intersect in natural poses</a:t>
            </a:r>
          </a:p>
          <a:p>
            <a:pPr marL="5207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Interpenetration error term that exploits capsule approximation</a:t>
            </a:r>
          </a:p>
          <a:p>
            <a:pPr lvl="1"/>
            <a:r>
              <a:rPr lang="en-US" altLang="ko-KR" dirty="0"/>
              <a:t>Relate error term to intersection volume between incompatible </a:t>
            </a:r>
          </a:p>
          <a:p>
            <a:pPr lvl="1"/>
            <a:r>
              <a:rPr lang="en-US" altLang="ko-KR" dirty="0"/>
              <a:t>Volume of capsule is not simple – Sphere with centers C(θ, β)</a:t>
            </a:r>
          </a:p>
          <a:p>
            <a:pPr lvl="1"/>
            <a:r>
              <a:rPr lang="en-US" altLang="ko-KR" dirty="0"/>
              <a:t>Penalty term inspired by mixture of 3D Gaussians model</a:t>
            </a:r>
          </a:p>
          <a:p>
            <a:pPr lvl="2"/>
            <a:r>
              <a:rPr lang="en-US" altLang="ko-KR" dirty="0"/>
              <a:t>3D isotropic Gaussian with 		  </a:t>
            </a:r>
          </a:p>
          <a:p>
            <a:pPr lvl="1"/>
            <a:r>
              <a:rPr lang="en-US" altLang="ko-KR" dirty="0"/>
              <a:t>I(</a:t>
            </a:r>
            <a:r>
              <a:rPr lang="en-US" altLang="ko-KR" dirty="0" err="1"/>
              <a:t>i</a:t>
            </a:r>
            <a:r>
              <a:rPr lang="en-US" altLang="ko-KR" dirty="0"/>
              <a:t>) : spheres incompatible with </a:t>
            </a:r>
            <a:r>
              <a:rPr lang="en-US" altLang="ko-KR" dirty="0" err="1"/>
              <a:t>i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325" y="1058198"/>
            <a:ext cx="8065121" cy="58343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14" y="1908371"/>
            <a:ext cx="5944430" cy="77163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706" y="5220831"/>
            <a:ext cx="1407280" cy="43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45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Objective function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 dirty="0"/>
                  <a:t>   E(β, θ) =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d</a:t>
                </a:r>
              </a:p>
              <a:p>
                <a:pPr lvl="1"/>
                <a:r>
                  <a:rPr lang="en-US" altLang="ko-KR" dirty="0"/>
                  <a:t>Shape prior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altLang="ko-KR" baseline="30000" dirty="0"/>
                  <a:t>-1</a:t>
                </a:r>
                <a:r>
                  <a:rPr lang="en-US" altLang="ko-KR" baseline="-25000" dirty="0"/>
                  <a:t>β </a:t>
                </a:r>
                <a:r>
                  <a:rPr lang="en-US" altLang="ko-KR" dirty="0"/>
                  <a:t>: diagonal matrix with squared singular values via Principal Component Analysis from shapes in SMPL training set</a:t>
                </a:r>
              </a:p>
              <a:p>
                <a:pPr lvl="1"/>
                <a:r>
                  <a:rPr lang="en-US" altLang="ko-KR" dirty="0"/>
                  <a:t>Shape coefficients β are zero-mean</a:t>
                </a:r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2" t="-909" r="-7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325" y="1058198"/>
            <a:ext cx="8065121" cy="58343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60" y="2138584"/>
            <a:ext cx="4525006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533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Estimating camera translation</a:t>
            </a:r>
          </a:p>
          <a:p>
            <a:pPr lvl="1"/>
            <a:r>
              <a:rPr lang="en-US" altLang="ko-KR" sz="2000" dirty="0"/>
              <a:t>Only focal length or its rough estimate is known</a:t>
            </a:r>
            <a:r>
              <a:rPr lang="en-US" altLang="ko-KR" sz="1600" dirty="0"/>
              <a:t> – do not optimize</a:t>
            </a:r>
            <a:endParaRPr lang="en-US" altLang="ko-KR" sz="2000" dirty="0"/>
          </a:p>
          <a:p>
            <a:pPr lvl="1"/>
            <a:r>
              <a:rPr lang="en-US" altLang="ko-KR" sz="2000" dirty="0"/>
              <a:t>Initialize camera translation by assuming person is standing parallel to the image plane</a:t>
            </a:r>
          </a:p>
          <a:p>
            <a:pPr lvl="2"/>
            <a:r>
              <a:rPr lang="en-US" altLang="ko-KR" sz="1800" dirty="0"/>
              <a:t>Estimate depth via ratio of similar triangles defined by torso length of mean SMPL shape and predicted joints</a:t>
            </a:r>
          </a:p>
          <a:p>
            <a:pPr lvl="2"/>
            <a:r>
              <a:rPr lang="en-US" altLang="ko-KR" sz="1800" dirty="0"/>
              <a:t>Minimizing E</a:t>
            </a:r>
            <a:r>
              <a:rPr lang="en-US" altLang="ko-KR" sz="1800" baseline="-25000" dirty="0"/>
              <a:t>J</a:t>
            </a:r>
            <a:r>
              <a:rPr lang="en-US" altLang="ko-KR" sz="1800" dirty="0"/>
              <a:t> and keep β fixed to mean shape during optimization</a:t>
            </a:r>
          </a:p>
          <a:p>
            <a:pPr lvl="2"/>
            <a:endParaRPr lang="en-US" altLang="ko-KR" sz="1800" dirty="0"/>
          </a:p>
          <a:p>
            <a:pPr lvl="2"/>
            <a:endParaRPr lang="en-US" altLang="ko-KR" sz="1800" dirty="0"/>
          </a:p>
          <a:p>
            <a:r>
              <a:rPr lang="en-US" altLang="ko-KR" sz="2400" dirty="0"/>
              <a:t>Fit the model by minimizing Eq.(1)</a:t>
            </a:r>
          </a:p>
          <a:p>
            <a:pPr lvl="1"/>
            <a:r>
              <a:rPr lang="en-US" altLang="ko-KR" sz="2000" dirty="0"/>
              <a:t>Starting high values for λ</a:t>
            </a:r>
            <a:r>
              <a:rPr lang="en-US" altLang="ko-KR" sz="2000" baseline="-25000" dirty="0"/>
              <a:t>θ</a:t>
            </a:r>
            <a:r>
              <a:rPr lang="en-US" altLang="ko-KR" sz="2000" dirty="0"/>
              <a:t> and λ</a:t>
            </a:r>
            <a:r>
              <a:rPr lang="en-US" altLang="ko-KR" sz="2000" baseline="-25000" dirty="0"/>
              <a:t>β </a:t>
            </a:r>
            <a:r>
              <a:rPr lang="en-US" altLang="ko-KR" sz="2000" dirty="0"/>
              <a:t>decrease them is effective to avoid local minima</a:t>
            </a:r>
          </a:p>
          <a:p>
            <a:r>
              <a:rPr lang="en-US" altLang="ko-KR" sz="2400" dirty="0"/>
              <a:t>Side view</a:t>
            </a:r>
          </a:p>
          <a:p>
            <a:pPr lvl="1"/>
            <a:r>
              <a:rPr lang="en-US" altLang="ko-KR" sz="2000" dirty="0"/>
              <a:t>2 initializations - 2D distance between shoulder joints below threshold</a:t>
            </a:r>
            <a:endParaRPr lang="en-US" altLang="ko-KR" dirty="0"/>
          </a:p>
          <a:p>
            <a:pPr lvl="1"/>
            <a:r>
              <a:rPr lang="en-US" altLang="ko-KR" dirty="0"/>
              <a:t>Body orientation above and 180 degree rotated – lowest E</a:t>
            </a:r>
            <a:r>
              <a:rPr lang="en-US" altLang="ko-KR" baseline="-25000" dirty="0"/>
              <a:t>J</a:t>
            </a:r>
          </a:p>
          <a:p>
            <a:r>
              <a:rPr lang="en-US" altLang="ko-KR" dirty="0"/>
              <a:t>Takes less than 1 minute on common desktop machine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34"/>
          <a:stretch/>
        </p:blipFill>
        <p:spPr>
          <a:xfrm>
            <a:off x="1921306" y="3456118"/>
            <a:ext cx="6087325" cy="64121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806" y="4206875"/>
            <a:ext cx="5156838" cy="37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702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Evaluate 3D pose – 2 publicly available datasets</a:t>
            </a:r>
          </a:p>
          <a:p>
            <a:pPr lvl="1"/>
            <a:r>
              <a:rPr lang="en-US" altLang="ko-KR" dirty="0" err="1"/>
              <a:t>HumanEva</a:t>
            </a:r>
            <a:r>
              <a:rPr lang="en-US" altLang="ko-KR" dirty="0"/>
              <a:t>-I</a:t>
            </a:r>
          </a:p>
          <a:p>
            <a:pPr lvl="1"/>
            <a:r>
              <a:rPr lang="en-US" altLang="ko-KR" dirty="0"/>
              <a:t>Human3.6M</a:t>
            </a:r>
          </a:p>
          <a:p>
            <a:r>
              <a:rPr lang="en-US" altLang="ko-KR" dirty="0"/>
              <a:t>Both are limited</a:t>
            </a:r>
          </a:p>
          <a:p>
            <a:r>
              <a:rPr lang="en-US" altLang="ko-KR" dirty="0"/>
              <a:t>More challenging data from Leeds Sports Dataset</a:t>
            </a:r>
          </a:p>
          <a:p>
            <a:pPr lvl="1"/>
            <a:r>
              <a:rPr lang="en-US" altLang="ko-KR" dirty="0"/>
              <a:t>Evaluating quantitatively is harder</a:t>
            </a:r>
          </a:p>
          <a:p>
            <a:pPr lvl="1"/>
            <a:r>
              <a:rPr lang="en-US" altLang="ko-KR" dirty="0"/>
              <a:t>Using synthetic data</a:t>
            </a:r>
          </a:p>
          <a:p>
            <a:r>
              <a:rPr lang="en-US" altLang="ko-KR" dirty="0"/>
              <a:t>10 body shape coefficients for all experiments</a:t>
            </a:r>
          </a:p>
          <a:p>
            <a:r>
              <a:rPr lang="en-US" altLang="ko-KR" dirty="0"/>
              <a:t>Tune λ</a:t>
            </a:r>
            <a:r>
              <a:rPr lang="en-US" altLang="ko-KR" baseline="-25000" dirty="0"/>
              <a:t>i</a:t>
            </a:r>
            <a:r>
              <a:rPr lang="en-US" altLang="ko-KR" dirty="0"/>
              <a:t> weights in Eq.(1) on </a:t>
            </a:r>
            <a:r>
              <a:rPr lang="en-US" altLang="ko-KR" dirty="0" err="1"/>
              <a:t>HumanEva</a:t>
            </a:r>
            <a:r>
              <a:rPr lang="en-US" altLang="ko-KR" dirty="0"/>
              <a:t> and use values for all other experiments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3192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- Quantitative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Synthetic Data</a:t>
            </a:r>
          </a:p>
          <a:p>
            <a:pPr lvl="1"/>
            <a:r>
              <a:rPr lang="en-US" altLang="ko-KR" dirty="0"/>
              <a:t>Sample synthetic bodies from SMPL shape and pose space</a:t>
            </a:r>
          </a:p>
          <a:p>
            <a:pPr lvl="1"/>
            <a:r>
              <a:rPr lang="en-US" altLang="ko-KR" dirty="0"/>
              <a:t>Project joints into the image with known camera</a:t>
            </a:r>
          </a:p>
          <a:p>
            <a:pPr lvl="1"/>
            <a:r>
              <a:rPr lang="en-US" altLang="ko-KR" dirty="0"/>
              <a:t>1k images for each male and female(2k total), 640 * 480</a:t>
            </a:r>
          </a:p>
          <a:p>
            <a:pPr lvl="1"/>
            <a:r>
              <a:rPr lang="en-US" altLang="ko-KR" dirty="0"/>
              <a:t>1</a:t>
            </a:r>
            <a:r>
              <a:rPr lang="en-US" altLang="ko-KR" baseline="30000" dirty="0"/>
              <a:t>st</a:t>
            </a:r>
            <a:r>
              <a:rPr lang="en-US" altLang="ko-KR" dirty="0"/>
              <a:t> experiment</a:t>
            </a:r>
          </a:p>
          <a:p>
            <a:pPr lvl="2"/>
            <a:r>
              <a:rPr lang="en-US" altLang="ko-KR" dirty="0"/>
              <a:t>Add varying amounts of </a:t>
            </a:r>
            <a:r>
              <a:rPr lang="en-US" altLang="ko-KR" dirty="0" err="1"/>
              <a:t>i.i.d</a:t>
            </a:r>
            <a:r>
              <a:rPr lang="en-US" altLang="ko-KR" dirty="0"/>
              <a:t>. Gaussian noise(</a:t>
            </a:r>
            <a:r>
              <a:rPr lang="en-US" altLang="ko-KR" dirty="0" err="1"/>
              <a:t>std</a:t>
            </a:r>
            <a:r>
              <a:rPr lang="en-US" altLang="ko-KR" dirty="0"/>
              <a:t> 1 – 5) to each 2D joint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Left chart – mean </a:t>
            </a:r>
            <a:r>
              <a:rPr lang="en-US" altLang="ko-KR" dirty="0" err="1"/>
              <a:t>vert</a:t>
            </a:r>
            <a:r>
              <a:rPr lang="en-US" altLang="ko-KR" dirty="0"/>
              <a:t>-to-</a:t>
            </a:r>
            <a:r>
              <a:rPr lang="en-US" altLang="ko-KR" dirty="0" err="1"/>
              <a:t>vert</a:t>
            </a:r>
            <a:r>
              <a:rPr lang="en-US" altLang="ko-KR" dirty="0"/>
              <a:t> Euclidean error in canonical pose</a:t>
            </a:r>
          </a:p>
          <a:p>
            <a:pPr lvl="2"/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256" y="3708621"/>
            <a:ext cx="6582694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18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- Quantitative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Synthetic Data</a:t>
            </a:r>
          </a:p>
          <a:p>
            <a:pPr lvl="1"/>
            <a:r>
              <a:rPr lang="en-US" altLang="ko-KR" dirty="0"/>
              <a:t>2</a:t>
            </a:r>
            <a:r>
              <a:rPr lang="en-US" altLang="ko-KR" baseline="30000" dirty="0"/>
              <a:t>nd</a:t>
            </a:r>
            <a:r>
              <a:rPr lang="en-US" altLang="ko-KR" dirty="0"/>
              <a:t> experiment</a:t>
            </a:r>
          </a:p>
          <a:p>
            <a:pPr lvl="2"/>
            <a:r>
              <a:rPr lang="en-US" altLang="ko-KR" dirty="0"/>
              <a:t>Assume pose is known</a:t>
            </a:r>
          </a:p>
          <a:p>
            <a:pPr lvl="2"/>
            <a:r>
              <a:rPr lang="en-US" altLang="ko-KR" dirty="0"/>
              <a:t>Fit SMPL to ground-truth 2D joints by minimizing Eq.(2) – full 23 joints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Right chart – mean </a:t>
            </a:r>
            <a:r>
              <a:rPr lang="en-US" altLang="ko-KR" dirty="0" err="1"/>
              <a:t>vert</a:t>
            </a:r>
            <a:r>
              <a:rPr lang="en-US" altLang="ko-KR" dirty="0"/>
              <a:t>-to-</a:t>
            </a:r>
            <a:r>
              <a:rPr lang="en-US" altLang="ko-KR" dirty="0" err="1"/>
              <a:t>vert</a:t>
            </a:r>
            <a:r>
              <a:rPr lang="en-US" altLang="ko-KR" dirty="0"/>
              <a:t> Euclidean error in canonical pose</a:t>
            </a:r>
          </a:p>
          <a:p>
            <a:pPr lvl="2"/>
            <a:r>
              <a:rPr lang="en-US" altLang="ko-KR" dirty="0"/>
              <a:t>More joints we have, better body shape is estimated</a:t>
            </a:r>
          </a:p>
          <a:p>
            <a:pPr lvl="2"/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192" y="3276561"/>
            <a:ext cx="6582694" cy="247684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786" y="1792253"/>
            <a:ext cx="5059942" cy="60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08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- Quantitative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Real Data</a:t>
            </a:r>
          </a:p>
          <a:p>
            <a:pPr lvl="1"/>
            <a:r>
              <a:rPr lang="en-US" altLang="ko-KR" dirty="0" err="1"/>
              <a:t>HumanEva</a:t>
            </a:r>
            <a:r>
              <a:rPr lang="en-US" altLang="ko-KR" dirty="0"/>
              <a:t>-I</a:t>
            </a:r>
          </a:p>
          <a:p>
            <a:pPr lvl="2"/>
            <a:r>
              <a:rPr lang="en-US" altLang="ko-KR" dirty="0"/>
              <a:t>Assume gender is known and apply gender-specific SMPL models</a:t>
            </a:r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Other methods train sequence-specific pose prior for </a:t>
            </a:r>
            <a:r>
              <a:rPr lang="en-US" altLang="ko-KR" dirty="0" err="1"/>
              <a:t>HumanEva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Unlike them, We tune weights on training set and learn a mapping from joints to skeletal representation </a:t>
            </a:r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Input: 2D joints from </a:t>
            </a:r>
            <a:r>
              <a:rPr lang="en-US" altLang="ko-KR" dirty="0" err="1"/>
              <a:t>DeepCut</a:t>
            </a:r>
            <a:endParaRPr lang="en-US" altLang="ko-KR" dirty="0"/>
          </a:p>
          <a:p>
            <a:pPr lvl="3"/>
            <a:r>
              <a:rPr lang="en-US" altLang="ko-KR" dirty="0" err="1"/>
              <a:t>DeepCut</a:t>
            </a:r>
            <a:r>
              <a:rPr lang="en-US" altLang="ko-KR" dirty="0"/>
              <a:t> is trained on different dataset</a:t>
            </a:r>
          </a:p>
          <a:p>
            <a:pPr lvl="3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515" y="5148821"/>
            <a:ext cx="6144482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064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- Quantitative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Real Data</a:t>
            </a:r>
          </a:p>
          <a:p>
            <a:pPr lvl="1"/>
            <a:r>
              <a:rPr lang="en-US" altLang="ko-KR" dirty="0" err="1"/>
              <a:t>HumanEva</a:t>
            </a:r>
            <a:r>
              <a:rPr lang="en-US" altLang="ko-KR" dirty="0"/>
              <a:t>-I</a:t>
            </a:r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r>
              <a:rPr lang="en-US" altLang="ko-KR" dirty="0" err="1"/>
              <a:t>SMPLify</a:t>
            </a:r>
            <a:r>
              <a:rPr lang="en-US" altLang="ko-KR" dirty="0"/>
              <a:t> is conceptually simpler and more accurate then Zhou et al. [58]</a:t>
            </a:r>
          </a:p>
          <a:p>
            <a:pPr lvl="2"/>
            <a:r>
              <a:rPr lang="en-US" altLang="ko-KR" dirty="0" err="1"/>
              <a:t>SMPLify</a:t>
            </a:r>
            <a:r>
              <a:rPr lang="en-US" altLang="ko-KR" dirty="0"/>
              <a:t> not only “lift” 2D joints to 3D, but produces skinned vertex-based body model</a:t>
            </a:r>
          </a:p>
          <a:p>
            <a:pPr lvl="2"/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306" y="2052391"/>
            <a:ext cx="6144482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24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- Quantitative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Real Data</a:t>
            </a:r>
          </a:p>
          <a:p>
            <a:pPr lvl="1"/>
            <a:r>
              <a:rPr lang="en-US" altLang="ko-KR" dirty="0" err="1"/>
              <a:t>HumanEva</a:t>
            </a:r>
            <a:r>
              <a:rPr lang="en-US" altLang="ko-KR" dirty="0"/>
              <a:t>-I</a:t>
            </a:r>
          </a:p>
          <a:p>
            <a:pPr lvl="2"/>
            <a:r>
              <a:rPr lang="en-US" altLang="ko-KR" dirty="0"/>
              <a:t>To gain insight about method(Table2)</a:t>
            </a:r>
          </a:p>
          <a:p>
            <a:pPr lvl="3"/>
            <a:r>
              <a:rPr lang="en-US" altLang="ko-KR" dirty="0"/>
              <a:t>E</a:t>
            </a:r>
            <a:r>
              <a:rPr lang="en-US" altLang="ko-KR" baseline="-25000" dirty="0"/>
              <a:t>θ</a:t>
            </a:r>
            <a:r>
              <a:rPr lang="en-US" altLang="ko-KR" dirty="0"/>
              <a:t>’ : use single Gaussian trained from same data</a:t>
            </a:r>
          </a:p>
          <a:p>
            <a:pPr lvl="3"/>
            <a:r>
              <a:rPr lang="en-US" altLang="ko-KR" dirty="0"/>
              <a:t>Add interpenetration term</a:t>
            </a:r>
          </a:p>
          <a:p>
            <a:pPr lvl="4"/>
            <a:r>
              <a:rPr lang="en-US" altLang="ko-KR" dirty="0"/>
              <a:t>Does not have significant impact on 3D joint error</a:t>
            </a:r>
          </a:p>
          <a:p>
            <a:pPr lvl="4"/>
            <a:r>
              <a:rPr lang="en-US" altLang="ko-KR" dirty="0"/>
              <a:t>BUT, qualitatively, it makes difference in more complex datasets with varied posed and viewing angles as Fig.5</a:t>
            </a:r>
          </a:p>
          <a:p>
            <a:pPr lvl="2"/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198" y="3838479"/>
            <a:ext cx="7097115" cy="221010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222" y="969962"/>
            <a:ext cx="4176377" cy="145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98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- Quantitative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Real Data</a:t>
            </a:r>
          </a:p>
          <a:p>
            <a:pPr lvl="1"/>
            <a:r>
              <a:rPr lang="en-US" altLang="ko-KR" dirty="0"/>
              <a:t>Human3.6M</a:t>
            </a:r>
          </a:p>
          <a:p>
            <a:pPr lvl="2"/>
            <a:r>
              <a:rPr lang="en-US" altLang="ko-KR" dirty="0"/>
              <a:t>Wider range of poses</a:t>
            </a:r>
          </a:p>
          <a:p>
            <a:pPr lvl="2"/>
            <a:r>
              <a:rPr lang="en-US" altLang="ko-KR" dirty="0" err="1"/>
              <a:t>Perfrom</a:t>
            </a:r>
            <a:r>
              <a:rPr lang="en-US" altLang="ko-KR" dirty="0"/>
              <a:t> same analysis </a:t>
            </a:r>
          </a:p>
          <a:p>
            <a:pPr lvl="2"/>
            <a:r>
              <a:rPr lang="en-US" altLang="ko-KR" dirty="0"/>
              <a:t>Focal length and distortion coefficients are known since subjects are closer to borders of image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567" y="3852641"/>
            <a:ext cx="6992326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316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- Qualitative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Leeds </a:t>
            </a:r>
            <a:r>
              <a:rPr lang="en-US" altLang="ko-KR" dirty="0" err="1"/>
              <a:t>Sprts</a:t>
            </a:r>
            <a:r>
              <a:rPr lang="en-US" altLang="ko-KR" dirty="0"/>
              <a:t> Pose dataset</a:t>
            </a:r>
          </a:p>
          <a:p>
            <a:pPr lvl="1"/>
            <a:r>
              <a:rPr lang="en-US" altLang="ko-KR" dirty="0"/>
              <a:t>More complex in terms of pose, image resolution, </a:t>
            </a:r>
            <a:r>
              <a:rPr lang="en-US" altLang="ko-KR" u="sng" dirty="0"/>
              <a:t>clothing</a:t>
            </a:r>
            <a:r>
              <a:rPr lang="en-US" altLang="ko-KR" dirty="0"/>
              <a:t>,...</a:t>
            </a:r>
          </a:p>
          <a:p>
            <a:pPr lvl="1"/>
            <a:r>
              <a:rPr lang="en-US" altLang="ko-KR" dirty="0"/>
              <a:t>Fig.6 some examples where system works well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Gender labeled for gender-specific models</a:t>
            </a:r>
          </a:p>
          <a:p>
            <a:pPr lvl="1"/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020" y="2556461"/>
            <a:ext cx="7106642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91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- Qualitative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Leeds </a:t>
            </a:r>
            <a:r>
              <a:rPr lang="en-US" altLang="ko-KR" dirty="0" err="1"/>
              <a:t>Sprts</a:t>
            </a:r>
            <a:r>
              <a:rPr lang="en-US" altLang="ko-KR" dirty="0"/>
              <a:t> Pose dataset</a:t>
            </a:r>
          </a:p>
          <a:p>
            <a:pPr lvl="1"/>
            <a:r>
              <a:rPr lang="en-US" altLang="ko-KR" dirty="0"/>
              <a:t>Failures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50" y="2484451"/>
            <a:ext cx="9931896" cy="215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89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- Qualitative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Leeds </a:t>
            </a:r>
            <a:r>
              <a:rPr lang="en-US" altLang="ko-KR" dirty="0" err="1"/>
              <a:t>Sprts</a:t>
            </a:r>
            <a:r>
              <a:rPr lang="en-US" altLang="ko-KR" dirty="0"/>
              <a:t> Pose dataset</a:t>
            </a:r>
          </a:p>
          <a:p>
            <a:pPr lvl="1"/>
            <a:r>
              <a:rPr lang="en-US" altLang="ko-KR" dirty="0"/>
              <a:t>Visually compares results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206" y="2052391"/>
            <a:ext cx="7777080" cy="492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61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SMPLify</a:t>
            </a:r>
            <a:r>
              <a:rPr lang="en-US" altLang="ko-KR" dirty="0"/>
              <a:t> is a fully automated method for estimate 3D body shape and pose from 2D joints</a:t>
            </a:r>
          </a:p>
          <a:p>
            <a:r>
              <a:rPr lang="en-US" altLang="ko-KR" dirty="0"/>
              <a:t>We define objective function and optimize pose and shape directly by minimizing error</a:t>
            </a:r>
          </a:p>
          <a:p>
            <a:r>
              <a:rPr lang="en-US" altLang="ko-KR" dirty="0"/>
              <a:t>Simple, yet effective</a:t>
            </a:r>
          </a:p>
          <a:p>
            <a:endParaRPr lang="en-US" altLang="ko-KR" dirty="0"/>
          </a:p>
          <a:p>
            <a:r>
              <a:rPr lang="en-US" altLang="ko-KR" dirty="0"/>
              <a:t>Our formulation opens many directions for future work</a:t>
            </a:r>
          </a:p>
          <a:p>
            <a:r>
              <a:rPr lang="en-US" altLang="ko-KR" dirty="0"/>
              <a:t>Cues such as silhouettes</a:t>
            </a:r>
          </a:p>
          <a:p>
            <a:r>
              <a:rPr lang="en-US" altLang="ko-KR" dirty="0"/>
              <a:t>Use multiple camera and frames</a:t>
            </a:r>
          </a:p>
          <a:p>
            <a:r>
              <a:rPr lang="en-US" altLang="ko-KR" dirty="0"/>
              <a:t>Facial pose detector, gender detector</a:t>
            </a:r>
          </a:p>
          <a:p>
            <a:r>
              <a:rPr lang="en-US" altLang="ko-KR" dirty="0"/>
              <a:t>Train CNN to predict features directly related to </a:t>
            </a:r>
            <a:r>
              <a:rPr lang="en-US" altLang="ko-KR"/>
              <a:t>3D shape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2018-05-03</a:t>
            </a:fld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0694215"/>
      </p:ext>
    </p:extLst>
  </p:cSld>
  <p:clrMapOvr>
    <a:masterClrMapping/>
  </p:clrMapOvr>
</p:sld>
</file>

<file path=ppt/theme/theme1.xml><?xml version="1.0" encoding="utf-8"?>
<a:theme xmlns:a="http://schemas.openxmlformats.org/drawingml/2006/main" name="Sanghun Park">
  <a:themeElements>
    <a:clrScheme name="Sanghun P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anghun Park">
      <a:majorFont>
        <a:latin typeface="HY바다M"/>
        <a:ea typeface="HY바다M"/>
        <a:cs typeface=""/>
      </a:majorFont>
      <a:minorFont>
        <a:latin typeface="HY바다M"/>
        <a:ea typeface="HY바다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lnDef>
  </a:objectDefaults>
  <a:extraClrSchemeLst>
    <a:extraClrScheme>
      <a:clrScheme name="Sanghun P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12094</TotalTime>
  <Words>1282</Words>
  <Application>Microsoft Office PowerPoint</Application>
  <PresentationFormat>사용자 지정</PresentationFormat>
  <Paragraphs>282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HY강B</vt:lpstr>
      <vt:lpstr>HY강M</vt:lpstr>
      <vt:lpstr>HY바다M</vt:lpstr>
      <vt:lpstr>굴림</vt:lpstr>
      <vt:lpstr>맑은 고딕</vt:lpstr>
      <vt:lpstr>Cambria Math</vt:lpstr>
      <vt:lpstr>Helvetica</vt:lpstr>
      <vt:lpstr>Wingdings</vt:lpstr>
      <vt:lpstr>Sanghun Park</vt:lpstr>
      <vt:lpstr>   Keep it SMPL: Automatic Estimation of 3D Human Pose and Shape from a Single Image</vt:lpstr>
      <vt:lpstr>Abstract</vt:lpstr>
      <vt:lpstr>Introduction</vt:lpstr>
      <vt:lpstr>Method</vt:lpstr>
      <vt:lpstr>Method</vt:lpstr>
      <vt:lpstr>Method</vt:lpstr>
      <vt:lpstr>Method</vt:lpstr>
      <vt:lpstr>Objective function</vt:lpstr>
      <vt:lpstr>Objective function</vt:lpstr>
      <vt:lpstr>Objective function</vt:lpstr>
      <vt:lpstr>Objective function</vt:lpstr>
      <vt:lpstr>Objective function</vt:lpstr>
      <vt:lpstr>Optimization</vt:lpstr>
      <vt:lpstr>Evaluation</vt:lpstr>
      <vt:lpstr>Evaluation - Quantitative</vt:lpstr>
      <vt:lpstr>Evaluation - Quantitative</vt:lpstr>
      <vt:lpstr>Evaluation - Quantitative</vt:lpstr>
      <vt:lpstr>Evaluation - Quantitative</vt:lpstr>
      <vt:lpstr>Evaluation - Quantitative</vt:lpstr>
      <vt:lpstr>Evaluation - Quantitative</vt:lpstr>
      <vt:lpstr>Evaluation - Qualitative</vt:lpstr>
      <vt:lpstr>Evaluation - Qualitative</vt:lpstr>
      <vt:lpstr>Evaluation - Qualitative</vt:lpstr>
      <vt:lpstr>Conclusion</vt:lpstr>
    </vt:vector>
  </TitlesOfParts>
  <Company>Catholic University of Daegu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Sanghun Park</dc:creator>
  <cp:lastModifiedBy>정 재련</cp:lastModifiedBy>
  <cp:revision>2309</cp:revision>
  <cp:lastPrinted>2014-05-13T12:45:55Z</cp:lastPrinted>
  <dcterms:created xsi:type="dcterms:W3CDTF">2003-02-11T01:26:29Z</dcterms:created>
  <dcterms:modified xsi:type="dcterms:W3CDTF">2018-05-03T01:41:15Z</dcterms:modified>
</cp:coreProperties>
</file>