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88" r:id="rId3"/>
    <p:sldId id="281" r:id="rId4"/>
    <p:sldId id="290" r:id="rId5"/>
    <p:sldId id="297" r:id="rId6"/>
    <p:sldId id="291" r:id="rId7"/>
    <p:sldId id="298" r:id="rId8"/>
    <p:sldId id="299" r:id="rId9"/>
    <p:sldId id="300" r:id="rId10"/>
    <p:sldId id="301" r:id="rId11"/>
    <p:sldId id="302" r:id="rId12"/>
    <p:sldId id="292" r:id="rId13"/>
    <p:sldId id="304" r:id="rId14"/>
    <p:sldId id="303" r:id="rId15"/>
    <p:sldId id="305" r:id="rId16"/>
    <p:sldId id="293" r:id="rId17"/>
    <p:sldId id="295" r:id="rId18"/>
    <p:sldId id="294" r:id="rId19"/>
    <p:sldId id="296" r:id="rId20"/>
    <p:sldId id="289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E71C3E-B069-49A4-8C69-4584DCFA48A1}" type="datetimeFigureOut">
              <a:rPr lang="ko-KR" altLang="en-US" smtClean="0"/>
              <a:t>2018-06-20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1357D-661B-47DD-839B-975F23B98DF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597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1B623F-833B-490E-9CEF-5DC37C255A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8C1C91-2621-4E9A-BCEA-D243938D6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A5DA46-C646-4911-AC12-4E2876502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E6F4-8C3B-4B91-AFB5-EDD40D9BCA1D}" type="datetimeFigureOut">
              <a:rPr lang="ko-KR" altLang="en-US" smtClean="0"/>
              <a:t>2018-06-20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20CD4E-36A7-4944-A1A1-47EEEF282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72A243-60D2-472D-9E59-AA5F301B7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200BC-4894-42C2-83B4-D2C4815FD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681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043501-66A0-437A-A255-C723EFD70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92074B-8679-4F71-8807-D207FF87E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5AE980E-8B34-48AA-B357-FEC543A5F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E6F4-8C3B-4B91-AFB5-EDD40D9BCA1D}" type="datetimeFigureOut">
              <a:rPr lang="ko-KR" altLang="en-US" smtClean="0"/>
              <a:t>2018-06-20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D09B79-F6DF-4244-9993-D2C2E2A7E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775463-BB39-4C90-B7E0-29B8DCB2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200BC-4894-42C2-83B4-D2C4815FD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71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EE1A6-A4D0-47F9-A173-D450D68DB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77105B-C8BD-42CC-A82F-4A70AC15A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779B35-D735-4F92-A69D-603FC3B5B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E6F4-8C3B-4B91-AFB5-EDD40D9BCA1D}" type="datetimeFigureOut">
              <a:rPr lang="ko-KR" altLang="en-US" smtClean="0"/>
              <a:t>2018-06-20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E49CAD-371F-4DFC-9D90-1290D290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BC484E-72E5-416E-A722-D96A71933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200BC-4894-42C2-83B4-D2C4815FD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927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82A277-3D8B-4AA6-A252-8F90EBDBF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B004E9-8BA9-48F5-BDFF-948A5CFD4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95FE71-8D31-4C0C-AC06-FC701A7E2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8F44D2-99B4-497D-B1C2-403E027B4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E6F4-8C3B-4B91-AFB5-EDD40D9BCA1D}" type="datetimeFigureOut">
              <a:rPr lang="ko-KR" altLang="en-US" smtClean="0"/>
              <a:t>2018-06-20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1A25C4-5F39-487B-A8AB-6BF0D1EFF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84A06F-39A7-4477-87B9-D3A7506B0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200BC-4894-42C2-83B4-D2C4815FD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3099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240063-30F6-4AEB-95AA-64408FC73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CF0428-E05A-4345-9911-B7584486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AFC335-801A-4F81-A94A-2CEB5D8689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668122D-06A8-4D0A-BA39-B49C64B536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B4D32C-00A2-4808-965E-E6F4CC8972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7D5657-E164-45B4-9D91-FFF192489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E6F4-8C3B-4B91-AFB5-EDD40D9BCA1D}" type="datetimeFigureOut">
              <a:rPr lang="ko-KR" altLang="en-US" smtClean="0"/>
              <a:t>2018-06-20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C85154A-6142-4374-B19A-9ABB04E34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6ECDDC-EE4C-49B3-A48A-AA4028204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200BC-4894-42C2-83B4-D2C4815FD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448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C4A8A-CF75-4332-922A-10EDDD5A8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C8FE2B-4BC8-454E-BADE-2323E0524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E6F4-8C3B-4B91-AFB5-EDD40D9BCA1D}" type="datetimeFigureOut">
              <a:rPr lang="ko-KR" altLang="en-US" smtClean="0"/>
              <a:t>2018-06-20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29C80B-A5F7-4761-9D97-04C6BBE5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45A352-D831-40A9-BAC7-47D916A0D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200BC-4894-42C2-83B4-D2C4815FD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166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F3C7CC-E3F6-403B-84DE-C45E43B0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E6F4-8C3B-4B91-AFB5-EDD40D9BCA1D}" type="datetimeFigureOut">
              <a:rPr lang="ko-KR" altLang="en-US" smtClean="0"/>
              <a:t>2018-06-20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89C3BD-59FB-4E44-BB27-F2C6837C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4F23D7-A7C4-47D0-9B6A-B0A11ACB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200BC-4894-42C2-83B4-D2C4815FD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1354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A8023-5CF8-4DCB-84C5-377C67FE6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435630-C7E5-4346-989B-59C20DC0D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7F1C4B-8810-4815-832F-5C3926B2F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7FB780-5EF0-4EB1-89B4-6E5180048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E6F4-8C3B-4B91-AFB5-EDD40D9BCA1D}" type="datetimeFigureOut">
              <a:rPr lang="ko-KR" altLang="en-US" smtClean="0"/>
              <a:t>2018-06-20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98BB32-A139-4B76-99D6-EEDDADD0E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9F7C257-C7BC-4A1B-8DCD-9B50D53F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200BC-4894-42C2-83B4-D2C4815FD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5667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54BC0-212A-4B59-ADEB-ED3192BF0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BDE97B-8BA1-4ECB-873B-EF059F9F96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13C0A61-F755-48C6-B0B8-2058BF96E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C3A5F3-5546-42C2-BF09-B3B62C74F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E6F4-8C3B-4B91-AFB5-EDD40D9BCA1D}" type="datetimeFigureOut">
              <a:rPr lang="ko-KR" altLang="en-US" smtClean="0"/>
              <a:t>2018-06-20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B9E6BB-E31D-43A7-B482-93F045B17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984BE0-3F0C-4182-AD6C-D5F933C2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200BC-4894-42C2-83B4-D2C4815FD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309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5169CF-7E10-4B27-B771-B9BFA1C35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70E890E-113C-4B5A-BADE-EC9C6D1F1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04FFE-BC83-4F83-A2C6-2168195F3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E6F4-8C3B-4B91-AFB5-EDD40D9BCA1D}" type="datetimeFigureOut">
              <a:rPr lang="ko-KR" altLang="en-US" smtClean="0"/>
              <a:t>2018-06-20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F49A02-D18E-41FC-A3CD-3101F4F81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B8374D-0AC3-4869-8ED6-C01768DF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200BC-4894-42C2-83B4-D2C4815FD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108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8492734-4AA9-43C3-972A-2B30F99A39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DD18F9-7F64-4873-AF14-6D9B5B966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D63156-21F8-487A-B647-9D7CA0F5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FE6F4-8C3B-4B91-AFB5-EDD40D9BCA1D}" type="datetimeFigureOut">
              <a:rPr lang="ko-KR" altLang="en-US" smtClean="0"/>
              <a:t>2018-06-20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052001-60BB-4BF0-91AA-037C6500A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68917B-876A-46A7-881A-60A1D2D7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200BC-4894-42C2-83B4-D2C4815FD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34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15F0DFD-10EC-4F06-B00C-18CBD31EB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4E9176-0E58-4A04-BD69-E9287D4C0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3D1AE1-A421-4C10-A858-F8F5C5ED8E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FE6F4-8C3B-4B91-AFB5-EDD40D9BCA1D}" type="datetimeFigureOut">
              <a:rPr lang="ko-KR" altLang="en-US" smtClean="0"/>
              <a:t>2018-06-20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D25A63-9F90-413B-AD05-BC3EE9EF0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40C190-A422-4A71-ABF9-D95111360A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200BC-4894-42C2-83B4-D2C4815FD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498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11180B-902E-43F3-B8E3-7A3442998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048" y="897620"/>
            <a:ext cx="9144000" cy="1169435"/>
          </a:xfrm>
        </p:spPr>
        <p:txBody>
          <a:bodyPr>
            <a:noAutofit/>
          </a:bodyPr>
          <a:lstStyle/>
          <a:p>
            <a:pPr algn="l"/>
            <a:r>
              <a:rPr lang="en-US" altLang="ko-KR" sz="3200" b="1" dirty="0"/>
              <a:t>deformable model for estimating clothed and naked human shapes from a single image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BBA1F4-036A-4016-9040-976D87E2965C}"/>
              </a:ext>
            </a:extLst>
          </p:cNvPr>
          <p:cNvSpPr txBox="1"/>
          <p:nvPr/>
        </p:nvSpPr>
        <p:spPr>
          <a:xfrm>
            <a:off x="1405417" y="4882284"/>
            <a:ext cx="6585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Presentor</a:t>
            </a:r>
            <a:r>
              <a:rPr lang="en-US" altLang="ko-KR" dirty="0"/>
              <a:t> : </a:t>
            </a:r>
            <a:r>
              <a:rPr lang="en-US" altLang="ko-KR" dirty="0" err="1"/>
              <a:t>Jin-Hyuck</a:t>
            </a:r>
            <a:r>
              <a:rPr lang="en-US" altLang="ko-KR" dirty="0"/>
              <a:t> Cha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8830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4FE4E-0508-4035-BA24-CE657EB56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A7D732-4C28-4AB2-ABF4-BAD80BEAB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5400" dirty="0"/>
              <a:t>Introduction</a:t>
            </a:r>
          </a:p>
          <a:p>
            <a:r>
              <a:rPr lang="en-US" altLang="ko-KR" sz="5400" dirty="0"/>
              <a:t>Overview</a:t>
            </a:r>
          </a:p>
          <a:p>
            <a:r>
              <a:rPr lang="en-US" altLang="ko-KR" sz="5400" dirty="0"/>
              <a:t>Learning phase</a:t>
            </a:r>
          </a:p>
          <a:p>
            <a:r>
              <a:rPr lang="en-US" altLang="ko-KR" sz="5400" dirty="0"/>
              <a:t>Fitting phase</a:t>
            </a:r>
          </a:p>
          <a:p>
            <a:r>
              <a:rPr lang="en-US" altLang="ko-KR" sz="5400" dirty="0"/>
              <a:t>Result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4159241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0576D7-A324-48E7-910A-3553F893B41F}"/>
              </a:ext>
            </a:extLst>
          </p:cNvPr>
          <p:cNvSpPr txBox="1"/>
          <p:nvPr/>
        </p:nvSpPr>
        <p:spPr>
          <a:xfrm>
            <a:off x="1571625" y="1190625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/>
              <a:t>Introduction</a:t>
            </a:r>
            <a:endParaRPr lang="ko-KR" altLang="en-US" sz="6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801CCB-3870-4441-A60E-9B5E4F76F8EC}"/>
              </a:ext>
            </a:extLst>
          </p:cNvPr>
          <p:cNvSpPr/>
          <p:nvPr/>
        </p:nvSpPr>
        <p:spPr>
          <a:xfrm>
            <a:off x="1206782" y="4775991"/>
            <a:ext cx="85663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/>
              <a:t>simultaneously estimate a person’s clothed and naked shapes from a single image of that person wearing clothing</a:t>
            </a:r>
          </a:p>
          <a:p>
            <a:pPr marL="285750" indent="-285750">
              <a:buFontTx/>
              <a:buChar char="-"/>
            </a:pPr>
            <a:r>
              <a:rPr lang="en-US" altLang="ko-KR" dirty="0">
                <a:solidFill>
                  <a:srgbClr val="FF0000"/>
                </a:solidFill>
              </a:rPr>
              <a:t>Propose a deformable model of clothed human shape to address the problem of estimating a person’s 3D shape from a single image of that person wearing clothing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59D83B-36EA-4935-8B4D-067A359BF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461" y="2405061"/>
            <a:ext cx="1000125" cy="20478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FFAC822-17BF-4096-90C0-ACA13915F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129" y="2419348"/>
            <a:ext cx="1057275" cy="20193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47BA15A-8459-4065-B7A8-C3F2A63E1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8947" y="2457448"/>
            <a:ext cx="1028700" cy="1981200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B9859F68-C97B-46D5-9EC4-83D99BDE2D35}"/>
              </a:ext>
            </a:extLst>
          </p:cNvPr>
          <p:cNvSpPr/>
          <p:nvPr/>
        </p:nvSpPr>
        <p:spPr>
          <a:xfrm>
            <a:off x="4105469" y="3144416"/>
            <a:ext cx="345233" cy="2845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89096EE-B6B7-46E5-B2F4-812E4A958166}"/>
              </a:ext>
            </a:extLst>
          </p:cNvPr>
          <p:cNvSpPr/>
          <p:nvPr/>
        </p:nvSpPr>
        <p:spPr>
          <a:xfrm>
            <a:off x="7072146" y="3163464"/>
            <a:ext cx="345233" cy="2845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68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0576D7-A324-48E7-910A-3553F893B41F}"/>
              </a:ext>
            </a:extLst>
          </p:cNvPr>
          <p:cNvSpPr txBox="1"/>
          <p:nvPr/>
        </p:nvSpPr>
        <p:spPr>
          <a:xfrm>
            <a:off x="1571625" y="1190625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 err="1"/>
              <a:t>OverView</a:t>
            </a:r>
            <a:endParaRPr lang="ko-KR" altLang="en-US" sz="60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D801CCB-3870-4441-A60E-9B5E4F76F8EC}"/>
              </a:ext>
            </a:extLst>
          </p:cNvPr>
          <p:cNvSpPr/>
          <p:nvPr/>
        </p:nvSpPr>
        <p:spPr>
          <a:xfrm>
            <a:off x="1582106" y="2359961"/>
            <a:ext cx="1000309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Learning phase 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Construct a training dataset to learn the deformable model of clothed human shape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2. Fitting phase</a:t>
            </a:r>
          </a:p>
          <a:p>
            <a:r>
              <a:rPr lang="en-US" altLang="ko-KR" dirty="0"/>
              <a:t>- Pose</a:t>
            </a:r>
            <a:r>
              <a:rPr lang="ko-KR" altLang="en-US" dirty="0"/>
              <a:t> </a:t>
            </a:r>
            <a:r>
              <a:rPr lang="en-US" altLang="ko-KR" dirty="0"/>
              <a:t>fitting step</a:t>
            </a:r>
          </a:p>
          <a:p>
            <a:r>
              <a:rPr lang="en-US" altLang="ko-KR" dirty="0"/>
              <a:t>- Shape fitting step</a:t>
            </a:r>
          </a:p>
          <a:p>
            <a:r>
              <a:rPr lang="en-US" altLang="ko-KR" dirty="0"/>
              <a:t>- Optimal (</a:t>
            </a:r>
            <a:r>
              <a:rPr lang="el-GR" altLang="ko-KR" dirty="0"/>
              <a:t>θ,β,γ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 The naked 3D shape can be created with only the pose and body parameters (</a:t>
            </a:r>
            <a:r>
              <a:rPr lang="el-GR" altLang="ko-KR" dirty="0"/>
              <a:t>θ,β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04825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CF89706F-3C0E-405E-8288-C76D0257DF8C}"/>
              </a:ext>
            </a:extLst>
          </p:cNvPr>
          <p:cNvSpPr/>
          <p:nvPr/>
        </p:nvSpPr>
        <p:spPr>
          <a:xfrm>
            <a:off x="425110" y="167622"/>
            <a:ext cx="90277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Dataset : the SCAPE(Shape Completion and Animation of People) model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48FAE5-F4E2-498E-904C-5A78E95C7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10" y="1051133"/>
            <a:ext cx="6557286" cy="534868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EEB461F-53F5-478C-9F1C-F50B71939065}"/>
              </a:ext>
            </a:extLst>
          </p:cNvPr>
          <p:cNvSpPr/>
          <p:nvPr/>
        </p:nvSpPr>
        <p:spPr>
          <a:xfrm>
            <a:off x="6575610" y="2196363"/>
            <a:ext cx="561639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SCAPE is a deformable human model learned from 3D scans, which are acquired using a </a:t>
            </a:r>
            <a:r>
              <a:rPr lang="en-US" altLang="ko-KR" dirty="0" err="1"/>
              <a:t>Cyberware</a:t>
            </a:r>
            <a:r>
              <a:rPr lang="en-US" altLang="ko-KR" dirty="0"/>
              <a:t> whole body scanner. Given two sets of lowdimensional parameters: pose parameter θ and body parameter β, the SCAPE method can produce realistic 3D surface mesh with the specified pose and body efficiently.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0926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0D801CCB-3870-4441-A60E-9B5E4F76F8EC}"/>
              </a:ext>
            </a:extLst>
          </p:cNvPr>
          <p:cNvSpPr/>
          <p:nvPr/>
        </p:nvSpPr>
        <p:spPr>
          <a:xfrm>
            <a:off x="1422715" y="1848232"/>
            <a:ext cx="90277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Training dataset contains body-shape, pose-shape, clothed-shape</a:t>
            </a:r>
          </a:p>
          <a:p>
            <a:r>
              <a:rPr lang="en-US" altLang="ko-KR" dirty="0"/>
              <a:t>The body-shape dataset approximately includes 111 aligned laser range scans of different people in a similar pose (56 men and 55 women)</a:t>
            </a:r>
          </a:p>
          <a:p>
            <a:r>
              <a:rPr lang="en-US" altLang="ko-KR" dirty="0"/>
              <a:t>The pose-shape dataset includes additional scans of one individual in roughly 70 poses</a:t>
            </a:r>
          </a:p>
          <a:p>
            <a:r>
              <a:rPr lang="en-US" altLang="ko-KR" dirty="0"/>
              <a:t>The clothed-shape dataset is built using the </a:t>
            </a:r>
            <a:r>
              <a:rPr lang="en-US" altLang="ko-KR" dirty="0">
                <a:solidFill>
                  <a:srgbClr val="FF0000"/>
                </a:solidFill>
              </a:rPr>
              <a:t>deformation transfer algorithm</a:t>
            </a:r>
          </a:p>
          <a:p>
            <a:r>
              <a:rPr lang="el-GR" altLang="ko-KR" dirty="0"/>
              <a:t>θ</a:t>
            </a:r>
            <a:r>
              <a:rPr lang="en-US" altLang="ko-KR" dirty="0"/>
              <a:t> determines the pose deformation</a:t>
            </a:r>
          </a:p>
          <a:p>
            <a:r>
              <a:rPr lang="el-GR" altLang="ko-KR" dirty="0"/>
              <a:t>β</a:t>
            </a:r>
            <a:r>
              <a:rPr lang="en-US" altLang="ko-KR" dirty="0"/>
              <a:t> determines the body shape</a:t>
            </a:r>
          </a:p>
          <a:p>
            <a:r>
              <a:rPr lang="el-GR" altLang="ko-KR" dirty="0"/>
              <a:t>γ</a:t>
            </a:r>
            <a:r>
              <a:rPr lang="en-US" altLang="ko-KR" dirty="0"/>
              <a:t> clothed type</a:t>
            </a:r>
          </a:p>
          <a:p>
            <a:r>
              <a:rPr lang="en-US" altLang="ko-KR" dirty="0"/>
              <a:t>(</a:t>
            </a:r>
            <a:r>
              <a:rPr lang="el-GR" altLang="ko-KR" dirty="0"/>
              <a:t>β</a:t>
            </a:r>
            <a:r>
              <a:rPr lang="en-US" altLang="ko-KR" dirty="0"/>
              <a:t> ,</a:t>
            </a:r>
            <a:r>
              <a:rPr lang="el-GR" altLang="ko-KR" dirty="0"/>
              <a:t>γ</a:t>
            </a:r>
            <a:r>
              <a:rPr lang="en-US" altLang="ko-KR" dirty="0"/>
              <a:t>) determine the clothing deformation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46E0C7-0045-43DC-9239-168B5F9DA7DD}"/>
              </a:ext>
            </a:extLst>
          </p:cNvPr>
          <p:cNvSpPr txBox="1"/>
          <p:nvPr/>
        </p:nvSpPr>
        <p:spPr>
          <a:xfrm>
            <a:off x="169294" y="126289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Learning phase</a:t>
            </a:r>
            <a:endParaRPr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561225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B1785CC-A441-4DFA-BC44-47FC978B5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93" y="1390844"/>
            <a:ext cx="4596471" cy="443629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AA74472-6185-4572-8475-CD28768175CC}"/>
              </a:ext>
            </a:extLst>
          </p:cNvPr>
          <p:cNvSpPr/>
          <p:nvPr/>
        </p:nvSpPr>
        <p:spPr>
          <a:xfrm>
            <a:off x="5730094" y="1467534"/>
            <a:ext cx="6461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M(instance mesh) is a given naked shape in T pose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81557C8-3D7F-4C32-94A4-05465600750D}"/>
              </a:ext>
            </a:extLst>
          </p:cNvPr>
          <p:cNvSpPr/>
          <p:nvPr/>
        </p:nvSpPr>
        <p:spPr>
          <a:xfrm>
            <a:off x="875251" y="598382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a pair of high-quality human meshes {</a:t>
            </a:r>
            <a:r>
              <a:rPr lang="en-US" altLang="ko-KR" dirty="0" err="1"/>
              <a:t>P</a:t>
            </a:r>
            <a:r>
              <a:rPr lang="en-US" altLang="ko-KR" sz="1400" dirty="0" err="1"/>
              <a:t>naked</a:t>
            </a:r>
            <a:r>
              <a:rPr lang="en-US" altLang="ko-KR" dirty="0"/>
              <a:t>, </a:t>
            </a:r>
            <a:r>
              <a:rPr lang="en-US" altLang="ko-KR" dirty="0" err="1"/>
              <a:t>P</a:t>
            </a:r>
            <a:r>
              <a:rPr lang="en-US" altLang="ko-KR" sz="1400" dirty="0" err="1"/>
              <a:t>clothed</a:t>
            </a:r>
            <a:r>
              <a:rPr lang="en-US" altLang="ko-KR" dirty="0"/>
              <a:t>} as reference from </a:t>
            </a:r>
            <a:r>
              <a:rPr lang="en-US" altLang="ko-KR" dirty="0">
                <a:solidFill>
                  <a:srgbClr val="FF0000"/>
                </a:solidFill>
              </a:rPr>
              <a:t>POSER(library)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15242B-89BF-4663-A2FC-7E6E58781F59}"/>
              </a:ext>
            </a:extLst>
          </p:cNvPr>
          <p:cNvSpPr txBox="1"/>
          <p:nvPr/>
        </p:nvSpPr>
        <p:spPr>
          <a:xfrm>
            <a:off x="169294" y="126289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Learning phase</a:t>
            </a:r>
            <a:endParaRPr lang="ko-KR" altLang="en-US" sz="6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E2368B-EFF8-437D-BD6C-D8C6E5BDE342}"/>
              </a:ext>
            </a:extLst>
          </p:cNvPr>
          <p:cNvSpPr/>
          <p:nvPr/>
        </p:nvSpPr>
        <p:spPr>
          <a:xfrm>
            <a:off x="5730094" y="1965988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The work flow of deforming a naked shape to a clothed one. M is a given naked shape in T pose. </a:t>
            </a:r>
            <a:r>
              <a:rPr lang="en-US" altLang="ko-KR" dirty="0" err="1"/>
              <a:t>R</a:t>
            </a:r>
            <a:r>
              <a:rPr lang="en-US" altLang="ko-KR" sz="1400" dirty="0" err="1"/>
              <a:t>naked</a:t>
            </a:r>
            <a:r>
              <a:rPr lang="en-US" altLang="ko-KR" dirty="0"/>
              <a:t> is a naked shape in POSER library and </a:t>
            </a:r>
            <a:r>
              <a:rPr lang="en-US" altLang="ko-KR" dirty="0" err="1"/>
              <a:t>R</a:t>
            </a:r>
            <a:r>
              <a:rPr lang="en-US" altLang="ko-KR" sz="1400" dirty="0" err="1"/>
              <a:t>clothed</a:t>
            </a:r>
            <a:r>
              <a:rPr lang="en-US" altLang="ko-KR" dirty="0"/>
              <a:t> is the same person with clothes on. We deform M to R clothed taking </a:t>
            </a:r>
            <a:r>
              <a:rPr lang="en-US" altLang="ko-KR" dirty="0" err="1"/>
              <a:t>R</a:t>
            </a:r>
            <a:r>
              <a:rPr lang="en-US" altLang="ko-KR" sz="1400" dirty="0" err="1"/>
              <a:t>clothed</a:t>
            </a:r>
            <a:r>
              <a:rPr lang="en-US" altLang="ko-KR" dirty="0"/>
              <a:t> as reference, also to </a:t>
            </a:r>
            <a:r>
              <a:rPr lang="en-US" altLang="ko-KR" dirty="0" err="1"/>
              <a:t>R</a:t>
            </a:r>
            <a:r>
              <a:rPr lang="en-US" altLang="ko-KR" sz="1400" dirty="0" err="1"/>
              <a:t>naked</a:t>
            </a:r>
            <a:r>
              <a:rPr lang="en-US" altLang="ko-KR" sz="1400" dirty="0"/>
              <a:t>  </a:t>
            </a:r>
            <a:r>
              <a:rPr lang="en-US" altLang="ko-KR" dirty="0"/>
              <a:t>taking </a:t>
            </a:r>
            <a:r>
              <a:rPr lang="en-US" altLang="ko-KR" dirty="0" err="1"/>
              <a:t>R</a:t>
            </a:r>
            <a:r>
              <a:rPr lang="en-US" altLang="ko-KR" sz="1400" dirty="0" err="1"/>
              <a:t>naked</a:t>
            </a:r>
            <a:r>
              <a:rPr lang="en-US" altLang="ko-KR" dirty="0"/>
              <a:t> as reference. The deformation from </a:t>
            </a:r>
            <a:r>
              <a:rPr lang="en-US" altLang="ko-KR" dirty="0" err="1"/>
              <a:t>R</a:t>
            </a:r>
            <a:r>
              <a:rPr lang="en-US" altLang="ko-KR" sz="1400" dirty="0" err="1"/>
              <a:t>clothed</a:t>
            </a:r>
            <a:r>
              <a:rPr lang="en-US" altLang="ko-KR" dirty="0"/>
              <a:t> to </a:t>
            </a:r>
            <a:r>
              <a:rPr lang="en-US" altLang="ko-KR" dirty="0" err="1"/>
              <a:t>R</a:t>
            </a:r>
            <a:r>
              <a:rPr lang="en-US" altLang="ko-KR" sz="1400" dirty="0" err="1"/>
              <a:t>naked</a:t>
            </a:r>
            <a:r>
              <a:rPr lang="en-US" altLang="ko-KR" dirty="0"/>
              <a:t> is added to M and we get the result </a:t>
            </a:r>
            <a:r>
              <a:rPr lang="en-US" altLang="ko-KR" dirty="0" err="1"/>
              <a:t>M</a:t>
            </a:r>
            <a:r>
              <a:rPr lang="en-US" altLang="ko-KR" sz="1400" dirty="0" err="1"/>
              <a:t>clothed</a:t>
            </a:r>
            <a:r>
              <a:rPr lang="en-US" altLang="ko-KR" dirty="0"/>
              <a:t>, which has the same body as M. The resulted shape can be used for further deformation like animation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964F54-0983-40BE-A127-DD4CB9DA9200}"/>
              </a:ext>
            </a:extLst>
          </p:cNvPr>
          <p:cNvSpPr/>
          <p:nvPr/>
        </p:nvSpPr>
        <p:spPr>
          <a:xfrm>
            <a:off x="5730094" y="473080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We deform M to </a:t>
            </a:r>
            <a:r>
              <a:rPr lang="en-US" altLang="ko-KR" dirty="0" err="1"/>
              <a:t>R</a:t>
            </a:r>
            <a:r>
              <a:rPr lang="en-US" altLang="ko-KR" sz="1400" dirty="0" err="1"/>
              <a:t>clothed</a:t>
            </a:r>
            <a:r>
              <a:rPr lang="en-US" altLang="ko-KR" dirty="0"/>
              <a:t> and </a:t>
            </a:r>
            <a:r>
              <a:rPr lang="en-US" altLang="ko-KR" dirty="0" err="1"/>
              <a:t>R</a:t>
            </a:r>
            <a:r>
              <a:rPr lang="en-US" altLang="ko-KR" sz="1400" dirty="0" err="1"/>
              <a:t>naked</a:t>
            </a:r>
            <a:r>
              <a:rPr lang="en-US" altLang="ko-KR" dirty="0"/>
              <a:t> according to </a:t>
            </a:r>
            <a:r>
              <a:rPr lang="en-US" altLang="ko-KR" dirty="0" err="1"/>
              <a:t>R</a:t>
            </a:r>
            <a:r>
              <a:rPr lang="en-US" altLang="ko-KR" sz="1400" dirty="0" err="1"/>
              <a:t>clothed</a:t>
            </a:r>
            <a:r>
              <a:rPr lang="en-US" altLang="ko-KR" dirty="0"/>
              <a:t> and </a:t>
            </a:r>
            <a:r>
              <a:rPr lang="en-US" altLang="ko-KR" dirty="0" err="1"/>
              <a:t>R</a:t>
            </a:r>
            <a:r>
              <a:rPr lang="en-US" altLang="ko-KR" sz="1400" dirty="0" err="1"/>
              <a:t>naked</a:t>
            </a:r>
            <a:r>
              <a:rPr lang="en-US" altLang="ko-KR" dirty="0"/>
              <a:t>, respectively, with 7 user-given mark points (4 for feet, 2 for hands, and 1 for nose)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01829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4FF5A23A-62B8-423D-83CE-4AB82BE16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406" y="1072489"/>
            <a:ext cx="5141108" cy="555423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476235C-DB04-4C2E-B3DE-6803C5F2AD1D}"/>
              </a:ext>
            </a:extLst>
          </p:cNvPr>
          <p:cNvSpPr/>
          <p:nvPr/>
        </p:nvSpPr>
        <p:spPr>
          <a:xfrm>
            <a:off x="7480041" y="2825384"/>
            <a:ext cx="43325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mesh contains 1.5k vertexes and 2.5k triangle faces with 18 body parts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B7ED67-8F4A-4552-B367-95698F855980}"/>
              </a:ext>
            </a:extLst>
          </p:cNvPr>
          <p:cNvSpPr txBox="1"/>
          <p:nvPr/>
        </p:nvSpPr>
        <p:spPr>
          <a:xfrm>
            <a:off x="169294" y="126289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Learning phase</a:t>
            </a:r>
            <a:endParaRPr lang="ko-KR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066674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ED5CE6E-38F0-4CB5-8989-333101AE46E7}"/>
              </a:ext>
            </a:extLst>
          </p:cNvPr>
          <p:cNvSpPr txBox="1"/>
          <p:nvPr/>
        </p:nvSpPr>
        <p:spPr>
          <a:xfrm>
            <a:off x="169294" y="126289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Learning phase</a:t>
            </a:r>
            <a:endParaRPr lang="ko-KR" altLang="en-US" sz="60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903D26-0C2F-4D0B-B6E8-217DD9507ADD}"/>
              </a:ext>
            </a:extLst>
          </p:cNvPr>
          <p:cNvSpPr/>
          <p:nvPr/>
        </p:nvSpPr>
        <p:spPr>
          <a:xfrm>
            <a:off x="933973" y="1582990"/>
            <a:ext cx="931737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Joint rotation </a:t>
            </a:r>
            <a:r>
              <a:rPr lang="en-US" altLang="ko-KR" dirty="0"/>
              <a:t>estimation We manually estimated the pose of the template mesh and </a:t>
            </a:r>
            <a:r>
              <a:rPr lang="en-US" altLang="ko-KR" dirty="0">
                <a:solidFill>
                  <a:srgbClr val="FF0000"/>
                </a:solidFill>
              </a:rPr>
              <a:t>get the absolute rotation </a:t>
            </a:r>
            <a:r>
              <a:rPr lang="en-US" altLang="ko-KR" dirty="0"/>
              <a:t>of every body part with forward kinematics, then we estimate the pose for other meshes automatically</a:t>
            </a:r>
          </a:p>
          <a:p>
            <a:endParaRPr lang="en-US" altLang="ko-KR" dirty="0"/>
          </a:p>
          <a:p>
            <a:r>
              <a:rPr lang="en-US" altLang="ko-KR" b="1" dirty="0"/>
              <a:t>Deformation processing </a:t>
            </a:r>
            <a:r>
              <a:rPr lang="en-US" altLang="ko-KR" dirty="0"/>
              <a:t>Given an instance mesh M in the training dataset, the main idea is </a:t>
            </a:r>
            <a:r>
              <a:rPr lang="en-US" altLang="ko-KR" dirty="0">
                <a:solidFill>
                  <a:srgbClr val="FF0000"/>
                </a:solidFill>
              </a:rPr>
              <a:t>to deform the template mesh T to M and learn the deformation parameters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004D3FE-4FC2-45F7-9136-440DF93E6FB1}"/>
              </a:ext>
            </a:extLst>
          </p:cNvPr>
          <p:cNvSpPr/>
          <p:nvPr/>
        </p:nvSpPr>
        <p:spPr>
          <a:xfrm>
            <a:off x="7351551" y="294285"/>
            <a:ext cx="43325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Body</a:t>
            </a:r>
            <a:r>
              <a:rPr lang="ko-KR" altLang="en-US" dirty="0"/>
              <a:t> </a:t>
            </a:r>
            <a:r>
              <a:rPr lang="en-US" altLang="ko-KR" dirty="0"/>
              <a:t>part </a:t>
            </a:r>
            <a:r>
              <a:rPr lang="en-US" altLang="ko-KR" b="1" dirty="0"/>
              <a:t>b</a:t>
            </a:r>
          </a:p>
          <a:p>
            <a:r>
              <a:rPr lang="en-US" altLang="ko-KR" dirty="0"/>
              <a:t>Relative rotation </a:t>
            </a:r>
            <a:r>
              <a:rPr lang="en-US" altLang="ko-KR" b="1" dirty="0"/>
              <a:t>R</a:t>
            </a:r>
          </a:p>
          <a:p>
            <a:r>
              <a:rPr lang="en-US" altLang="ko-KR" dirty="0"/>
              <a:t>Template mesh </a:t>
            </a:r>
            <a:r>
              <a:rPr lang="en-US" altLang="ko-KR" b="1" dirty="0"/>
              <a:t>T</a:t>
            </a:r>
          </a:p>
          <a:p>
            <a:r>
              <a:rPr lang="en-US" altLang="ko-KR" dirty="0"/>
              <a:t>Instance mesh</a:t>
            </a:r>
            <a:r>
              <a:rPr lang="en-US" altLang="ko-KR" b="1" dirty="0"/>
              <a:t> M</a:t>
            </a:r>
            <a:endParaRPr lang="ko-KR" altLang="en-US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10603B4-5C79-4587-B8AA-674C9089B3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07" y="3519969"/>
            <a:ext cx="3876675" cy="59055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201F048-8431-4F43-9A8C-C472D9782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644" y="3644007"/>
            <a:ext cx="1181100" cy="3048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E1AAF85-4E80-4655-BA72-EDECE9880203}"/>
              </a:ext>
            </a:extLst>
          </p:cNvPr>
          <p:cNvSpPr/>
          <p:nvPr/>
        </p:nvSpPr>
        <p:spPr>
          <a:xfrm>
            <a:off x="6413532" y="4038141"/>
            <a:ext cx="441930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3 × 3 liner transformation matrix for the kth triangle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03F424-FACD-4EAC-B30A-3E95912C6C53}"/>
              </a:ext>
            </a:extLst>
          </p:cNvPr>
          <p:cNvSpPr/>
          <p:nvPr/>
        </p:nvSpPr>
        <p:spPr>
          <a:xfrm>
            <a:off x="6413532" y="4646633"/>
            <a:ext cx="51579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representing clothing-related deformation, body-shape-dependent deformation, and pose-dependent deformation separately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0512481-BF38-497B-B23F-A474B2A34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32" y="4205387"/>
            <a:ext cx="1504950" cy="3048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CFC52A7-842B-436D-959D-4E73C286A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761" y="4831299"/>
            <a:ext cx="5438775" cy="333375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250F92DC-BB66-4D1B-8BFC-FA5BE1E4B38A}"/>
              </a:ext>
            </a:extLst>
          </p:cNvPr>
          <p:cNvSpPr/>
          <p:nvPr/>
        </p:nvSpPr>
        <p:spPr>
          <a:xfrm>
            <a:off x="186761" y="5191482"/>
            <a:ext cx="23788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for the kth face in M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4136B5C-8EBC-46EA-A5F4-7600C21B588B}"/>
              </a:ext>
            </a:extLst>
          </p:cNvPr>
          <p:cNvSpPr/>
          <p:nvPr/>
        </p:nvSpPr>
        <p:spPr>
          <a:xfrm>
            <a:off x="1784382" y="4157525"/>
            <a:ext cx="34345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be the vertexes of the kth triangle face of 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0211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ED5CE6E-38F0-4CB5-8989-333101AE46E7}"/>
              </a:ext>
            </a:extLst>
          </p:cNvPr>
          <p:cNvSpPr txBox="1"/>
          <p:nvPr/>
        </p:nvSpPr>
        <p:spPr>
          <a:xfrm>
            <a:off x="169294" y="126289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Learning phase</a:t>
            </a:r>
            <a:endParaRPr lang="ko-KR" altLang="en-US" sz="60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B31075-7BBA-4556-85D4-E2B41DAA7D58}"/>
              </a:ext>
            </a:extLst>
          </p:cNvPr>
          <p:cNvSpPr/>
          <p:nvPr/>
        </p:nvSpPr>
        <p:spPr>
          <a:xfrm>
            <a:off x="1377820" y="1673794"/>
            <a:ext cx="89231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/>
              <a:t>Learning the clothing-related deformation </a:t>
            </a:r>
            <a:r>
              <a:rPr lang="en-US" altLang="ko-KR" dirty="0"/>
              <a:t>We learn a set of coefficients for each type of clothes in the dataset.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566AE9F-1F16-43B9-B545-6D0FE7F71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780" y="2566991"/>
            <a:ext cx="4781550" cy="11239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0679A95-5F7B-42A7-B435-C2F848CCB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568" y="3792991"/>
            <a:ext cx="609600" cy="44767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52AA790B-F644-4B7E-BA95-F4B1B8C272C1}"/>
              </a:ext>
            </a:extLst>
          </p:cNvPr>
          <p:cNvSpPr/>
          <p:nvPr/>
        </p:nvSpPr>
        <p:spPr>
          <a:xfrm>
            <a:off x="2093168" y="3836348"/>
            <a:ext cx="5798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are the corresponding edges of the instance mesh M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40F0354-4464-4FCE-92A5-E166BEB30049}"/>
              </a:ext>
            </a:extLst>
          </p:cNvPr>
          <p:cNvSpPr/>
          <p:nvPr/>
        </p:nvSpPr>
        <p:spPr>
          <a:xfrm>
            <a:off x="1483567" y="4148144"/>
            <a:ext cx="627017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The </a:t>
            </a:r>
            <a:r>
              <a:rPr lang="en-US" altLang="ko-KR" dirty="0" err="1"/>
              <a:t>bodyshape</a:t>
            </a:r>
            <a:r>
              <a:rPr lang="en-US" altLang="ko-KR" dirty="0"/>
              <a:t> deformation S is already obtained since M has a corresponding naked shape in the shape dataset. Meanwhile, the absolute rotation matrix of the template and the T -pose are also known values, which determine Q and R. Therefore, this problem can be solved by using a straightforward least-squares optimization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6246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ED5CE6E-38F0-4CB5-8989-333101AE46E7}"/>
              </a:ext>
            </a:extLst>
          </p:cNvPr>
          <p:cNvSpPr txBox="1"/>
          <p:nvPr/>
        </p:nvSpPr>
        <p:spPr>
          <a:xfrm>
            <a:off x="169294" y="126289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Learning phase</a:t>
            </a:r>
            <a:endParaRPr lang="ko-KR" altLang="en-US" sz="6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98D4E95-786E-455F-A43B-1CD056605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439" y="1898001"/>
            <a:ext cx="4048125" cy="9906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DD667E7-F57A-4FAE-A0BB-E8ADACF5A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439" y="2939919"/>
            <a:ext cx="6391275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64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0576D7-A324-48E7-910A-3553F893B41F}"/>
              </a:ext>
            </a:extLst>
          </p:cNvPr>
          <p:cNvSpPr txBox="1"/>
          <p:nvPr/>
        </p:nvSpPr>
        <p:spPr>
          <a:xfrm>
            <a:off x="209356" y="-106330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Fitting phase</a:t>
            </a:r>
            <a:endParaRPr lang="ko-KR" altLang="en-US" sz="60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F73272E-B466-4A20-B959-E9F0C7735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11" y="1222204"/>
            <a:ext cx="1009650" cy="447675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BA0F3639-F234-4FA3-8F6B-A06545921C92}"/>
              </a:ext>
            </a:extLst>
          </p:cNvPr>
          <p:cNvSpPr/>
          <p:nvPr/>
        </p:nvSpPr>
        <p:spPr>
          <a:xfrm>
            <a:off x="789991" y="1767845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a 3D initial pose θ</a:t>
            </a:r>
            <a:r>
              <a:rPr lang="en-US" altLang="ko-KR" sz="1200" dirty="0"/>
              <a:t>0</a:t>
            </a:r>
            <a:r>
              <a:rPr lang="en-US" altLang="ko-KR" dirty="0"/>
              <a:t> is recovered with the state-of-the-art IK algorithm, β</a:t>
            </a:r>
            <a:r>
              <a:rPr lang="en-US" altLang="ko-KR" sz="1200" dirty="0"/>
              <a:t>0</a:t>
            </a:r>
            <a:r>
              <a:rPr lang="en-US" altLang="ko-KR" dirty="0"/>
              <a:t> is set to the mean body, and the clothes type is chosen by the user. We follow the foreground segmentation of [12], and perform pose fitting and body fitting iteratively to get the optimal parameters (θ,β)∗ automatically. </a:t>
            </a:r>
          </a:p>
          <a:p>
            <a:r>
              <a:rPr lang="en-US" altLang="ko-KR" dirty="0"/>
              <a:t>Finally, we generate a pair of estimated shapes {</a:t>
            </a:r>
            <a:r>
              <a:rPr lang="en-US" altLang="ko-KR" dirty="0" err="1"/>
              <a:t>M</a:t>
            </a:r>
            <a:r>
              <a:rPr lang="en-US" altLang="ko-KR" sz="1400" dirty="0" err="1"/>
              <a:t>clothed</a:t>
            </a:r>
            <a:r>
              <a:rPr lang="en-US" altLang="ko-KR" dirty="0" err="1"/>
              <a:t>,M</a:t>
            </a:r>
            <a:r>
              <a:rPr lang="en-US" altLang="ko-KR" sz="1400" dirty="0" err="1"/>
              <a:t>naked</a:t>
            </a:r>
            <a:r>
              <a:rPr lang="en-US" altLang="ko-KR" dirty="0"/>
              <a:t>} for further applications.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93A98C-C31C-4487-B92D-9F44017AFFAC}"/>
              </a:ext>
            </a:extLst>
          </p:cNvPr>
          <p:cNvSpPr/>
          <p:nvPr/>
        </p:nvSpPr>
        <p:spPr>
          <a:xfrm>
            <a:off x="1958261" y="126137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Initial estimate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23078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0576D7-A324-48E7-910A-3553F893B41F}"/>
              </a:ext>
            </a:extLst>
          </p:cNvPr>
          <p:cNvSpPr txBox="1"/>
          <p:nvPr/>
        </p:nvSpPr>
        <p:spPr>
          <a:xfrm>
            <a:off x="209356" y="-106330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Fitting phase</a:t>
            </a:r>
            <a:endParaRPr lang="ko-KR" altLang="en-US" sz="60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FE24CA-6464-4AE2-B823-93D6D31561AB}"/>
              </a:ext>
            </a:extLst>
          </p:cNvPr>
          <p:cNvSpPr/>
          <p:nvPr/>
        </p:nvSpPr>
        <p:spPr>
          <a:xfrm>
            <a:off x="817984" y="1866725"/>
            <a:ext cx="74676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000" b="1" dirty="0"/>
              <a:t>Initialization</a:t>
            </a:r>
          </a:p>
          <a:p>
            <a:r>
              <a:rPr lang="en-US" altLang="ko-KR" dirty="0"/>
              <a:t>Users need to click a few points on the major joints and select the clothes type of the target person in the in image</a:t>
            </a:r>
          </a:p>
          <a:p>
            <a:r>
              <a:rPr lang="en-US" altLang="ko-KR" dirty="0"/>
              <a:t>the user refine the segmentation result if necessary</a:t>
            </a:r>
          </a:p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72BA48-910A-4FDA-AB17-595425428E5D}"/>
              </a:ext>
            </a:extLst>
          </p:cNvPr>
          <p:cNvSpPr/>
          <p:nvPr/>
        </p:nvSpPr>
        <p:spPr>
          <a:xfrm>
            <a:off x="817984" y="316000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Initial human pose is estimated from a few 2D points corresponding to the major joints of the subject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8E26BA-A63D-466A-8393-7FAFE011A95F}"/>
              </a:ext>
            </a:extLst>
          </p:cNvPr>
          <p:cNvSpPr/>
          <p:nvPr/>
        </p:nvSpPr>
        <p:spPr>
          <a:xfrm>
            <a:off x="880225" y="3918770"/>
            <a:ext cx="3552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Users’ inputs are generally noisy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42A1FD-038D-4D3A-AC4E-8F6EA6A4D41A}"/>
              </a:ext>
            </a:extLst>
          </p:cNvPr>
          <p:cNvSpPr/>
          <p:nvPr/>
        </p:nvSpPr>
        <p:spPr>
          <a:xfrm>
            <a:off x="880225" y="4372836"/>
            <a:ext cx="78706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Hence, extracts prior information embedded in millions of example poses and uses it to generate a desired pose from constraints specified by the user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8BBA1B-BDE6-4992-8C3C-1F91461F1AE2}"/>
              </a:ext>
            </a:extLst>
          </p:cNvPr>
          <p:cNvSpPr/>
          <p:nvPr/>
        </p:nvSpPr>
        <p:spPr>
          <a:xfrm>
            <a:off x="880225" y="524549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We use the CMU motion capture dataset (2.8 million poses)2 as training data, and represent each pose q as a 23-dimensional vector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985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0576D7-A324-48E7-910A-3553F893B41F}"/>
              </a:ext>
            </a:extLst>
          </p:cNvPr>
          <p:cNvSpPr txBox="1"/>
          <p:nvPr/>
        </p:nvSpPr>
        <p:spPr>
          <a:xfrm>
            <a:off x="209356" y="-106330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Fitting phase</a:t>
            </a:r>
            <a:endParaRPr lang="ko-KR" altLang="en-US" sz="60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0F5DAC-0D53-4141-938C-AD97093AA393}"/>
              </a:ext>
            </a:extLst>
          </p:cNvPr>
          <p:cNvSpPr/>
          <p:nvPr/>
        </p:nvSpPr>
        <p:spPr>
          <a:xfrm>
            <a:off x="1203861" y="1415533"/>
            <a:ext cx="15899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/>
              <a:t>Pose fitting</a:t>
            </a:r>
            <a:endParaRPr lang="ko-KR" altLang="en-US" sz="20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405B8C2-E889-4452-8F34-6B6F128CD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61" y="2261194"/>
            <a:ext cx="3124200" cy="8191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778AC31-AA2C-4BBA-BB6F-E01B33AF1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237" y="3542732"/>
            <a:ext cx="1943100" cy="27622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EB8CADB-76C9-4063-92BC-26E4FBBE48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238" y="3925152"/>
            <a:ext cx="4524375" cy="2286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29D4929-73F5-43C8-A253-286385ECE7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861" y="4642367"/>
            <a:ext cx="3667125" cy="8001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88D6458-3EDC-4EC9-94F5-E616194EDC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237" y="3143250"/>
            <a:ext cx="3819525" cy="28575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EC301E72-CD59-4D7A-ABA0-87854CF8174F}"/>
              </a:ext>
            </a:extLst>
          </p:cNvPr>
          <p:cNvSpPr/>
          <p:nvPr/>
        </p:nvSpPr>
        <p:spPr>
          <a:xfrm>
            <a:off x="6366587" y="3080344"/>
            <a:ext cx="4440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penalizes large change of limb rotation, </a:t>
            </a:r>
            <a:r>
              <a:rPr lang="en-US" altLang="ko-KR" dirty="0" err="1"/>
              <a:t>w</a:t>
            </a:r>
            <a:r>
              <a:rPr lang="en-US" altLang="ko-KR" sz="1400" dirty="0" err="1"/>
              <a:t>t</a:t>
            </a:r>
            <a:r>
              <a:rPr lang="en-US" altLang="ko-KR" dirty="0"/>
              <a:t> = 1 in all our experiments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364C624-6BB7-4180-91D4-03B3ABEDE9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637" y="3140291"/>
            <a:ext cx="361950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193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0576D7-A324-48E7-910A-3553F893B41F}"/>
              </a:ext>
            </a:extLst>
          </p:cNvPr>
          <p:cNvSpPr txBox="1"/>
          <p:nvPr/>
        </p:nvSpPr>
        <p:spPr>
          <a:xfrm>
            <a:off x="209356" y="-106330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Fitting phase</a:t>
            </a:r>
            <a:endParaRPr lang="ko-KR" altLang="en-US" sz="60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0F5DAC-0D53-4141-938C-AD97093AA393}"/>
              </a:ext>
            </a:extLst>
          </p:cNvPr>
          <p:cNvSpPr/>
          <p:nvPr/>
        </p:nvSpPr>
        <p:spPr>
          <a:xfrm>
            <a:off x="1203861" y="1415533"/>
            <a:ext cx="16433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/>
              <a:t>Body fitting</a:t>
            </a:r>
            <a:endParaRPr lang="ko-KR" altLang="en-US" sz="2000" b="1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3271C91-D365-4D1F-A7D1-CD4F45E85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861" y="2251593"/>
            <a:ext cx="5343525" cy="20002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999C5F3-87C4-475B-85CB-1EE095E57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432" y="2323906"/>
            <a:ext cx="2019300" cy="40005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60B315D5-EBAC-4000-883E-A06FF2E63BF1}"/>
              </a:ext>
            </a:extLst>
          </p:cNvPr>
          <p:cNvSpPr/>
          <p:nvPr/>
        </p:nvSpPr>
        <p:spPr>
          <a:xfrm>
            <a:off x="7092432" y="2723956"/>
            <a:ext cx="4050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functions learned in previous section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4FF0A1-6CB9-4BDC-B5C4-F85562866B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1512" y="4378522"/>
            <a:ext cx="83820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891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BB9D9A2-BBF0-47AA-88F4-6A3A26EBF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397" y="1708988"/>
            <a:ext cx="4786578" cy="3440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D3DA7D-0C80-4C26-B6E9-D0072E3CCA01}"/>
              </a:ext>
            </a:extLst>
          </p:cNvPr>
          <p:cNvSpPr txBox="1"/>
          <p:nvPr/>
        </p:nvSpPr>
        <p:spPr>
          <a:xfrm>
            <a:off x="358645" y="0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Result</a:t>
            </a:r>
            <a:endParaRPr lang="ko-KR" altLang="en-US" sz="60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A3B84B-C55D-47EA-8965-2B0BFC181D51}"/>
              </a:ext>
            </a:extLst>
          </p:cNvPr>
          <p:cNvSpPr/>
          <p:nvPr/>
        </p:nvSpPr>
        <p:spPr>
          <a:xfrm>
            <a:off x="6587995" y="3105834"/>
            <a:ext cx="58528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</a:rPr>
              <a:t>People wearing thick </a:t>
            </a:r>
            <a:r>
              <a:rPr lang="en-US" altLang="ko-KR" dirty="0" err="1">
                <a:solidFill>
                  <a:srgbClr val="C00000"/>
                </a:solidFill>
              </a:rPr>
              <a:t>clotehs</a:t>
            </a:r>
            <a:r>
              <a:rPr lang="en-US" altLang="ko-KR" dirty="0">
                <a:solidFill>
                  <a:srgbClr val="C00000"/>
                </a:solidFill>
              </a:rPr>
              <a:t> can extract body types</a:t>
            </a:r>
            <a:br>
              <a:rPr lang="en-US" altLang="ko-KR" dirty="0">
                <a:solidFill>
                  <a:srgbClr val="C00000"/>
                </a:solidFill>
              </a:rPr>
            </a:br>
            <a:r>
              <a:rPr lang="en-US" altLang="ko-KR" dirty="0">
                <a:solidFill>
                  <a:srgbClr val="C00000"/>
                </a:solidFill>
              </a:rPr>
              <a:t>But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en-US" altLang="ko-KR" dirty="0">
                <a:solidFill>
                  <a:srgbClr val="C00000"/>
                </a:solidFill>
              </a:rPr>
              <a:t>there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r>
              <a:rPr lang="en-US" altLang="ko-KR" dirty="0">
                <a:solidFill>
                  <a:srgbClr val="C00000"/>
                </a:solidFill>
              </a:rPr>
              <a:t>aren’t GT, So We don’t know whether it’s real or not</a:t>
            </a:r>
          </a:p>
        </p:txBody>
      </p:sp>
    </p:spTree>
    <p:extLst>
      <p:ext uri="{BB962C8B-B14F-4D97-AF65-F5344CB8AC3E}">
        <p14:creationId xmlns:p14="http://schemas.microsoft.com/office/powerpoint/2010/main" val="1483747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B839254-202C-4076-AF0E-35B78AA66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049" y="1497370"/>
            <a:ext cx="8848725" cy="2762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0F1330-2879-471D-B90B-2FBBBC5E4DCE}"/>
              </a:ext>
            </a:extLst>
          </p:cNvPr>
          <p:cNvSpPr txBox="1"/>
          <p:nvPr/>
        </p:nvSpPr>
        <p:spPr>
          <a:xfrm>
            <a:off x="358645" y="0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Result</a:t>
            </a:r>
            <a:endParaRPr lang="ko-KR" altLang="en-US" sz="60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1294414-2AC6-478A-AA6A-326DFE5A4557}"/>
              </a:ext>
            </a:extLst>
          </p:cNvPr>
          <p:cNvSpPr/>
          <p:nvPr/>
        </p:nvSpPr>
        <p:spPr>
          <a:xfrm>
            <a:off x="1401049" y="4259620"/>
            <a:ext cx="90277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Interesting : Choose the type of clothing which person wear</a:t>
            </a:r>
          </a:p>
        </p:txBody>
      </p:sp>
    </p:spTree>
    <p:extLst>
      <p:ext uri="{BB962C8B-B14F-4D97-AF65-F5344CB8AC3E}">
        <p14:creationId xmlns:p14="http://schemas.microsoft.com/office/powerpoint/2010/main" val="2808050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0576D7-A324-48E7-910A-3553F893B41F}"/>
              </a:ext>
            </a:extLst>
          </p:cNvPr>
          <p:cNvSpPr txBox="1"/>
          <p:nvPr/>
        </p:nvSpPr>
        <p:spPr>
          <a:xfrm>
            <a:off x="358645" y="0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Result</a:t>
            </a:r>
            <a:endParaRPr lang="ko-KR" altLang="en-US" sz="6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3627FE-1FEF-4535-A870-C84397A07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221" y="1015663"/>
            <a:ext cx="7600367" cy="563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333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C0576D7-A324-48E7-910A-3553F893B41F}"/>
              </a:ext>
            </a:extLst>
          </p:cNvPr>
          <p:cNvSpPr txBox="1"/>
          <p:nvPr/>
        </p:nvSpPr>
        <p:spPr>
          <a:xfrm>
            <a:off x="358645" y="0"/>
            <a:ext cx="62293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/>
              <a:t>Result</a:t>
            </a:r>
            <a:endParaRPr lang="ko-KR" altLang="en-US" sz="6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7427458-E856-41C9-A9B8-1048763F8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229" y="990283"/>
            <a:ext cx="8362950" cy="47434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89F12940-715A-48BE-AA44-24B3C6864D77}"/>
              </a:ext>
            </a:extLst>
          </p:cNvPr>
          <p:cNvSpPr/>
          <p:nvPr/>
        </p:nvSpPr>
        <p:spPr>
          <a:xfrm>
            <a:off x="2123670" y="5733733"/>
            <a:ext cx="73962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Our experiments show that the method can estimate both the clothed and naked human shape of a dressed subject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8958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FF39C-036E-4ECC-8AE3-747128F50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End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683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915</Words>
  <Application>Microsoft Office PowerPoint</Application>
  <PresentationFormat>와이드스크린</PresentationFormat>
  <Paragraphs>81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맑은 고딕</vt:lpstr>
      <vt:lpstr>Arial</vt:lpstr>
      <vt:lpstr>Office 테마</vt:lpstr>
      <vt:lpstr>deformable model for estimating clothed and naked human shapes from a single image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Point Set Generation Network for 3D Object Reconstruction from a Single Image</dc:title>
  <dc:creator>DongWook Kim</dc:creator>
  <cp:lastModifiedBy>user</cp:lastModifiedBy>
  <cp:revision>37</cp:revision>
  <dcterms:created xsi:type="dcterms:W3CDTF">2018-05-10T00:32:17Z</dcterms:created>
  <dcterms:modified xsi:type="dcterms:W3CDTF">2018-06-20T05:50:25Z</dcterms:modified>
</cp:coreProperties>
</file>