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98" r:id="rId2"/>
    <p:sldId id="299" r:id="rId3"/>
    <p:sldId id="300" r:id="rId4"/>
    <p:sldId id="301" r:id="rId5"/>
    <p:sldId id="302" r:id="rId6"/>
    <p:sldId id="303" r:id="rId7"/>
    <p:sldId id="304" r:id="rId8"/>
    <p:sldId id="305" r:id="rId9"/>
    <p:sldId id="307" r:id="rId10"/>
    <p:sldId id="306" r:id="rId11"/>
  </p:sldIdLst>
  <p:sldSz cx="10323513" cy="7561263"/>
  <p:notesSz cx="7099300" cy="102346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519113" indent="-619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1039813" indent="-1254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560513" indent="-1889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2081213" indent="-252413" algn="l" rtl="0" fontAlgn="base" latinLnBrk="1">
      <a:spcBef>
        <a:spcPct val="0"/>
      </a:spcBef>
      <a:spcAft>
        <a:spcPct val="0"/>
      </a:spcAft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60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32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2004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7600" algn="l" defTabSz="914400" rtl="0" eaLnBrk="1" latinLnBrk="1" hangingPunct="1">
      <a:defRPr kumimoji="1" sz="2300" b="1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1">
          <p15:clr>
            <a:srgbClr val="A4A3A4"/>
          </p15:clr>
        </p15:guide>
        <p15:guide id="2" pos="325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2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8D7FA"/>
    <a:srgbClr val="FF9900"/>
    <a:srgbClr val="FFFF00"/>
    <a:srgbClr val="6699FF"/>
    <a:srgbClr val="000066"/>
    <a:srgbClr val="003399"/>
    <a:srgbClr val="423C3D"/>
    <a:srgbClr val="8080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65" autoAdjust="0"/>
    <p:restoredTop sz="94581" autoAdjust="0"/>
  </p:normalViewPr>
  <p:slideViewPr>
    <p:cSldViewPr>
      <p:cViewPr varScale="1">
        <p:scale>
          <a:sx n="115" d="100"/>
          <a:sy n="115" d="100"/>
        </p:scale>
        <p:origin x="586" y="67"/>
      </p:cViewPr>
      <p:guideLst>
        <p:guide orient="horz" pos="2381"/>
        <p:guide pos="32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-1350" y="-78"/>
      </p:cViewPr>
      <p:guideLst>
        <p:guide orient="horz" pos="3222"/>
        <p:guide pos="2236"/>
      </p:guideLst>
    </p:cSldViewPr>
  </p:notes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365536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4"/>
            <a:ext cx="3076978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t" anchorCtr="0" compatLnSpc="1">
            <a:prstTxWarp prst="textNoShape">
              <a:avLst/>
            </a:prstTxWarp>
          </a:bodyPr>
          <a:lstStyle>
            <a:lvl1pPr defTabSz="990907">
              <a:defRPr sz="1200" b="0" smtClean="0"/>
            </a:lvl1pPr>
          </a:lstStyle>
          <a:p>
            <a:pPr>
              <a:defRPr/>
            </a:pPr>
            <a:r>
              <a:rPr lang="en-US" altLang="ko-KR"/>
              <a:t>Dongguk University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0651" y="4"/>
            <a:ext cx="3076977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t" anchorCtr="0" compatLnSpc="1">
            <a:prstTxWarp prst="textNoShape">
              <a:avLst/>
            </a:prstTxWarp>
          </a:bodyPr>
          <a:lstStyle>
            <a:lvl1pPr algn="r" defTabSz="990907">
              <a:defRPr sz="1200" b="0" smtClean="0"/>
            </a:lvl1pPr>
          </a:lstStyle>
          <a:p>
            <a:pPr>
              <a:defRPr/>
            </a:pPr>
            <a:r>
              <a:rPr lang="en-US"/>
              <a:t>11/25/2008</a:t>
            </a:r>
            <a:endParaRPr lang="en-US" altLang="ko-KR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8688" y="769938"/>
            <a:ext cx="524192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2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430" y="4861236"/>
            <a:ext cx="5680443" cy="4604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/>
              <a:t>Click to edit Master text styles</a:t>
            </a:r>
          </a:p>
          <a:p>
            <a:pPr lvl="1"/>
            <a:r>
              <a:rPr lang="en-US" altLang="ko-KR" noProof="0"/>
              <a:t>Second level</a:t>
            </a:r>
          </a:p>
          <a:p>
            <a:pPr lvl="2"/>
            <a:r>
              <a:rPr lang="en-US" altLang="ko-KR" noProof="0"/>
              <a:t>Third level</a:t>
            </a:r>
          </a:p>
          <a:p>
            <a:pPr lvl="3"/>
            <a:r>
              <a:rPr lang="en-US" altLang="ko-KR" noProof="0"/>
              <a:t>Fourth level</a:t>
            </a:r>
          </a:p>
          <a:p>
            <a:pPr lvl="4"/>
            <a:r>
              <a:rPr lang="en-US" altLang="ko-KR" noProof="0"/>
              <a:t>Fifth level</a:t>
            </a:r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2472"/>
            <a:ext cx="3076978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b" anchorCtr="0" compatLnSpc="1">
            <a:prstTxWarp prst="textNoShape">
              <a:avLst/>
            </a:prstTxWarp>
          </a:bodyPr>
          <a:lstStyle>
            <a:lvl1pPr defTabSz="990907">
              <a:defRPr sz="1200" b="0" smtClean="0"/>
            </a:lvl1pPr>
          </a:lstStyle>
          <a:p>
            <a:pPr>
              <a:defRPr/>
            </a:pPr>
            <a:r>
              <a:rPr lang="en-US" altLang="ko-KR"/>
              <a:t>Department of Multimedia</a:t>
            </a:r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0651" y="9722472"/>
            <a:ext cx="3076977" cy="5104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13" tIns="49506" rIns="99013" bIns="49506" numCol="1" anchor="b" anchorCtr="0" compatLnSpc="1">
            <a:prstTxWarp prst="textNoShape">
              <a:avLst/>
            </a:prstTxWarp>
          </a:bodyPr>
          <a:lstStyle>
            <a:lvl1pPr algn="r" defTabSz="990907">
              <a:defRPr sz="1200" b="0" smtClean="0"/>
            </a:lvl1pPr>
          </a:lstStyle>
          <a:p>
            <a:pPr>
              <a:defRPr/>
            </a:pPr>
            <a:fld id="{72223526-C2E7-4AD9-8A99-88A26482559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54727441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5191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10398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5605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2081213" algn="l" rtl="0" eaLnBrk="0" fontAlgn="base" latinLnBrk="1" hangingPunct="0">
      <a:spcBef>
        <a:spcPct val="30000"/>
      </a:spcBef>
      <a:spcAft>
        <a:spcPct val="0"/>
      </a:spcAft>
      <a:defRPr kumimoji="1" sz="14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602792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3351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43909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64468" algn="l" defTabSz="1041117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8" descr="1-31-Graphic-Motif-Type-B-Us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588" y="4489450"/>
            <a:ext cx="31623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4" descr="1-05-Signature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035925" y="139700"/>
            <a:ext cx="2228850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16" descr="1-29-Graphic-Motif-Type-A-Co"/>
          <p:cNvPicPr preferRelativeResize="0">
            <a:picLocks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1019175"/>
            <a:ext cx="10323513" cy="4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63514" y="1994681"/>
            <a:ext cx="8774987" cy="2143140"/>
          </a:xfrm>
          <a:effectLst>
            <a:outerShdw dist="35921" dir="2700000" algn="ctr" rotWithShape="0">
              <a:schemeClr val="bg2"/>
            </a:outerShdw>
          </a:effectLst>
        </p:spPr>
        <p:txBody>
          <a:bodyPr anchor="ctr"/>
          <a:lstStyle>
            <a:lvl1pPr algn="ctr">
              <a:lnSpc>
                <a:spcPct val="100000"/>
              </a:lnSpc>
              <a:defRPr sz="5400" b="1" cap="none" spc="0">
                <a:ln>
                  <a:noFill/>
                </a:ln>
                <a:solidFill>
                  <a:srgbClr val="003399"/>
                </a:solidFill>
                <a:effectLst/>
                <a:latin typeface="Helvetica" pitchFamily="34" charset="0"/>
                <a:ea typeface="HY강M" pitchFamily="18" charset="-127"/>
              </a:defRPr>
            </a:lvl1pPr>
          </a:lstStyle>
          <a:p>
            <a:r>
              <a:rPr lang="en-US" altLang="ko-KR" dirty="0"/>
              <a:t>Click to edit Master title style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88283" y="4575271"/>
            <a:ext cx="7930824" cy="164177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lnSpc>
                <a:spcPct val="80000"/>
              </a:lnSpc>
              <a:buFont typeface="Wingdings" pitchFamily="2" charset="2"/>
              <a:buNone/>
              <a:defRPr sz="3600" b="0" cap="none" spc="0">
                <a:ln>
                  <a:noFill/>
                </a:ln>
                <a:solidFill>
                  <a:schemeClr val="accent5">
                    <a:lumMod val="25000"/>
                  </a:schemeClr>
                </a:solidFill>
                <a:effectLst/>
                <a:latin typeface="Helvetica" pitchFamily="34" charset="0"/>
                <a:ea typeface="HY강B" pitchFamily="18" charset="-127"/>
              </a:defRPr>
            </a:lvl1pPr>
          </a:lstStyle>
          <a:p>
            <a:r>
              <a:rPr lang="en-US" altLang="ko-KR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cap="none" spc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ko-KR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99AD3E1-D3CC-4A2C-AFCE-3F1C061A246E}" type="datetime1">
              <a:rPr lang="ko-KR" altLang="en-US" smtClean="0"/>
              <a:t>2018-05-16</a:t>
            </a:fld>
            <a:endParaRPr lang="en-US" altLang="ko-K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D57F253-BFD6-4B06-BA72-D88E120B01E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6" descr="1-31-Graphic-Motif-Type-B-Us"/>
          <p:cNvPicPr>
            <a:picLocks noChangeAspect="1" noChangeArrowheads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1588" y="4494213"/>
            <a:ext cx="31623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03200" y="77788"/>
            <a:ext cx="9927246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112" tIns="52056" rIns="104112" bIns="52056" numCol="1" anchor="b" anchorCtr="0" compatLnSpc="1"/>
          <a:lstStyle/>
          <a:p>
            <a:pPr lvl="0"/>
            <a:r>
              <a:rPr lang="en-US" altLang="ko-KR" dirty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03200" y="1079500"/>
            <a:ext cx="9917113" cy="603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112" tIns="52056" rIns="104112" bIns="5205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Click to 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15938" y="7224713"/>
            <a:ext cx="2409825" cy="29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112" tIns="52056" rIns="104112" bIns="52056" numCol="1" anchor="t" anchorCtr="0" compatLnSpc="1">
            <a:prstTxWarp prst="textNoShape">
              <a:avLst/>
            </a:prstTxWarp>
          </a:bodyPr>
          <a:lstStyle>
            <a:lvl1pPr>
              <a:defRPr sz="1400" b="0" smtClean="0">
                <a:solidFill>
                  <a:schemeClr val="bg2"/>
                </a:solidFill>
                <a:latin typeface="Helvetica" pitchFamily="34" charset="0"/>
              </a:defRPr>
            </a:lvl1pPr>
          </a:lstStyle>
          <a:p>
            <a:pPr>
              <a:defRPr/>
            </a:pPr>
            <a:fld id="{76D4B86E-74BB-441A-9532-38AF29BD327E}" type="datetime1">
              <a:rPr lang="ko-KR" altLang="en-US" smtClean="0"/>
              <a:t>2018-05-16</a:t>
            </a:fld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397750" y="7224713"/>
            <a:ext cx="2409825" cy="29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4112" tIns="52056" rIns="104112" bIns="52056" numCol="1" anchor="t" anchorCtr="0" compatLnSpc="1">
            <a:prstTxWarp prst="textNoShape">
              <a:avLst/>
            </a:prstTxWarp>
          </a:bodyPr>
          <a:lstStyle>
            <a:lvl1pPr algn="r">
              <a:defRPr sz="1400" b="0" smtClean="0">
                <a:solidFill>
                  <a:schemeClr val="bg2"/>
                </a:solidFill>
                <a:latin typeface="Helvetica" pitchFamily="34" charset="0"/>
              </a:defRPr>
            </a:lvl1pPr>
          </a:lstStyle>
          <a:p>
            <a:pPr>
              <a:defRPr/>
            </a:pPr>
            <a:fld id="{BEA56C7E-B086-4260-9634-0FD7B2E06793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pic>
        <p:nvPicPr>
          <p:cNvPr id="1032" name="Picture 18" descr="1-29-Graphic-Motif-Type-A-Co"/>
          <p:cNvPicPr preferRelativeResize="0">
            <a:picLocks noChangeArrowheads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1588" y="7178675"/>
            <a:ext cx="10323512" cy="4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3" name="Picture 14" descr="1-05-Signature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8593138" y="258763"/>
            <a:ext cx="1655762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</p:sldLayoutIdLst>
  <p:hf hdr="0"/>
  <p:txStyles>
    <p:titleStyle>
      <a:lvl1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4400" b="1" cap="none" spc="0">
          <a:ln>
            <a:noFill/>
          </a:ln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Helvetica" pitchFamily="34" charset="0"/>
          <a:ea typeface="HY강M" pitchFamily="18" charset="-127"/>
          <a:cs typeface="+mj-cs"/>
        </a:defRPr>
      </a:lvl1pPr>
      <a:lvl2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2pPr>
      <a:lvl3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3pPr>
      <a:lvl4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4pPr>
      <a:lvl5pPr algn="l" rtl="0" eaLnBrk="0" fontAlgn="base" latinLnBrk="1" hangingPunct="0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강M" pitchFamily="18" charset="-127"/>
          <a:ea typeface="HY강M" pitchFamily="18" charset="-127"/>
        </a:defRPr>
      </a:lvl5pPr>
      <a:lvl6pPr marL="520559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6pPr>
      <a:lvl7pPr marL="1041117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7pPr>
      <a:lvl8pPr marL="1561676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8pPr>
      <a:lvl9pPr marL="2082235" algn="l" rtl="0" fontAlgn="base" latinLnBrk="1">
        <a:lnSpc>
          <a:spcPct val="60000"/>
        </a:lnSpc>
        <a:spcBef>
          <a:spcPct val="0"/>
        </a:spcBef>
        <a:spcAft>
          <a:spcPct val="0"/>
        </a:spcAft>
        <a:defRPr kumimoji="1" sz="5000" b="1">
          <a:solidFill>
            <a:schemeClr val="accent2"/>
          </a:solidFill>
          <a:effectLst>
            <a:outerShdw blurRad="38100" dist="38100" dir="2700000" algn="tl">
              <a:srgbClr val="C0C0C0"/>
            </a:outerShdw>
          </a:effectLst>
          <a:latin typeface="HY바다M" pitchFamily="18" charset="-127"/>
          <a:ea typeface="HY바다M" pitchFamily="18" charset="-127"/>
        </a:defRPr>
      </a:lvl9pPr>
    </p:titleStyle>
    <p:bodyStyle>
      <a:lvl1pPr marL="388938" indent="-388938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§"/>
        <a:defRPr kumimoji="1" sz="28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844550" indent="-323850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ú"/>
        <a:defRPr kumimoji="1" sz="24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2pPr>
      <a:lvl3pPr marL="1300163" indent="-258763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Char char="•"/>
        <a:defRPr kumimoji="1" sz="20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3pPr>
      <a:lvl4pPr marL="1820863" indent="-258763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w"/>
        <a:defRPr kumimoji="1" sz="16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4pPr>
      <a:lvl5pPr marL="2341563" indent="-258763" algn="l" rtl="0" eaLnBrk="0" fontAlgn="base" latinLnBrk="1" hangingPunct="0">
        <a:spcBef>
          <a:spcPct val="20000"/>
        </a:spcBef>
        <a:spcAft>
          <a:spcPct val="0"/>
        </a:spcAft>
        <a:buClr>
          <a:srgbClr val="000066"/>
        </a:buClr>
        <a:buFont typeface="Wingdings" pitchFamily="2" charset="2"/>
        <a:buChar char="ü"/>
        <a:defRPr kumimoji="1" sz="1600">
          <a:solidFill>
            <a:schemeClr val="accent5">
              <a:lumMod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</a:defRPr>
      </a:lvl5pPr>
      <a:lvl6pPr marL="2863072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6pPr>
      <a:lvl7pPr marL="3383630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7pPr>
      <a:lvl8pPr marL="3904189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8pPr>
      <a:lvl9pPr marL="4424747" indent="-260279" algn="l" rtl="0" fontAlgn="base" latinLnBrk="1">
        <a:spcBef>
          <a:spcPct val="20000"/>
        </a:spcBef>
        <a:spcAft>
          <a:spcPct val="0"/>
        </a:spcAft>
        <a:buClr>
          <a:srgbClr val="FAD32E"/>
        </a:buClr>
        <a:buFont typeface="Wingdings" pitchFamily="2" charset="2"/>
        <a:buChar char="ü"/>
        <a:defRPr kumimoji="1">
          <a:solidFill>
            <a:srgbClr val="000066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0559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1117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1676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2235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2792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3351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43909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64468" algn="l" defTabSz="1041117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2400" dirty="0"/>
              <a:t> </a:t>
            </a:r>
            <a:br>
              <a:rPr lang="ko-KR" altLang="en-US" sz="2400" b="0" dirty="0"/>
            </a:br>
            <a:r>
              <a:rPr lang="en-US" altLang="ko-KR" sz="2400" b="0" dirty="0"/>
              <a:t> </a:t>
            </a:r>
            <a:r>
              <a:rPr lang="en-US" altLang="ko-KR" sz="2400" dirty="0"/>
              <a:t>Predicting realistic and precise human body models under</a:t>
            </a:r>
            <a:r>
              <a:rPr lang="ko-KR" altLang="en-US" sz="2400" dirty="0"/>
              <a:t> </a:t>
            </a:r>
            <a:r>
              <a:rPr lang="en-US" altLang="ko-KR" sz="2400" dirty="0"/>
              <a:t>clothing based on orthogonal-view photos</a:t>
            </a:r>
            <a:endParaRPr lang="ko-KR" altLang="en-US" sz="24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2018.05.16</a:t>
            </a:r>
          </a:p>
          <a:p>
            <a:r>
              <a:rPr lang="en-US" altLang="ko-KR" dirty="0"/>
              <a:t>Jae-Ryun Chung</a:t>
            </a:r>
          </a:p>
        </p:txBody>
      </p:sp>
    </p:spTree>
    <p:extLst>
      <p:ext uri="{BB962C8B-B14F-4D97-AF65-F5344CB8AC3E}">
        <p14:creationId xmlns:p14="http://schemas.microsoft.com/office/powerpoint/2010/main" val="1415852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A63071-0FAA-4E12-BE1E-C1D81AF3B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EDE9C6-AC44-485D-9A44-2B2ECE394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Two methods for developing digital human body models</a:t>
            </a:r>
          </a:p>
          <a:p>
            <a:pPr lvl="1"/>
            <a:r>
              <a:rPr lang="en-US" altLang="ko-KR" dirty="0"/>
              <a:t>Construction method</a:t>
            </a:r>
          </a:p>
          <a:p>
            <a:pPr lvl="2"/>
            <a:r>
              <a:rPr lang="en-US" altLang="ko-KR" dirty="0"/>
              <a:t>Body scanning – bulky and expensive</a:t>
            </a:r>
          </a:p>
          <a:p>
            <a:pPr lvl="2"/>
            <a:r>
              <a:rPr lang="en-US" altLang="ko-KR" dirty="0"/>
              <a:t>Require tight-fit clothing</a:t>
            </a:r>
          </a:p>
          <a:p>
            <a:pPr lvl="1"/>
            <a:r>
              <a:rPr lang="en-US" altLang="ko-KR" dirty="0"/>
              <a:t>Reconstruction method</a:t>
            </a:r>
          </a:p>
          <a:p>
            <a:pPr lvl="2"/>
            <a:r>
              <a:rPr lang="en-US" altLang="ko-KR" dirty="0"/>
              <a:t>From image or size measurements, deform a model using technologies</a:t>
            </a:r>
          </a:p>
          <a:p>
            <a:pPr lvl="2"/>
            <a:r>
              <a:rPr lang="en-US" altLang="ko-KR" dirty="0"/>
              <a:t>Require tight-fit clothing</a:t>
            </a:r>
          </a:p>
          <a:p>
            <a:pPr lvl="2"/>
            <a:endParaRPr lang="en-US" altLang="ko-KR" dirty="0"/>
          </a:p>
          <a:p>
            <a:r>
              <a:rPr lang="en-US" altLang="ko-KR" sz="2700" dirty="0"/>
              <a:t>Propose intelligent two-phase method based on 2 photos</a:t>
            </a:r>
          </a:p>
          <a:p>
            <a:pPr lvl="1"/>
            <a:r>
              <a:rPr lang="en-US" altLang="ko-KR" sz="2300" dirty="0"/>
              <a:t>Orthogonal view</a:t>
            </a:r>
          </a:p>
          <a:p>
            <a:pPr lvl="1"/>
            <a:r>
              <a:rPr lang="en-US" altLang="ko-KR" sz="2300" dirty="0"/>
              <a:t>DO NOT require tight-fit clothing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7CADB1-5C46-4A9B-811E-8C1702B69A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370AB31-7893-4B05-B65A-F59578B06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88360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855D4B-9C92-422B-9C65-DC670FB4C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Related work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6950C7-1EA6-406F-A42C-71EB6F9A33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Reconstructive modelling methods</a:t>
            </a:r>
          </a:p>
          <a:p>
            <a:pPr lvl="1"/>
            <a:r>
              <a:rPr lang="en-US" altLang="ko-KR" dirty="0"/>
              <a:t>One of most famous methods is SCAPE[2]</a:t>
            </a:r>
          </a:p>
          <a:p>
            <a:pPr lvl="1"/>
            <a:r>
              <a:rPr lang="en-US" altLang="ko-KR" dirty="0"/>
              <a:t>SCAPE cannot effectively deform detailed local shape features</a:t>
            </a:r>
          </a:p>
          <a:p>
            <a:r>
              <a:rPr lang="en-US" altLang="ko-KR" dirty="0"/>
              <a:t>Zhu </a:t>
            </a:r>
            <a:r>
              <a:rPr lang="en-US" altLang="ko-KR"/>
              <a:t>et al</a:t>
            </a:r>
            <a:r>
              <a:rPr lang="en-US" altLang="ko-KR" dirty="0"/>
              <a:t>. [1]</a:t>
            </a:r>
          </a:p>
          <a:p>
            <a:pPr lvl="1"/>
            <a:r>
              <a:rPr lang="en-US" altLang="ko-KR" dirty="0"/>
              <a:t>Customize body shape from two orthogonal-view photos</a:t>
            </a:r>
          </a:p>
          <a:p>
            <a:pPr lvl="1"/>
            <a:r>
              <a:rPr lang="en-US" altLang="ko-KR" dirty="0"/>
              <a:t>17 key feature parts</a:t>
            </a:r>
          </a:p>
          <a:p>
            <a:pPr lvl="1"/>
            <a:r>
              <a:rPr lang="en-US" altLang="ko-KR" dirty="0"/>
              <a:t>Require tight-fit clothing</a:t>
            </a:r>
          </a:p>
          <a:p>
            <a:r>
              <a:rPr lang="en-US" altLang="ko-KR" dirty="0"/>
              <a:t>Estimate or deform body shape under clothing in images</a:t>
            </a:r>
          </a:p>
          <a:p>
            <a:pPr lvl="1"/>
            <a:r>
              <a:rPr lang="en-US" altLang="ko-KR" dirty="0"/>
              <a:t>Guan et al. [8] - estimate 2D human body shape and poses</a:t>
            </a:r>
          </a:p>
          <a:p>
            <a:pPr lvl="1"/>
            <a:r>
              <a:rPr lang="en-US" altLang="ko-KR" dirty="0"/>
              <a:t>Zhou et al.  [9] – reshape human bodies in images</a:t>
            </a:r>
          </a:p>
          <a:p>
            <a:r>
              <a:rPr lang="en-US" altLang="ko-KR" dirty="0"/>
              <a:t>Hasler et al. [10]</a:t>
            </a:r>
          </a:p>
          <a:p>
            <a:pPr lvl="1"/>
            <a:r>
              <a:rPr lang="en-US" altLang="ko-KR" dirty="0"/>
              <a:t>Can only capture the average shape deformation</a:t>
            </a:r>
          </a:p>
          <a:p>
            <a:pPr lvl="1"/>
            <a:r>
              <a:rPr lang="en-US" altLang="ko-KR" dirty="0"/>
              <a:t>CANNOT reach the accuracy of body model customization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1B7BD0-662B-4449-82F8-B778DF62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9375048-92A1-4E81-A9EC-9109B5D46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60750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B4D3C-4222-414A-9C2B-1CF306A1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Methodology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373D1-D6BD-4E5D-B85E-ACF4900AA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Two-phase method to customize human body models</a:t>
            </a:r>
          </a:p>
          <a:p>
            <a:pPr lvl="1"/>
            <a:r>
              <a:rPr lang="en-US" altLang="ko-KR" dirty="0"/>
              <a:t>First, predict 2D feature of body shape under clothing</a:t>
            </a:r>
          </a:p>
          <a:p>
            <a:pPr lvl="1"/>
            <a:r>
              <a:rPr lang="en-US" altLang="ko-KR" dirty="0"/>
              <a:t>Then construct 3D body shape feature and customize model</a:t>
            </a:r>
          </a:p>
          <a:p>
            <a:r>
              <a:rPr lang="en-US" altLang="ko-KR" dirty="0"/>
              <a:t>2D feature prediction</a:t>
            </a:r>
          </a:p>
          <a:p>
            <a:pPr lvl="1"/>
            <a:r>
              <a:rPr lang="en-US" altLang="ko-KR" dirty="0"/>
              <a:t>Define 2D feature as body profiles – front-view and side-view profiles</a:t>
            </a:r>
          </a:p>
          <a:p>
            <a:pPr lvl="1"/>
            <a:r>
              <a:rPr lang="en-US" altLang="ko-KR" dirty="0"/>
              <a:t>Challenging – most part of body profile is covered by clothing</a:t>
            </a:r>
          </a:p>
          <a:p>
            <a:pPr lvl="2"/>
            <a:r>
              <a:rPr lang="en-US" altLang="ko-KR" dirty="0"/>
              <a:t>Database of normalized body profiles - 5000+ scans of real subjects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995A05-2833-467F-8A89-6EFCC84AC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298825-1AC6-4D81-8AE4-3B16DCA0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3B0B9ED-0B2F-4BFD-93A7-918CCED0F6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002" y="4670963"/>
            <a:ext cx="8351508" cy="247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237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B4D3C-4222-414A-9C2B-1CF306A1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Methodology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373D1-D6BD-4E5D-B85E-ACF4900AA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Challenging – most part of body profile is covered by clothing</a:t>
            </a:r>
          </a:p>
          <a:p>
            <a:pPr lvl="1"/>
            <a:r>
              <a:rPr lang="en-US" altLang="ko-KR" dirty="0"/>
              <a:t>Extract body feature cues from photos and predict complete profiles</a:t>
            </a:r>
          </a:p>
          <a:p>
            <a:pPr lvl="2"/>
            <a:r>
              <a:rPr lang="en-US" altLang="ko-KR" dirty="0"/>
              <a:t>Due to complex situations of images, cue extraction by manually select</a:t>
            </a:r>
          </a:p>
          <a:p>
            <a:pPr lvl="2"/>
            <a:r>
              <a:rPr lang="en-US" altLang="ko-KR" dirty="0"/>
              <a:t>Feature points are categorized into 2 types</a:t>
            </a:r>
          </a:p>
          <a:p>
            <a:pPr lvl="2"/>
            <a:r>
              <a:rPr lang="en-US" altLang="ko-KR" dirty="0"/>
              <a:t>Reference points - </a:t>
            </a:r>
            <a:r>
              <a:rPr lang="en-US" altLang="ko-KR" sz="1800" dirty="0"/>
              <a:t>Define locations of key body features – e.g.) neck, angle,.. </a:t>
            </a:r>
            <a:endParaRPr lang="en-US" altLang="ko-KR" dirty="0"/>
          </a:p>
          <a:p>
            <a:pPr lvl="2"/>
            <a:r>
              <a:rPr lang="en-US" altLang="ko-KR" dirty="0"/>
              <a:t>Boundary points</a:t>
            </a:r>
          </a:p>
          <a:p>
            <a:pPr lvl="3"/>
            <a:r>
              <a:rPr lang="en-US" altLang="ko-KR" sz="1400" dirty="0"/>
              <a:t>Potential body shape</a:t>
            </a:r>
          </a:p>
          <a:p>
            <a:pPr lvl="3"/>
            <a:r>
              <a:rPr lang="en-US" altLang="ko-KR" sz="1400" dirty="0"/>
              <a:t>Generally, should be defined at locations where contours not covered by clothing</a:t>
            </a:r>
          </a:p>
          <a:p>
            <a:pPr lvl="3"/>
            <a:r>
              <a:rPr lang="en-US" altLang="ko-KR" sz="1400" dirty="0"/>
              <a:t>To Allow more flexibility, users can manually define even locations contours covered</a:t>
            </a:r>
          </a:p>
          <a:p>
            <a:pPr lvl="3"/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995A05-2833-467F-8A89-6EFCC84AC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298825-1AC6-4D81-8AE4-3B16DCA0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8F77654-EECA-4E36-BF5F-21BCED1F1CC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531"/>
          <a:stretch/>
        </p:blipFill>
        <p:spPr>
          <a:xfrm>
            <a:off x="4153616" y="5041367"/>
            <a:ext cx="1800250" cy="238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865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B4D3C-4222-414A-9C2B-1CF306A1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Methodology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373D1-D6BD-4E5D-B85E-ACF4900AA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7-9 boundary points on 2 photos</a:t>
            </a:r>
          </a:p>
          <a:p>
            <a:r>
              <a:rPr lang="en-US" altLang="ko-KR" dirty="0"/>
              <a:t>Boundary points are normalized by reference points</a:t>
            </a:r>
          </a:p>
          <a:p>
            <a:r>
              <a:rPr lang="en-US" altLang="ko-KR" dirty="0"/>
              <a:t>Search profiles with similar features in database</a:t>
            </a:r>
          </a:p>
          <a:p>
            <a:pPr lvl="1"/>
            <a:r>
              <a:rPr lang="en-US" altLang="ko-KR" dirty="0"/>
              <a:t>Calculate difference between boundary points and feature points at same level of profile</a:t>
            </a:r>
          </a:p>
          <a:p>
            <a:pPr lvl="1"/>
            <a:r>
              <a:rPr lang="en-US" altLang="ko-KR" dirty="0"/>
              <a:t>Search a number of N profiles with least total differences of boundary points</a:t>
            </a:r>
          </a:p>
          <a:p>
            <a:pPr lvl="1"/>
            <a:r>
              <a:rPr lang="en-US" altLang="ko-KR" dirty="0"/>
              <a:t>Synthesize one single profile by combining N selected profiles</a:t>
            </a:r>
          </a:p>
          <a:p>
            <a:pPr marL="0" indent="0">
              <a:buNone/>
            </a:pPr>
            <a:endParaRPr lang="en-US" altLang="ko-KR" sz="1000" dirty="0"/>
          </a:p>
          <a:p>
            <a:pPr lvl="3"/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995A05-2833-467F-8A89-6EFCC84AC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298825-1AC6-4D81-8AE4-3B16DCA0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30B204-235F-4EB1-9FAC-32BB88C76E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05" r="45420"/>
          <a:stretch/>
        </p:blipFill>
        <p:spPr>
          <a:xfrm>
            <a:off x="3577536" y="4734628"/>
            <a:ext cx="1440200" cy="238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2850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CB4D3C-4222-414A-9C2B-1CF306A1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Methodology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A373D1-D6BD-4E5D-B85E-ACF4900AA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3D feature reconstruction</a:t>
            </a:r>
          </a:p>
          <a:p>
            <a:pPr lvl="1"/>
            <a:r>
              <a:rPr lang="en-US" altLang="ko-KR" dirty="0"/>
              <a:t>Framework involving 30 cross-sections</a:t>
            </a:r>
          </a:p>
          <a:p>
            <a:pPr lvl="2"/>
            <a:r>
              <a:rPr lang="en-US" altLang="ko-KR" dirty="0"/>
              <a:t>Built automatically recognizing some key cross-sections</a:t>
            </a:r>
          </a:p>
          <a:p>
            <a:pPr lvl="2"/>
            <a:r>
              <a:rPr lang="en-US" altLang="ko-KR" dirty="0"/>
              <a:t>Interpolate extra cross-sections</a:t>
            </a:r>
          </a:p>
          <a:p>
            <a:pPr lvl="1"/>
            <a:r>
              <a:rPr lang="en-US" altLang="ko-KR" dirty="0"/>
              <a:t>Extract local and global features from profiles</a:t>
            </a:r>
          </a:p>
          <a:p>
            <a:pPr lvl="2"/>
            <a:r>
              <a:rPr lang="en-US" altLang="ko-KR" dirty="0"/>
              <a:t>Local features</a:t>
            </a:r>
          </a:p>
          <a:p>
            <a:pPr lvl="3"/>
            <a:r>
              <a:rPr lang="en-US" altLang="ko-KR" dirty="0"/>
              <a:t>Widths and depths of 30 cross-sections obtained by locating relevant levels of profiles</a:t>
            </a:r>
          </a:p>
          <a:p>
            <a:pPr lvl="2"/>
            <a:r>
              <a:rPr lang="en-US" altLang="ko-KR" dirty="0"/>
              <a:t>Global features</a:t>
            </a:r>
          </a:p>
          <a:p>
            <a:pPr lvl="3"/>
            <a:r>
              <a:rPr lang="en-US" altLang="ko-KR" dirty="0"/>
              <a:t>Relative positions of key cross-sections</a:t>
            </a:r>
          </a:p>
          <a:p>
            <a:pPr lvl="1"/>
            <a:r>
              <a:rPr lang="en-US" altLang="ko-KR" dirty="0"/>
              <a:t>Local features used to predict 3D shape of cross-sections</a:t>
            </a:r>
          </a:p>
          <a:p>
            <a:pPr lvl="2"/>
            <a:r>
              <a:rPr lang="en-US" altLang="ko-KR" dirty="0"/>
              <a:t>Based on relationship model learnt between local features and cross-sectional shape</a:t>
            </a:r>
          </a:p>
          <a:p>
            <a:pPr lvl="1"/>
            <a:r>
              <a:rPr lang="en-US" altLang="ko-KR" dirty="0"/>
              <a:t>Reconstruct 3D body shape feature using global features</a:t>
            </a:r>
          </a:p>
          <a:p>
            <a:pPr lvl="1"/>
            <a:r>
              <a:rPr lang="en-US" altLang="ko-KR" dirty="0"/>
              <a:t>Deform template model using </a:t>
            </a:r>
            <a:r>
              <a:rPr lang="en-US" altLang="ko-KR" dirty="0" err="1"/>
              <a:t>ct</a:t>
            </a:r>
            <a:r>
              <a:rPr lang="en-US" altLang="ko-KR" dirty="0"/>
              <a:t>-FFD algorithm [1]</a:t>
            </a:r>
          </a:p>
          <a:p>
            <a:pPr marL="0" indent="0">
              <a:buNone/>
            </a:pPr>
            <a:endParaRPr lang="en-US" altLang="ko-KR" sz="1000" dirty="0"/>
          </a:p>
          <a:p>
            <a:pPr lvl="3"/>
            <a:endParaRPr lang="en-US" altLang="ko-KR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995A05-2833-467F-8A89-6EFCC84AC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3298825-1AC6-4D81-8AE4-3B16DCA0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E30B204-235F-4EB1-9FAC-32BB88C76E2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56" r="23188"/>
          <a:stretch/>
        </p:blipFill>
        <p:spPr>
          <a:xfrm>
            <a:off x="8955323" y="612191"/>
            <a:ext cx="1368190" cy="2380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685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ABD17C-C0D7-41F6-85C8-BCA0DC08F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DA5CF6-FFE0-4CCE-9601-3892490A7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Loose-fit results</a:t>
            </a:r>
          </a:p>
          <a:p>
            <a:pPr lvl="1"/>
            <a:r>
              <a:rPr lang="en-US" altLang="ko-KR" dirty="0"/>
              <a:t>6 males and 15 females with diverse body builds</a:t>
            </a:r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AE5534-2603-481B-A80B-38168556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4C4D17-58A7-4BD5-BAF3-30672009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78FCC95-2C82-43F8-955D-F3F1C395C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136" y="2259782"/>
            <a:ext cx="6655119" cy="4939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4539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ABD17C-C0D7-41F6-85C8-BCA0DC08F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DA5CF6-FFE0-4CCE-9601-3892490A7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Loose-fit results</a:t>
            </a:r>
          </a:p>
          <a:p>
            <a:pPr lvl="1"/>
            <a:r>
              <a:rPr lang="en-US" altLang="ko-KR" dirty="0"/>
              <a:t>6 males and 15 females with diverse body builds</a:t>
            </a:r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AE5534-2603-481B-A80B-38168556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4C4D17-58A7-4BD5-BAF3-30672009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EE385FB-FDA2-4DC1-98F8-BABD486F0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302" y="2268421"/>
            <a:ext cx="8468907" cy="42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595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ABD17C-C0D7-41F6-85C8-BCA0DC08F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Experiment result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3DA5CF6-FFE0-4CCE-9601-3892490A75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Tight-fit results</a:t>
            </a:r>
          </a:p>
          <a:p>
            <a:pPr lvl="1"/>
            <a:r>
              <a:rPr lang="en-US" altLang="ko-KR" dirty="0"/>
              <a:t>6 males and 15 females with diverse body builds</a:t>
            </a:r>
          </a:p>
          <a:p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AE5534-2603-481B-A80B-381685569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99AD3E1-D3CC-4A2C-AFCE-3F1C061A246E}" type="datetime1">
              <a:rPr lang="ko-KR" altLang="en-US" smtClean="0"/>
              <a:t>2018-05-16</a:t>
            </a:fld>
            <a:endParaRPr lang="en-US" altLang="ko-KR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4C4D17-58A7-4BD5-BAF3-30672009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57F253-BFD6-4B06-BA72-D88E120B01E7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1725148-60EC-4787-8A33-EE383F331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434" y="2196411"/>
            <a:ext cx="8192643" cy="4582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669780"/>
      </p:ext>
    </p:extLst>
  </p:cSld>
  <p:clrMapOvr>
    <a:masterClrMapping/>
  </p:clrMapOvr>
</p:sld>
</file>

<file path=ppt/theme/theme1.xml><?xml version="1.0" encoding="utf-8"?>
<a:theme xmlns:a="http://schemas.openxmlformats.org/drawingml/2006/main" name="Sanghun Park">
  <a:themeElements>
    <a:clrScheme name="Sanghun Par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anghun Park">
      <a:majorFont>
        <a:latin typeface="HY바다M"/>
        <a:ea typeface="HY바다M"/>
        <a:cs typeface=""/>
      </a:majorFont>
      <a:minorFont>
        <a:latin typeface="HY바다M"/>
        <a:ea typeface="HY바다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charset="-127"/>
            <a:ea typeface="굴림" charset="-127"/>
          </a:defRPr>
        </a:defPPr>
      </a:lstStyle>
    </a:lnDef>
  </a:objectDefaults>
  <a:extraClrSchemeLst>
    <a:extraClrScheme>
      <a:clrScheme name="Sanghun Par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nghun Par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anghun Par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12359</TotalTime>
  <Words>508</Words>
  <Application>Microsoft Office PowerPoint</Application>
  <PresentationFormat>Custom</PresentationFormat>
  <Paragraphs>95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굴림</vt:lpstr>
      <vt:lpstr>HY강B</vt:lpstr>
      <vt:lpstr>HY강M</vt:lpstr>
      <vt:lpstr>HY바다M</vt:lpstr>
      <vt:lpstr>맑은 고딕</vt:lpstr>
      <vt:lpstr>Helvetica</vt:lpstr>
      <vt:lpstr>Wingdings</vt:lpstr>
      <vt:lpstr>Sanghun Park</vt:lpstr>
      <vt:lpstr>   Predicting realistic and precise human body models under clothing based on orthogonal-view photos</vt:lpstr>
      <vt:lpstr>Introduction</vt:lpstr>
      <vt:lpstr>Related work</vt:lpstr>
      <vt:lpstr>Methodology</vt:lpstr>
      <vt:lpstr>Methodology</vt:lpstr>
      <vt:lpstr>Methodology</vt:lpstr>
      <vt:lpstr>Methodology</vt:lpstr>
      <vt:lpstr>Experiment result</vt:lpstr>
      <vt:lpstr>Experiment result</vt:lpstr>
      <vt:lpstr>Experiment result</vt:lpstr>
    </vt:vector>
  </TitlesOfParts>
  <Company>Catholic University of Daegu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Sanghun Park</dc:creator>
  <cp:lastModifiedBy>정 재련</cp:lastModifiedBy>
  <cp:revision>2341</cp:revision>
  <cp:lastPrinted>2014-05-13T12:45:55Z</cp:lastPrinted>
  <dcterms:created xsi:type="dcterms:W3CDTF">2003-02-11T01:26:29Z</dcterms:created>
  <dcterms:modified xsi:type="dcterms:W3CDTF">2018-05-16T09:09:28Z</dcterms:modified>
</cp:coreProperties>
</file>