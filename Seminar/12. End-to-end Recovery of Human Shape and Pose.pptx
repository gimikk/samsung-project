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  <p:sldId id="268" r:id="rId14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270" autoAdjust="0"/>
  </p:normalViewPr>
  <p:slideViewPr>
    <p:cSldViewPr>
      <p:cViewPr varScale="1">
        <p:scale>
          <a:sx n="82" d="100"/>
          <a:sy n="82" d="100"/>
        </p:scale>
        <p:origin x="-1299" y="-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3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47BA7-1032-4A4A-B25A-4CB00937FC27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10E1-8890-4C8F-8792-EA2DA7F49C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0424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C0D8D-DD65-43E8-B6D1-01BACE5AE06B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D3970-DFF6-4A88-8A04-BBA1C27521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1553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Picture 2" descr="C:\Users\HYEONC~1\AppData\Local\Temp\BNZ.52478a96e77611e\1-02-Communicative-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6359846"/>
            <a:ext cx="1224136" cy="381522"/>
          </a:xfrm>
          <a:prstGeom prst="rect">
            <a:avLst/>
          </a:prstGeom>
          <a:noFill/>
        </p:spPr>
      </p:pic>
      <p:cxnSp>
        <p:nvCxnSpPr>
          <p:cNvPr id="17" name="직선 연결선 16"/>
          <p:cNvCxnSpPr/>
          <p:nvPr/>
        </p:nvCxnSpPr>
        <p:spPr>
          <a:xfrm flipH="1">
            <a:off x="179512" y="6266985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HYEONC~1\AppData\Local\Temp\BNZ.52478a96e77611e\1-02-Communicative-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6359846"/>
            <a:ext cx="1224136" cy="381522"/>
          </a:xfrm>
          <a:prstGeom prst="rect">
            <a:avLst/>
          </a:prstGeom>
          <a:noFill/>
        </p:spPr>
      </p:pic>
      <p:cxnSp>
        <p:nvCxnSpPr>
          <p:cNvPr id="8" name="직선 연결선 7"/>
          <p:cNvCxnSpPr/>
          <p:nvPr/>
        </p:nvCxnSpPr>
        <p:spPr>
          <a:xfrm flipH="1">
            <a:off x="179512" y="6266985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H="1">
            <a:off x="179512" y="980728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518520" y="63601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19200"/>
            <a:ext cx="9144000" cy="2281808"/>
          </a:xfrm>
        </p:spPr>
        <p:txBody>
          <a:bodyPr>
            <a:noAutofit/>
          </a:bodyPr>
          <a:lstStyle/>
          <a:p>
            <a:pPr latinLnBrk="0"/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itchFamily="18" charset="0"/>
              </a:rPr>
              <a:t>End-to-end Recovery of </a:t>
            </a:r>
            <a:b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itchFamily="18" charset="0"/>
              </a:rPr>
            </a:b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itchFamily="18" charset="0"/>
              </a:rPr>
              <a:t>Human Shape and Pose 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Fax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8" y="4929198"/>
            <a:ext cx="1714512" cy="93820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201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8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-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06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-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13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algn="just"/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Yucheng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Lu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endParaRPr lang="en-US" sz="20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3645024"/>
            <a:ext cx="9144000" cy="857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ctr" fontAlgn="ctr">
              <a:spcBef>
                <a:spcPct val="20000"/>
              </a:spcBef>
              <a:defRPr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Angjoo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 Kanazawa , Michael J. Black, David W. Jacobs, and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Jitendra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Malik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Footlight MT Light" pitchFamily="18" charset="0"/>
              <a:cs typeface="Times New Roman" pitchFamily="18" charset="0"/>
            </a:endParaRPr>
          </a:p>
          <a:p>
            <a:pPr lvl="0" algn="ctr" fontAlgn="ctr">
              <a:spcBef>
                <a:spcPct val="20000"/>
              </a:spcBef>
              <a:defRPr/>
            </a:pP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arXiv:1712.06584v1 [cs.CV] 18 Dec 2017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Footlight MT Light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5556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Contents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ootlight MT Ligh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Introduction</a:t>
            </a: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R</a:t>
            </a:r>
            <a:r>
              <a:rPr lang="en-US" altLang="zh-CN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elated works</a:t>
            </a: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Proposed method</a:t>
            </a: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Experiment result</a:t>
            </a:r>
          </a:p>
          <a:p>
            <a:pPr marL="342900" indent="-342900" latinLnBrk="0">
              <a:buAutoNum type="arabicPeriod"/>
            </a:pPr>
            <a:endParaRPr lang="en-US" sz="2400" b="1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Introduction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ootlight MT Ligh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This paper proposed an end-to-end framework for reconstructing a full 3D mesh of a human from a single RGB image, called Human Mesh Recovery (HMR).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 proposed method doesn’t rely on intermediate 2D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keypoint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detection or any paired 2D-to-3D supervision.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910394"/>
            <a:ext cx="6215106" cy="330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Related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Two stage method: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First predict 2D joint locations by 2D pose detector or ground truth 2D pose, then predict 3D joint locations from the 2D joints by regression or model fitting.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Robust to domain shift, but rely too much on 2D joint detections, and may throw away image information in estimating 3D pose.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Direct estimation: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Learn 3D joints directly from images in a deep learning framework by estimating the depth relative to root and using a pre-defined global scale based on the average of bones.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Trained on controlled environment, do not generalize well to the real world.</a:t>
            </a:r>
          </a:p>
        </p:txBody>
      </p:sp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29107" y="1844599"/>
            <a:ext cx="7885786" cy="3562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Encoder: extract features from input image;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3D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regressor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: infer the 3D human body and the camera such that its 3D joints project onto the annotated 2D joints;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Discriminator: determine if the 3D parameters are real meshes from the unpaired dataset or not.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Overall loss function: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59476" y="3571876"/>
          <a:ext cx="2841284" cy="500066"/>
        </p:xfrm>
        <a:graphic>
          <a:graphicData uri="http://schemas.openxmlformats.org/presentationml/2006/ole">
            <p:oleObj spid="_x0000_s3074" name="Equation" r:id="rId3" imgW="1587240" imgH="279360" progId="Equation.DSMT4">
              <p:embed/>
            </p:oleObj>
          </a:graphicData>
        </a:graphic>
      </p:graphicFrame>
      <p:cxnSp>
        <p:nvCxnSpPr>
          <p:cNvPr id="6" name="直接箭头连接符 5"/>
          <p:cNvCxnSpPr/>
          <p:nvPr/>
        </p:nvCxnSpPr>
        <p:spPr>
          <a:xfrm rot="10800000" flipV="1">
            <a:off x="3000364" y="4143380"/>
            <a:ext cx="1143008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71604" y="4643446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Regressor</a:t>
            </a:r>
            <a:r>
              <a:rPr lang="en-US" dirty="0" smtClean="0"/>
              <a:t> loss</a:t>
            </a:r>
            <a:endParaRPr lang="en-US" dirty="0"/>
          </a:p>
        </p:txBody>
      </p:sp>
      <p:cxnSp>
        <p:nvCxnSpPr>
          <p:cNvPr id="9" name="直接箭头连接符 8"/>
          <p:cNvCxnSpPr/>
          <p:nvPr/>
        </p:nvCxnSpPr>
        <p:spPr>
          <a:xfrm rot="5400000">
            <a:off x="4393405" y="4179099"/>
            <a:ext cx="500066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57554" y="4631304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3D ground truth loss</a:t>
            </a:r>
            <a:endParaRPr lang="en-US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5715008" y="4143380"/>
            <a:ext cx="100013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86446" y="4631304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Discriminator loss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3D body representation (SMPL):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SMPL factorizes the human body into shape            (first 10 values of a PCA shape space),  pose            (relative 3D rotation of K=23 joints in axis-angle representation), and camera pose. The total number of parameters in SMPL is</a:t>
            </a:r>
            <a:r>
              <a:rPr lang="zh-CN" alt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：</a:t>
            </a: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SMPL is a differentiable function that outputs a triangulated mesh with N=6980 vertices, for simplify we only use P </a:t>
            </a:r>
            <a:r>
              <a:rPr lang="en-US" altLang="zh-CN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keypoints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000760" y="1571612"/>
          <a:ext cx="780769" cy="428628"/>
        </p:xfrm>
        <a:graphic>
          <a:graphicData uri="http://schemas.openxmlformats.org/presentationml/2006/ole">
            <p:oleObj spid="_x0000_s4099" name="Equation" r:id="rId3" imgW="495000" imgH="228600" progId="Equation.DSMT4">
              <p:embed/>
            </p:oleObj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4179891" y="1881188"/>
          <a:ext cx="820737" cy="381000"/>
        </p:xfrm>
        <a:graphic>
          <a:graphicData uri="http://schemas.openxmlformats.org/presentationml/2006/ole">
            <p:oleObj spid="_x0000_s4101" name="Equation" r:id="rId4" imgW="520560" imgH="203040" progId="Equation.DSMT4">
              <p:embed/>
            </p:oleObj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302009" y="3127376"/>
          <a:ext cx="2555875" cy="444500"/>
        </p:xfrm>
        <a:graphic>
          <a:graphicData uri="http://schemas.openxmlformats.org/presentationml/2006/ole">
            <p:oleObj spid="_x0000_s4102" name="Equation" r:id="rId5" imgW="1460160" imgH="253800" progId="Equation.DSMT4">
              <p:embed/>
            </p:oleObj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2714612" y="4699012"/>
          <a:ext cx="3711575" cy="444500"/>
        </p:xfrm>
        <a:graphic>
          <a:graphicData uri="http://schemas.openxmlformats.org/presentationml/2006/ole">
            <p:oleObj spid="_x0000_s4103" name="Equation" r:id="rId6" imgW="212076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Iterative 3D </a:t>
            </a:r>
            <a:r>
              <a:rPr lang="en-US" sz="2000" b="1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regressor</a:t>
            </a: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</a:t>
            </a:r>
            <a:r>
              <a:rPr lang="en-US" altLang="zh-CN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with feedback:</a:t>
            </a:r>
            <a:endParaRPr lang="en-US" sz="2000" b="1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 goal is to take and encoded image and output     such that the joint re-projection error is minimized: 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 3D </a:t>
            </a:r>
            <a:r>
              <a:rPr lang="en-US" altLang="zh-CN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regressor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takes the image features and the previous output parameters as input, and computes the residual, the new parameters are updated by: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072330" y="1619250"/>
          <a:ext cx="260350" cy="333375"/>
        </p:xfrm>
        <a:graphic>
          <a:graphicData uri="http://schemas.openxmlformats.org/presentationml/2006/ole">
            <p:oleObj spid="_x0000_s5122" name="Equation" r:id="rId3" imgW="164880" imgH="177480" progId="Equation.DSMT4">
              <p:embed/>
            </p:oleObj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3270250" y="2378075"/>
          <a:ext cx="2600325" cy="622300"/>
        </p:xfrm>
        <a:graphic>
          <a:graphicData uri="http://schemas.openxmlformats.org/presentationml/2006/ole">
            <p:oleObj spid="_x0000_s5125" name="Equation" r:id="rId4" imgW="1485720" imgH="355320" progId="Equation.DSMT4">
              <p:embed/>
            </p:oleObj>
          </a:graphicData>
        </a:graphic>
      </p:graphicFrame>
      <p:graphicFrame>
        <p:nvGraphicFramePr>
          <p:cNvPr id="5133" name="Object 7"/>
          <p:cNvGraphicFramePr>
            <a:graphicFrameLocks noChangeAspect="1"/>
          </p:cNvGraphicFramePr>
          <p:nvPr/>
        </p:nvGraphicFramePr>
        <p:xfrm>
          <a:off x="3714744" y="4489450"/>
          <a:ext cx="1711325" cy="400050"/>
        </p:xfrm>
        <a:graphic>
          <a:graphicData uri="http://schemas.openxmlformats.org/presentationml/2006/ole">
            <p:oleObj spid="_x0000_s5133" name="Equation" r:id="rId5" imgW="97776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Additional 3D supervision: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When paired ground truth 3D data is available, 3D losses can be used to further improve the performance: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2981325" y="2432055"/>
          <a:ext cx="3178175" cy="1711325"/>
        </p:xfrm>
        <a:graphic>
          <a:graphicData uri="http://schemas.openxmlformats.org/presentationml/2006/ole">
            <p:oleObj spid="_x0000_s6147" name="Equation" r:id="rId3" imgW="1815840" imgH="97776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Factorized adversarial prior: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Bodies with gross self-intersections may still minimize the re-projection loss. To regularize this, we use a discriminator to tell whether a SMPL parameters is from a real scan or not.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1292225" y="2884488"/>
          <a:ext cx="6556375" cy="1377950"/>
        </p:xfrm>
        <a:graphic>
          <a:graphicData uri="http://schemas.openxmlformats.org/presentationml/2006/ole">
            <p:oleObj spid="_x0000_s7170" name="Equation" r:id="rId3" imgW="3746160" imgH="78732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I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mplementation details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In-</a:t>
            </a:r>
            <a:r>
              <a:rPr lang="en-US" altLang="zh-CN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-wild image datasets: LSP, LSP-extended, MPII and MS COCO.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3D datasets: Human3.6M and MPIINF-3DHP.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Datasets for discriminator: CMU, Human3.6M and the </a:t>
            </a:r>
            <a:r>
              <a:rPr lang="en-US" altLang="zh-CN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PosePrior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Encoder: ResNet-50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3D </a:t>
            </a:r>
            <a:r>
              <a:rPr lang="en-US" altLang="zh-CN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regreesor</a:t>
            </a: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: two FCs (1024 neurons each with dropout in between) + one output FC (85 neurons).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Discriminator: </a:t>
            </a:r>
            <a:endParaRPr lang="en-US" altLang="zh-CN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4445" y="4214818"/>
            <a:ext cx="385511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96189" y="1837284"/>
            <a:ext cx="7951622" cy="3577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877" y="2000240"/>
            <a:ext cx="3964809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73608" y="2000240"/>
            <a:ext cx="397035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128</TotalTime>
  <Words>517</Words>
  <Application>Microsoft Office PowerPoint</Application>
  <PresentationFormat>全屏显示(4:3)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template</vt:lpstr>
      <vt:lpstr>Equation</vt:lpstr>
      <vt:lpstr>End-to-end Recovery of  Human Shape and Pose </vt:lpstr>
      <vt:lpstr>Contents</vt:lpstr>
      <vt:lpstr>Introduction</vt:lpstr>
      <vt:lpstr>Related works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Experiment result</vt:lpstr>
      <vt:lpstr>Experiment result</vt:lpstr>
      <vt:lpstr>Experiment result</vt:lpstr>
    </vt:vector>
  </TitlesOfParts>
  <Company>Dongguk Univ.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Recovery of  Human Shape and Pose </dc:title>
  <dc:creator>Yucheng Lu</dc:creator>
  <cp:lastModifiedBy>Yucheng Lu</cp:lastModifiedBy>
  <cp:revision>29</cp:revision>
  <cp:lastPrinted>2016-11-04T01:08:44Z</cp:lastPrinted>
  <dcterms:created xsi:type="dcterms:W3CDTF">2018-06-11T05:05:17Z</dcterms:created>
  <dcterms:modified xsi:type="dcterms:W3CDTF">2018-06-12T08:28:21Z</dcterms:modified>
</cp:coreProperties>
</file>