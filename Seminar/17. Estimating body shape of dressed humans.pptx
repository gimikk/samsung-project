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98" r:id="rId2"/>
    <p:sldId id="299" r:id="rId3"/>
    <p:sldId id="300" r:id="rId4"/>
    <p:sldId id="301" r:id="rId5"/>
    <p:sldId id="302" r:id="rId6"/>
    <p:sldId id="303" r:id="rId7"/>
    <p:sldId id="304" r:id="rId8"/>
    <p:sldId id="305" r:id="rId9"/>
    <p:sldId id="306" r:id="rId10"/>
    <p:sldId id="307" r:id="rId11"/>
    <p:sldId id="308" r:id="rId12"/>
    <p:sldId id="309" r:id="rId13"/>
    <p:sldId id="310" r:id="rId14"/>
    <p:sldId id="311" r:id="rId15"/>
    <p:sldId id="312" r:id="rId16"/>
  </p:sldIdLst>
  <p:sldSz cx="10323513" cy="7561263"/>
  <p:notesSz cx="7099300" cy="1023461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2300" b="1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519113" indent="-61913" algn="l" rtl="0" fontAlgn="base" latinLnBrk="1">
      <a:spcBef>
        <a:spcPct val="0"/>
      </a:spcBef>
      <a:spcAft>
        <a:spcPct val="0"/>
      </a:spcAft>
      <a:defRPr kumimoji="1" sz="2300" b="1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1039813" indent="-125413" algn="l" rtl="0" fontAlgn="base" latinLnBrk="1">
      <a:spcBef>
        <a:spcPct val="0"/>
      </a:spcBef>
      <a:spcAft>
        <a:spcPct val="0"/>
      </a:spcAft>
      <a:defRPr kumimoji="1" sz="2300" b="1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560513" indent="-188913" algn="l" rtl="0" fontAlgn="base" latinLnBrk="1">
      <a:spcBef>
        <a:spcPct val="0"/>
      </a:spcBef>
      <a:spcAft>
        <a:spcPct val="0"/>
      </a:spcAft>
      <a:defRPr kumimoji="1" sz="2300" b="1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2081213" indent="-252413" algn="l" rtl="0" fontAlgn="base" latinLnBrk="1">
      <a:spcBef>
        <a:spcPct val="0"/>
      </a:spcBef>
      <a:spcAft>
        <a:spcPct val="0"/>
      </a:spcAft>
      <a:defRPr kumimoji="1" sz="2300" b="1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1" hangingPunct="1">
      <a:defRPr kumimoji="1" sz="2300" b="1" kern="1200">
        <a:solidFill>
          <a:schemeClr val="tx1"/>
        </a:solidFill>
        <a:latin typeface="굴림" charset="-127"/>
        <a:ea typeface="굴림" charset="-127"/>
        <a:cs typeface="+mn-cs"/>
      </a:defRPr>
    </a:lvl6pPr>
    <a:lvl7pPr marL="2743200" algn="l" defTabSz="914400" rtl="0" eaLnBrk="1" latinLnBrk="1" hangingPunct="1">
      <a:defRPr kumimoji="1" sz="2300" b="1" kern="1200">
        <a:solidFill>
          <a:schemeClr val="tx1"/>
        </a:solidFill>
        <a:latin typeface="굴림" charset="-127"/>
        <a:ea typeface="굴림" charset="-127"/>
        <a:cs typeface="+mn-cs"/>
      </a:defRPr>
    </a:lvl7pPr>
    <a:lvl8pPr marL="3200400" algn="l" defTabSz="914400" rtl="0" eaLnBrk="1" latinLnBrk="1" hangingPunct="1">
      <a:defRPr kumimoji="1" sz="2300" b="1" kern="1200">
        <a:solidFill>
          <a:schemeClr val="tx1"/>
        </a:solidFill>
        <a:latin typeface="굴림" charset="-127"/>
        <a:ea typeface="굴림" charset="-127"/>
        <a:cs typeface="+mn-cs"/>
      </a:defRPr>
    </a:lvl8pPr>
    <a:lvl9pPr marL="3657600" algn="l" defTabSz="914400" rtl="0" eaLnBrk="1" latinLnBrk="1" hangingPunct="1">
      <a:defRPr kumimoji="1" sz="2300" b="1" kern="1200">
        <a:solidFill>
          <a:schemeClr val="tx1"/>
        </a:solidFill>
        <a:latin typeface="굴림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81">
          <p15:clr>
            <a:srgbClr val="A4A3A4"/>
          </p15:clr>
        </p15:guide>
        <p15:guide id="2" pos="325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2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B8D7FA"/>
    <a:srgbClr val="FF9900"/>
    <a:srgbClr val="FFFF00"/>
    <a:srgbClr val="6699FF"/>
    <a:srgbClr val="000066"/>
    <a:srgbClr val="003399"/>
    <a:srgbClr val="423C3D"/>
    <a:srgbClr val="808000"/>
    <a:srgbClr val="33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458" autoAdjust="0"/>
    <p:restoredTop sz="94581" autoAdjust="0"/>
  </p:normalViewPr>
  <p:slideViewPr>
    <p:cSldViewPr>
      <p:cViewPr varScale="1">
        <p:scale>
          <a:sx n="77" d="100"/>
          <a:sy n="77" d="100"/>
        </p:scale>
        <p:origin x="120" y="1104"/>
      </p:cViewPr>
      <p:guideLst>
        <p:guide orient="horz" pos="2381"/>
        <p:guide pos="325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0" d="100"/>
        <a:sy n="60" d="100"/>
      </p:scale>
      <p:origin x="0" y="0"/>
    </p:cViewPr>
  </p:sorterViewPr>
  <p:notesViewPr>
    <p:cSldViewPr>
      <p:cViewPr varScale="1">
        <p:scale>
          <a:sx n="80" d="100"/>
          <a:sy n="80" d="100"/>
        </p:scale>
        <p:origin x="-1350" y="-78"/>
      </p:cViewPr>
      <p:guideLst>
        <p:guide orient="horz" pos="3222"/>
        <p:guide pos="2236"/>
      </p:guideLst>
    </p:cSldViewPr>
  </p:notesViewPr>
  <p:gridSpacing cx="72010" cy="7201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365536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4"/>
            <a:ext cx="3076978" cy="5104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13" tIns="49506" rIns="99013" bIns="49506" numCol="1" anchor="t" anchorCtr="0" compatLnSpc="1">
            <a:prstTxWarp prst="textNoShape">
              <a:avLst/>
            </a:prstTxWarp>
          </a:bodyPr>
          <a:lstStyle>
            <a:lvl1pPr defTabSz="990907">
              <a:defRPr sz="1200" b="0" smtClean="0"/>
            </a:lvl1pPr>
          </a:lstStyle>
          <a:p>
            <a:pPr>
              <a:defRPr/>
            </a:pPr>
            <a:r>
              <a:rPr lang="en-US" altLang="ko-KR"/>
              <a:t>Dongguk University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0651" y="4"/>
            <a:ext cx="3076977" cy="5104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13" tIns="49506" rIns="99013" bIns="49506" numCol="1" anchor="t" anchorCtr="0" compatLnSpc="1">
            <a:prstTxWarp prst="textNoShape">
              <a:avLst/>
            </a:prstTxWarp>
          </a:bodyPr>
          <a:lstStyle>
            <a:lvl1pPr algn="r" defTabSz="990907">
              <a:defRPr sz="1200" b="0" smtClean="0"/>
            </a:lvl1pPr>
          </a:lstStyle>
          <a:p>
            <a:pPr>
              <a:defRPr/>
            </a:pPr>
            <a:r>
              <a:rPr lang="en-US"/>
              <a:t>11/25/2008</a:t>
            </a:r>
            <a:endParaRPr lang="en-US" altLang="ko-KR"/>
          </a:p>
        </p:txBody>
      </p:sp>
      <p:sp>
        <p:nvSpPr>
          <p:cNvPr id="6963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8688" y="769938"/>
            <a:ext cx="5241925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430" y="4861236"/>
            <a:ext cx="5680443" cy="46043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13" tIns="49506" rIns="99013" bIns="4950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noProof="0"/>
              <a:t>Click to edit Master text styles</a:t>
            </a:r>
          </a:p>
          <a:p>
            <a:pPr lvl="1"/>
            <a:r>
              <a:rPr lang="en-US" altLang="ko-KR" noProof="0"/>
              <a:t>Second level</a:t>
            </a:r>
          </a:p>
          <a:p>
            <a:pPr lvl="2"/>
            <a:r>
              <a:rPr lang="en-US" altLang="ko-KR" noProof="0"/>
              <a:t>Third level</a:t>
            </a:r>
          </a:p>
          <a:p>
            <a:pPr lvl="3"/>
            <a:r>
              <a:rPr lang="en-US" altLang="ko-KR" noProof="0"/>
              <a:t>Fourth level</a:t>
            </a:r>
          </a:p>
          <a:p>
            <a:pPr lvl="4"/>
            <a:r>
              <a:rPr lang="en-US" altLang="ko-KR" noProof="0"/>
              <a:t>Fifth level</a:t>
            </a:r>
          </a:p>
        </p:txBody>
      </p:sp>
      <p:sp>
        <p:nvSpPr>
          <p:cNvPr id="102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2472"/>
            <a:ext cx="3076978" cy="5104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13" tIns="49506" rIns="99013" bIns="49506" numCol="1" anchor="b" anchorCtr="0" compatLnSpc="1">
            <a:prstTxWarp prst="textNoShape">
              <a:avLst/>
            </a:prstTxWarp>
          </a:bodyPr>
          <a:lstStyle>
            <a:lvl1pPr defTabSz="990907">
              <a:defRPr sz="1200" b="0" smtClean="0"/>
            </a:lvl1pPr>
          </a:lstStyle>
          <a:p>
            <a:pPr>
              <a:defRPr/>
            </a:pPr>
            <a:r>
              <a:rPr lang="en-US" altLang="ko-KR"/>
              <a:t>Department of Multimedia</a:t>
            </a:r>
          </a:p>
        </p:txBody>
      </p:sp>
      <p:sp>
        <p:nvSpPr>
          <p:cNvPr id="102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0651" y="9722472"/>
            <a:ext cx="3076977" cy="5104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13" tIns="49506" rIns="99013" bIns="49506" numCol="1" anchor="b" anchorCtr="0" compatLnSpc="1">
            <a:prstTxWarp prst="textNoShape">
              <a:avLst/>
            </a:prstTxWarp>
          </a:bodyPr>
          <a:lstStyle>
            <a:lvl1pPr algn="r" defTabSz="990907">
              <a:defRPr sz="1200" b="0" smtClean="0"/>
            </a:lvl1pPr>
          </a:lstStyle>
          <a:p>
            <a:pPr>
              <a:defRPr/>
            </a:pPr>
            <a:fld id="{72223526-C2E7-4AD9-8A99-88A26482559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54727441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algn="l" rtl="0" eaLnBrk="0" fontAlgn="base" latinLnBrk="1" hangingPunct="0">
      <a:spcBef>
        <a:spcPct val="30000"/>
      </a:spcBef>
      <a:spcAft>
        <a:spcPct val="0"/>
      </a:spcAft>
      <a:defRPr kumimoji="1" sz="1400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519113" algn="l" rtl="0" eaLnBrk="0" fontAlgn="base" latinLnBrk="1" hangingPunct="0">
      <a:spcBef>
        <a:spcPct val="30000"/>
      </a:spcBef>
      <a:spcAft>
        <a:spcPct val="0"/>
      </a:spcAft>
      <a:defRPr kumimoji="1" sz="1400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1039813" algn="l" rtl="0" eaLnBrk="0" fontAlgn="base" latinLnBrk="1" hangingPunct="0">
      <a:spcBef>
        <a:spcPct val="30000"/>
      </a:spcBef>
      <a:spcAft>
        <a:spcPct val="0"/>
      </a:spcAft>
      <a:defRPr kumimoji="1" sz="1400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560513" algn="l" rtl="0" eaLnBrk="0" fontAlgn="base" latinLnBrk="1" hangingPunct="0">
      <a:spcBef>
        <a:spcPct val="30000"/>
      </a:spcBef>
      <a:spcAft>
        <a:spcPct val="0"/>
      </a:spcAft>
      <a:defRPr kumimoji="1" sz="1400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2081213" algn="l" rtl="0" eaLnBrk="0" fontAlgn="base" latinLnBrk="1" hangingPunct="0">
      <a:spcBef>
        <a:spcPct val="30000"/>
      </a:spcBef>
      <a:spcAft>
        <a:spcPct val="0"/>
      </a:spcAft>
      <a:defRPr kumimoji="1" sz="1400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602792" algn="l" defTabSz="1041117" rtl="0" eaLnBrk="1" latinLnBrk="1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3123351" algn="l" defTabSz="1041117" rtl="0" eaLnBrk="1" latinLnBrk="1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643909" algn="l" defTabSz="1041117" rtl="0" eaLnBrk="1" latinLnBrk="1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4164468" algn="l" defTabSz="1041117" rtl="0" eaLnBrk="1" latinLnBrk="1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8" descr="1-31-Graphic-Motif-Type-B-Us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588" y="4489450"/>
            <a:ext cx="3162300" cy="3067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14" descr="1-05-Signature"/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8035925" y="139700"/>
            <a:ext cx="2228850" cy="73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16" descr="1-29-Graphic-Motif-Type-A-Co"/>
          <p:cNvPicPr preferRelativeResize="0">
            <a:picLocks noChangeArrowheads="1"/>
          </p:cNvPicPr>
          <p:nvPr userDrawn="1"/>
        </p:nvPicPr>
        <p:blipFill>
          <a:blip r:embed="rId4"/>
          <a:srcRect/>
          <a:stretch>
            <a:fillRect/>
          </a:stretch>
        </p:blipFill>
        <p:spPr bwMode="auto">
          <a:xfrm>
            <a:off x="0" y="1019175"/>
            <a:ext cx="10323513" cy="46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63514" y="1994681"/>
            <a:ext cx="8774987" cy="2143140"/>
          </a:xfrm>
          <a:effectLst>
            <a:outerShdw dist="35921" dir="2700000" algn="ctr" rotWithShape="0">
              <a:schemeClr val="bg2"/>
            </a:outerShdw>
          </a:effectLst>
        </p:spPr>
        <p:txBody>
          <a:bodyPr anchor="ctr"/>
          <a:lstStyle>
            <a:lvl1pPr algn="ctr">
              <a:lnSpc>
                <a:spcPct val="100000"/>
              </a:lnSpc>
              <a:defRPr sz="5400" b="1" cap="none" spc="0">
                <a:ln>
                  <a:noFill/>
                </a:ln>
                <a:solidFill>
                  <a:srgbClr val="003399"/>
                </a:solidFill>
                <a:effectLst/>
                <a:latin typeface="Helvetica" pitchFamily="34" charset="0"/>
                <a:ea typeface="HY강M" pitchFamily="18" charset="-127"/>
              </a:defRPr>
            </a:lvl1pPr>
          </a:lstStyle>
          <a:p>
            <a:r>
              <a:rPr lang="en-US" altLang="ko-KR" dirty="0"/>
              <a:t>Click to edit Master title style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188283" y="4575271"/>
            <a:ext cx="7930824" cy="164177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lnSpc>
                <a:spcPct val="80000"/>
              </a:lnSpc>
              <a:buFont typeface="Wingdings" pitchFamily="2" charset="2"/>
              <a:buNone/>
              <a:defRPr sz="3600" b="0" cap="none" spc="0">
                <a:ln>
                  <a:noFill/>
                </a:ln>
                <a:solidFill>
                  <a:schemeClr val="accent5">
                    <a:lumMod val="25000"/>
                  </a:schemeClr>
                </a:solidFill>
                <a:effectLst/>
                <a:latin typeface="Helvetica" pitchFamily="34" charset="0"/>
                <a:ea typeface="HY강B" pitchFamily="18" charset="-127"/>
              </a:defRPr>
            </a:lvl1pPr>
          </a:lstStyle>
          <a:p>
            <a:r>
              <a:rPr lang="en-US" altLang="ko-KR" dirty="0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cap="none" spc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altLang="ko-KR" dirty="0"/>
              <a:t>Click to edit Master title style</a:t>
            </a:r>
            <a:endParaRPr lang="ko-KR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 dirty="0"/>
              <a:t>Click to edit Master text styles</a:t>
            </a:r>
          </a:p>
          <a:p>
            <a:pPr lvl="1"/>
            <a:r>
              <a:rPr lang="en-US" altLang="ko-KR" dirty="0"/>
              <a:t>Second level</a:t>
            </a:r>
          </a:p>
          <a:p>
            <a:pPr lvl="2"/>
            <a:r>
              <a:rPr lang="en-US" altLang="ko-KR" dirty="0"/>
              <a:t>Third level</a:t>
            </a:r>
          </a:p>
          <a:p>
            <a:pPr lvl="3"/>
            <a:r>
              <a:rPr lang="en-US" altLang="ko-KR" dirty="0"/>
              <a:t>Fourth level</a:t>
            </a:r>
          </a:p>
          <a:p>
            <a:pPr lvl="4"/>
            <a:r>
              <a:rPr lang="en-US" altLang="ko-KR" dirty="0"/>
              <a:t>Fifth level</a:t>
            </a:r>
            <a:endParaRPr lang="ko-KR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99AD3E1-D3CC-4A2C-AFCE-3F1C061A246E}" type="datetime1">
              <a:rPr lang="ko-KR" altLang="en-US" smtClean="0"/>
              <a:t>2018-07-04</a:t>
            </a:fld>
            <a:endParaRPr lang="en-US" altLang="ko-K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D57F253-BFD6-4B06-BA72-D88E120B01E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eg"/><Relationship Id="rId5" Type="http://schemas.openxmlformats.org/officeDocument/2006/relationships/image" Target="../media/image2.jpeg"/><Relationship Id="rId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6" descr="1-31-Graphic-Motif-Type-B-Us"/>
          <p:cNvPicPr>
            <a:picLocks noChangeAspect="1" noChangeArrowheads="1"/>
          </p:cNvPicPr>
          <p:nvPr userDrawn="1"/>
        </p:nvPicPr>
        <p:blipFill>
          <a:blip r:embed="rId4"/>
          <a:srcRect/>
          <a:stretch>
            <a:fillRect/>
          </a:stretch>
        </p:blipFill>
        <p:spPr bwMode="auto">
          <a:xfrm>
            <a:off x="1588" y="4494213"/>
            <a:ext cx="3162300" cy="3067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03200" y="77788"/>
            <a:ext cx="9927246" cy="93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4112" tIns="52056" rIns="104112" bIns="52056" numCol="1" anchor="b" anchorCtr="0" compatLnSpc="1"/>
          <a:lstStyle/>
          <a:p>
            <a:pPr lvl="0"/>
            <a:r>
              <a:rPr lang="en-US" altLang="ko-KR" dirty="0"/>
              <a:t>Click to edit Master title style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03200" y="1079500"/>
            <a:ext cx="9917113" cy="6035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112" tIns="52056" rIns="104112" bIns="5205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Click to edit Master text styles</a:t>
            </a:r>
          </a:p>
          <a:p>
            <a:pPr lvl="1"/>
            <a:r>
              <a:rPr lang="en-US" altLang="ko-KR" dirty="0"/>
              <a:t>Second level</a:t>
            </a:r>
          </a:p>
          <a:p>
            <a:pPr lvl="2"/>
            <a:r>
              <a:rPr lang="en-US" altLang="ko-KR" dirty="0"/>
              <a:t>Third level</a:t>
            </a:r>
          </a:p>
          <a:p>
            <a:pPr lvl="3"/>
            <a:r>
              <a:rPr lang="en-US" altLang="ko-KR" dirty="0"/>
              <a:t>Fourth level</a:t>
            </a:r>
          </a:p>
          <a:p>
            <a:pPr lvl="4"/>
            <a:r>
              <a:rPr lang="en-US" altLang="ko-KR" dirty="0"/>
              <a:t>Fifth level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515938" y="7224713"/>
            <a:ext cx="2409825" cy="296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4112" tIns="52056" rIns="104112" bIns="52056" numCol="1" anchor="t" anchorCtr="0" compatLnSpc="1">
            <a:prstTxWarp prst="textNoShape">
              <a:avLst/>
            </a:prstTxWarp>
          </a:bodyPr>
          <a:lstStyle>
            <a:lvl1pPr>
              <a:defRPr sz="1400" b="0" smtClean="0">
                <a:solidFill>
                  <a:schemeClr val="bg2"/>
                </a:solidFill>
                <a:latin typeface="Helvetica" pitchFamily="34" charset="0"/>
              </a:defRPr>
            </a:lvl1pPr>
          </a:lstStyle>
          <a:p>
            <a:pPr>
              <a:defRPr/>
            </a:pPr>
            <a:fld id="{76D4B86E-74BB-441A-9532-38AF29BD327E}" type="datetime1">
              <a:rPr lang="ko-KR" altLang="en-US" smtClean="0"/>
              <a:t>2018-07-04</a:t>
            </a:fld>
            <a:endParaRPr lang="en-US" altLang="ko-K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397750" y="7224713"/>
            <a:ext cx="2409825" cy="296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4112" tIns="52056" rIns="104112" bIns="52056" numCol="1" anchor="t" anchorCtr="0" compatLnSpc="1">
            <a:prstTxWarp prst="textNoShape">
              <a:avLst/>
            </a:prstTxWarp>
          </a:bodyPr>
          <a:lstStyle>
            <a:lvl1pPr algn="r">
              <a:defRPr sz="1400" b="0" smtClean="0">
                <a:solidFill>
                  <a:schemeClr val="bg2"/>
                </a:solidFill>
                <a:latin typeface="Helvetica" pitchFamily="34" charset="0"/>
              </a:defRPr>
            </a:lvl1pPr>
          </a:lstStyle>
          <a:p>
            <a:pPr>
              <a:defRPr/>
            </a:pPr>
            <a:fld id="{BEA56C7E-B086-4260-9634-0FD7B2E06793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  <p:pic>
        <p:nvPicPr>
          <p:cNvPr id="1032" name="Picture 18" descr="1-29-Graphic-Motif-Type-A-Co"/>
          <p:cNvPicPr preferRelativeResize="0">
            <a:picLocks noChangeArrowheads="1"/>
          </p:cNvPicPr>
          <p:nvPr userDrawn="1"/>
        </p:nvPicPr>
        <p:blipFill>
          <a:blip r:embed="rId5"/>
          <a:srcRect/>
          <a:stretch>
            <a:fillRect/>
          </a:stretch>
        </p:blipFill>
        <p:spPr bwMode="auto">
          <a:xfrm>
            <a:off x="1588" y="7178675"/>
            <a:ext cx="10323512" cy="46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3" name="Picture 14" descr="1-05-Signature"/>
          <p:cNvPicPr>
            <a:picLocks noChangeAspect="1" noChangeArrowheads="1"/>
          </p:cNvPicPr>
          <p:nvPr userDrawn="1"/>
        </p:nvPicPr>
        <p:blipFill>
          <a:blip r:embed="rId6"/>
          <a:srcRect/>
          <a:stretch>
            <a:fillRect/>
          </a:stretch>
        </p:blipFill>
        <p:spPr bwMode="auto">
          <a:xfrm>
            <a:off x="8593138" y="258763"/>
            <a:ext cx="1655762" cy="547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</p:sldLayoutIdLst>
  <p:hf hdr="0"/>
  <p:txStyles>
    <p:titleStyle>
      <a:lvl1pPr algn="l" rtl="0" eaLnBrk="0" fontAlgn="base" latinLnBrk="1" hangingPunct="0">
        <a:lnSpc>
          <a:spcPct val="60000"/>
        </a:lnSpc>
        <a:spcBef>
          <a:spcPct val="0"/>
        </a:spcBef>
        <a:spcAft>
          <a:spcPct val="0"/>
        </a:spcAft>
        <a:defRPr kumimoji="1" sz="4400" b="1" cap="none" spc="0">
          <a:ln>
            <a:noFill/>
          </a:ln>
          <a:solidFill>
            <a:schemeClr val="accent6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Helvetica" pitchFamily="34" charset="0"/>
          <a:ea typeface="HY강M" pitchFamily="18" charset="-127"/>
          <a:cs typeface="+mj-cs"/>
        </a:defRPr>
      </a:lvl1pPr>
      <a:lvl2pPr algn="l" rtl="0" eaLnBrk="0" fontAlgn="base" latinLnBrk="1" hangingPunct="0">
        <a:lnSpc>
          <a:spcPct val="60000"/>
        </a:lnSpc>
        <a:spcBef>
          <a:spcPct val="0"/>
        </a:spcBef>
        <a:spcAft>
          <a:spcPct val="0"/>
        </a:spcAft>
        <a:defRPr kumimoji="1" sz="50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HY강M" pitchFamily="18" charset="-127"/>
          <a:ea typeface="HY강M" pitchFamily="18" charset="-127"/>
        </a:defRPr>
      </a:lvl2pPr>
      <a:lvl3pPr algn="l" rtl="0" eaLnBrk="0" fontAlgn="base" latinLnBrk="1" hangingPunct="0">
        <a:lnSpc>
          <a:spcPct val="60000"/>
        </a:lnSpc>
        <a:spcBef>
          <a:spcPct val="0"/>
        </a:spcBef>
        <a:spcAft>
          <a:spcPct val="0"/>
        </a:spcAft>
        <a:defRPr kumimoji="1" sz="50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HY강M" pitchFamily="18" charset="-127"/>
          <a:ea typeface="HY강M" pitchFamily="18" charset="-127"/>
        </a:defRPr>
      </a:lvl3pPr>
      <a:lvl4pPr algn="l" rtl="0" eaLnBrk="0" fontAlgn="base" latinLnBrk="1" hangingPunct="0">
        <a:lnSpc>
          <a:spcPct val="60000"/>
        </a:lnSpc>
        <a:spcBef>
          <a:spcPct val="0"/>
        </a:spcBef>
        <a:spcAft>
          <a:spcPct val="0"/>
        </a:spcAft>
        <a:defRPr kumimoji="1" sz="50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HY강M" pitchFamily="18" charset="-127"/>
          <a:ea typeface="HY강M" pitchFamily="18" charset="-127"/>
        </a:defRPr>
      </a:lvl4pPr>
      <a:lvl5pPr algn="l" rtl="0" eaLnBrk="0" fontAlgn="base" latinLnBrk="1" hangingPunct="0">
        <a:lnSpc>
          <a:spcPct val="60000"/>
        </a:lnSpc>
        <a:spcBef>
          <a:spcPct val="0"/>
        </a:spcBef>
        <a:spcAft>
          <a:spcPct val="0"/>
        </a:spcAft>
        <a:defRPr kumimoji="1" sz="50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HY강M" pitchFamily="18" charset="-127"/>
          <a:ea typeface="HY강M" pitchFamily="18" charset="-127"/>
        </a:defRPr>
      </a:lvl5pPr>
      <a:lvl6pPr marL="520559" algn="l" rtl="0" fontAlgn="base" latinLnBrk="1">
        <a:lnSpc>
          <a:spcPct val="60000"/>
        </a:lnSpc>
        <a:spcBef>
          <a:spcPct val="0"/>
        </a:spcBef>
        <a:spcAft>
          <a:spcPct val="0"/>
        </a:spcAft>
        <a:defRPr kumimoji="1" sz="50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HY바다M" pitchFamily="18" charset="-127"/>
          <a:ea typeface="HY바다M" pitchFamily="18" charset="-127"/>
        </a:defRPr>
      </a:lvl6pPr>
      <a:lvl7pPr marL="1041117" algn="l" rtl="0" fontAlgn="base" latinLnBrk="1">
        <a:lnSpc>
          <a:spcPct val="60000"/>
        </a:lnSpc>
        <a:spcBef>
          <a:spcPct val="0"/>
        </a:spcBef>
        <a:spcAft>
          <a:spcPct val="0"/>
        </a:spcAft>
        <a:defRPr kumimoji="1" sz="50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HY바다M" pitchFamily="18" charset="-127"/>
          <a:ea typeface="HY바다M" pitchFamily="18" charset="-127"/>
        </a:defRPr>
      </a:lvl7pPr>
      <a:lvl8pPr marL="1561676" algn="l" rtl="0" fontAlgn="base" latinLnBrk="1">
        <a:lnSpc>
          <a:spcPct val="60000"/>
        </a:lnSpc>
        <a:spcBef>
          <a:spcPct val="0"/>
        </a:spcBef>
        <a:spcAft>
          <a:spcPct val="0"/>
        </a:spcAft>
        <a:defRPr kumimoji="1" sz="50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HY바다M" pitchFamily="18" charset="-127"/>
          <a:ea typeface="HY바다M" pitchFamily="18" charset="-127"/>
        </a:defRPr>
      </a:lvl8pPr>
      <a:lvl9pPr marL="2082235" algn="l" rtl="0" fontAlgn="base" latinLnBrk="1">
        <a:lnSpc>
          <a:spcPct val="60000"/>
        </a:lnSpc>
        <a:spcBef>
          <a:spcPct val="0"/>
        </a:spcBef>
        <a:spcAft>
          <a:spcPct val="0"/>
        </a:spcAft>
        <a:defRPr kumimoji="1" sz="50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HY바다M" pitchFamily="18" charset="-127"/>
          <a:ea typeface="HY바다M" pitchFamily="18" charset="-127"/>
        </a:defRPr>
      </a:lvl9pPr>
    </p:titleStyle>
    <p:bodyStyle>
      <a:lvl1pPr marL="388938" indent="-388938" algn="l" rtl="0" eaLnBrk="0" fontAlgn="base" latinLnBrk="1" hangingPunct="0">
        <a:spcBef>
          <a:spcPct val="20000"/>
        </a:spcBef>
        <a:spcAft>
          <a:spcPct val="0"/>
        </a:spcAft>
        <a:buClr>
          <a:srgbClr val="000066"/>
        </a:buClr>
        <a:buFont typeface="Wingdings" pitchFamily="2" charset="2"/>
        <a:buChar char="§"/>
        <a:defRPr kumimoji="1" sz="2800">
          <a:solidFill>
            <a:schemeClr val="accent5">
              <a:lumMod val="25000"/>
            </a:schemeClr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844550" indent="-323850" algn="l" rtl="0" eaLnBrk="0" fontAlgn="base" latinLnBrk="1" hangingPunct="0">
        <a:spcBef>
          <a:spcPct val="20000"/>
        </a:spcBef>
        <a:spcAft>
          <a:spcPct val="0"/>
        </a:spcAft>
        <a:buClr>
          <a:srgbClr val="000066"/>
        </a:buClr>
        <a:buFont typeface="Wingdings" pitchFamily="2" charset="2"/>
        <a:buChar char="ú"/>
        <a:defRPr kumimoji="1" sz="2400">
          <a:solidFill>
            <a:schemeClr val="accent5">
              <a:lumMod val="25000"/>
            </a:schemeClr>
          </a:solidFill>
          <a:latin typeface="맑은 고딕" panose="020B0503020000020004" pitchFamily="50" charset="-127"/>
          <a:ea typeface="맑은 고딕" panose="020B0503020000020004" pitchFamily="50" charset="-127"/>
        </a:defRPr>
      </a:lvl2pPr>
      <a:lvl3pPr marL="1300163" indent="-258763" algn="l" rtl="0" eaLnBrk="0" fontAlgn="base" latinLnBrk="1" hangingPunct="0">
        <a:spcBef>
          <a:spcPct val="20000"/>
        </a:spcBef>
        <a:spcAft>
          <a:spcPct val="0"/>
        </a:spcAft>
        <a:buClr>
          <a:srgbClr val="000066"/>
        </a:buClr>
        <a:buChar char="•"/>
        <a:defRPr kumimoji="1" sz="2000">
          <a:solidFill>
            <a:schemeClr val="accent5">
              <a:lumMod val="25000"/>
            </a:schemeClr>
          </a:solidFill>
          <a:latin typeface="맑은 고딕" panose="020B0503020000020004" pitchFamily="50" charset="-127"/>
          <a:ea typeface="맑은 고딕" panose="020B0503020000020004" pitchFamily="50" charset="-127"/>
        </a:defRPr>
      </a:lvl3pPr>
      <a:lvl4pPr marL="1820863" indent="-258763" algn="l" rtl="0" eaLnBrk="0" fontAlgn="base" latinLnBrk="1" hangingPunct="0">
        <a:spcBef>
          <a:spcPct val="20000"/>
        </a:spcBef>
        <a:spcAft>
          <a:spcPct val="0"/>
        </a:spcAft>
        <a:buClr>
          <a:srgbClr val="000066"/>
        </a:buClr>
        <a:buFont typeface="Wingdings" pitchFamily="2" charset="2"/>
        <a:buChar char="w"/>
        <a:defRPr kumimoji="1" sz="1600">
          <a:solidFill>
            <a:schemeClr val="accent5">
              <a:lumMod val="25000"/>
            </a:schemeClr>
          </a:solidFill>
          <a:latin typeface="맑은 고딕" panose="020B0503020000020004" pitchFamily="50" charset="-127"/>
          <a:ea typeface="맑은 고딕" panose="020B0503020000020004" pitchFamily="50" charset="-127"/>
        </a:defRPr>
      </a:lvl4pPr>
      <a:lvl5pPr marL="2341563" indent="-258763" algn="l" rtl="0" eaLnBrk="0" fontAlgn="base" latinLnBrk="1" hangingPunct="0">
        <a:spcBef>
          <a:spcPct val="20000"/>
        </a:spcBef>
        <a:spcAft>
          <a:spcPct val="0"/>
        </a:spcAft>
        <a:buClr>
          <a:srgbClr val="000066"/>
        </a:buClr>
        <a:buFont typeface="Wingdings" pitchFamily="2" charset="2"/>
        <a:buChar char="ü"/>
        <a:defRPr kumimoji="1" sz="1600">
          <a:solidFill>
            <a:schemeClr val="accent5">
              <a:lumMod val="25000"/>
            </a:schemeClr>
          </a:solidFill>
          <a:latin typeface="맑은 고딕" panose="020B0503020000020004" pitchFamily="50" charset="-127"/>
          <a:ea typeface="맑은 고딕" panose="020B0503020000020004" pitchFamily="50" charset="-127"/>
        </a:defRPr>
      </a:lvl5pPr>
      <a:lvl6pPr marL="2863072" indent="-260279" algn="l" rtl="0" fontAlgn="base" latinLnBrk="1">
        <a:spcBef>
          <a:spcPct val="20000"/>
        </a:spcBef>
        <a:spcAft>
          <a:spcPct val="0"/>
        </a:spcAft>
        <a:buClr>
          <a:srgbClr val="FAD32E"/>
        </a:buClr>
        <a:buFont typeface="Wingdings" pitchFamily="2" charset="2"/>
        <a:buChar char="ü"/>
        <a:defRPr kumimoji="1">
          <a:solidFill>
            <a:srgbClr val="000066"/>
          </a:solidFill>
          <a:latin typeface="+mn-lt"/>
          <a:ea typeface="+mn-ea"/>
        </a:defRPr>
      </a:lvl6pPr>
      <a:lvl7pPr marL="3383630" indent="-260279" algn="l" rtl="0" fontAlgn="base" latinLnBrk="1">
        <a:spcBef>
          <a:spcPct val="20000"/>
        </a:spcBef>
        <a:spcAft>
          <a:spcPct val="0"/>
        </a:spcAft>
        <a:buClr>
          <a:srgbClr val="FAD32E"/>
        </a:buClr>
        <a:buFont typeface="Wingdings" pitchFamily="2" charset="2"/>
        <a:buChar char="ü"/>
        <a:defRPr kumimoji="1">
          <a:solidFill>
            <a:srgbClr val="000066"/>
          </a:solidFill>
          <a:latin typeface="+mn-lt"/>
          <a:ea typeface="+mn-ea"/>
        </a:defRPr>
      </a:lvl7pPr>
      <a:lvl8pPr marL="3904189" indent="-260279" algn="l" rtl="0" fontAlgn="base" latinLnBrk="1">
        <a:spcBef>
          <a:spcPct val="20000"/>
        </a:spcBef>
        <a:spcAft>
          <a:spcPct val="0"/>
        </a:spcAft>
        <a:buClr>
          <a:srgbClr val="FAD32E"/>
        </a:buClr>
        <a:buFont typeface="Wingdings" pitchFamily="2" charset="2"/>
        <a:buChar char="ü"/>
        <a:defRPr kumimoji="1">
          <a:solidFill>
            <a:srgbClr val="000066"/>
          </a:solidFill>
          <a:latin typeface="+mn-lt"/>
          <a:ea typeface="+mn-ea"/>
        </a:defRPr>
      </a:lvl8pPr>
      <a:lvl9pPr marL="4424747" indent="-260279" algn="l" rtl="0" fontAlgn="base" latinLnBrk="1">
        <a:spcBef>
          <a:spcPct val="20000"/>
        </a:spcBef>
        <a:spcAft>
          <a:spcPct val="0"/>
        </a:spcAft>
        <a:buClr>
          <a:srgbClr val="FAD32E"/>
        </a:buClr>
        <a:buFont typeface="Wingdings" pitchFamily="2" charset="2"/>
        <a:buChar char="ü"/>
        <a:defRPr kumimoji="1">
          <a:solidFill>
            <a:srgbClr val="000066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1041117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20559" algn="l" defTabSz="1041117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41117" algn="l" defTabSz="1041117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561676" algn="l" defTabSz="1041117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082235" algn="l" defTabSz="1041117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02792" algn="l" defTabSz="1041117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23351" algn="l" defTabSz="1041117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643909" algn="l" defTabSz="1041117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164468" algn="l" defTabSz="1041117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sz="3200" dirty="0"/>
              <a:t>Estimating body shape of dressed humans</a:t>
            </a:r>
            <a:endParaRPr lang="ko-KR" altLang="en-US" sz="3200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Nils</a:t>
            </a:r>
            <a:r>
              <a:rPr lang="ko-KR" altLang="en-US" dirty="0"/>
              <a:t> </a:t>
            </a:r>
            <a:r>
              <a:rPr lang="en-US" altLang="ko-KR" dirty="0"/>
              <a:t>Hasler et al.</a:t>
            </a:r>
          </a:p>
          <a:p>
            <a:r>
              <a:rPr lang="en-US" altLang="ko-KR" dirty="0"/>
              <a:t>Presenter: Jae-Ryun Chung</a:t>
            </a:r>
          </a:p>
        </p:txBody>
      </p:sp>
    </p:spTree>
    <p:extLst>
      <p:ext uri="{BB962C8B-B14F-4D97-AF65-F5344CB8AC3E}">
        <p14:creationId xmlns:p14="http://schemas.microsoft.com/office/powerpoint/2010/main" val="1415852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16A636-182F-4D2D-A2F0-A8F83E191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1.Introduction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886A1F7-AD0F-49CF-8B27-3AB569F13C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System that estimates shape of human body using statistical model of human body shapes and poses</a:t>
            </a:r>
          </a:p>
          <a:p>
            <a:r>
              <a:rPr lang="en-US" altLang="ko-KR" dirty="0"/>
              <a:t>Takes 3D scan or model as input</a:t>
            </a:r>
          </a:p>
          <a:p>
            <a:r>
              <a:rPr lang="en-US" altLang="ko-KR" dirty="0"/>
              <a:t>Contributions</a:t>
            </a:r>
          </a:p>
          <a:p>
            <a:pPr lvl="1"/>
            <a:r>
              <a:rPr lang="en-US" altLang="ko-KR" dirty="0"/>
              <a:t>The approach is robust to severe contortion of the surface caused for example by loose clothing, hair, noise corruption, or large holes in data</a:t>
            </a:r>
          </a:p>
          <a:p>
            <a:pPr lvl="1"/>
            <a:r>
              <a:rPr lang="en-US" altLang="ko-KR" dirty="0"/>
              <a:t>The method can be applied to partial scan registration and estimation of biometric parameters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CFC5CF-1FFD-4880-94D3-C1672DA35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99AD3E1-D3CC-4A2C-AFCE-3F1C061A246E}" type="datetime1">
              <a:rPr lang="ko-KR" altLang="en-US" smtClean="0"/>
              <a:t>2018-07-04</a:t>
            </a:fld>
            <a:endParaRPr lang="en-US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71E3FB5-E0FA-4406-AA33-5117D8139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57F253-BFD6-4B06-BA72-D88E120B01E7}" type="slidenum">
              <a:rPr lang="en-US" altLang="ko-KR" smtClean="0"/>
              <a:pPr>
                <a:defRPr/>
              </a:pPr>
              <a:t>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695312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8F2007-C72D-425F-BC56-F2FFC8934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2.Human body space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A65D38-3E63-4CB4-AB3E-2E491FFDBF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Model of human body shapes is based on a database of approx. 550 3D scans of 114 subjects</a:t>
            </a:r>
          </a:p>
          <a:p>
            <a:r>
              <a:rPr lang="en-US" altLang="ko-KR" dirty="0"/>
              <a:t>Scanned in a base pose and some subjects are additionally scanned in 9 poses chosen randomly from a set of 32 poses that were selected to span the range of motion of average humans</a:t>
            </a:r>
          </a:p>
          <a:p>
            <a:r>
              <a:rPr lang="en-US" altLang="ko-KR" dirty="0"/>
              <a:t>Registered with a non-rigid registration technique in order to achieve semantic correspondence between scans</a:t>
            </a:r>
          </a:p>
          <a:p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DCFA398-A387-497F-8DFA-0706FFB8F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99AD3E1-D3CC-4A2C-AFCE-3F1C061A246E}" type="datetime1">
              <a:rPr lang="ko-KR" altLang="en-US" smtClean="0"/>
              <a:t>2018-07-04</a:t>
            </a:fld>
            <a:endParaRPr lang="en-US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7A00A14-09B8-4FEF-898A-858A28F98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57F253-BFD6-4B06-BA72-D88E120B01E7}" type="slidenum">
              <a:rPr lang="en-US" altLang="ko-KR" smtClean="0"/>
              <a:pPr>
                <a:defRPr/>
              </a:pPr>
              <a:t>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324120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5A8E4C-7ECA-4475-8733-B598FC646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2.1Model representation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0201AF-9B10-4444-932D-F07D1B44E5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Use surface encoding of models that is invariant to translation and rotation to capture non-linear transformations caused by skeleton</a:t>
            </a:r>
          </a:p>
          <a:p>
            <a:r>
              <a:rPr lang="en-US" altLang="ko-KR" dirty="0"/>
              <a:t>The encoding uses vertices instead of triangles presented by Lipman et al.[13]</a:t>
            </a:r>
          </a:p>
          <a:p>
            <a:r>
              <a:rPr lang="en-US" altLang="ko-KR" dirty="0"/>
              <a:t>Translational invariance Reconstruction involves solving a sparse linear system</a:t>
            </a:r>
          </a:p>
          <a:p>
            <a:r>
              <a:rPr lang="en-US" altLang="ko-KR" dirty="0"/>
              <a:t>Rotational invariance is more difficult to achieve</a:t>
            </a:r>
          </a:p>
          <a:p>
            <a:r>
              <a:rPr lang="en-US" altLang="ko-KR" dirty="0"/>
              <a:t>Accomplish this by decoupling rotation and stretching of triangles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0493DC6-00B9-48C7-9B96-196E47A2E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99AD3E1-D3CC-4A2C-AFCE-3F1C061A246E}" type="datetime1">
              <a:rPr lang="ko-KR" altLang="en-US" smtClean="0"/>
              <a:t>2018-07-04</a:t>
            </a:fld>
            <a:endParaRPr lang="en-US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B200A17-FEB1-43C4-802A-F71C6E898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57F253-BFD6-4B06-BA72-D88E120B01E7}" type="slidenum">
              <a:rPr lang="en-US" altLang="ko-KR" smtClean="0"/>
              <a:pPr>
                <a:defRPr/>
              </a:pPr>
              <a:t>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811627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5A8E4C-7ECA-4475-8733-B598FC646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2.1Model representation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0201AF-9B10-4444-932D-F07D1B44E5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Rotational invariance is more difficult to achieve</a:t>
            </a:r>
          </a:p>
          <a:p>
            <a:r>
              <a:rPr lang="en-US" altLang="ko-KR" dirty="0"/>
              <a:t>Accomplish this by decoupling rotation and stretching of triangles</a:t>
            </a:r>
          </a:p>
          <a:p>
            <a:pPr lvl="1"/>
            <a:r>
              <a:rPr lang="en-US" altLang="ko-KR" dirty="0"/>
              <a:t>r</a:t>
            </a:r>
            <a:r>
              <a:rPr lang="en-US" altLang="ko-KR" baseline="-25000" dirty="0"/>
              <a:t>i</a:t>
            </a:r>
            <a:r>
              <a:rPr lang="en-US" altLang="ko-KR" dirty="0"/>
              <a:t> : triangles of reference model</a:t>
            </a:r>
          </a:p>
          <a:p>
            <a:pPr lvl="1"/>
            <a:r>
              <a:rPr lang="en-US" altLang="ko-KR" dirty="0"/>
              <a:t>T</a:t>
            </a:r>
            <a:r>
              <a:rPr lang="en-US" altLang="ko-KR" baseline="-25000" dirty="0"/>
              <a:t>i</a:t>
            </a:r>
            <a:r>
              <a:rPr lang="en-US" altLang="ko-KR" dirty="0"/>
              <a:t> can be factorized into R</a:t>
            </a:r>
            <a:r>
              <a:rPr lang="en-US" altLang="ko-KR" baseline="-25000" dirty="0"/>
              <a:t>i</a:t>
            </a:r>
            <a:r>
              <a:rPr lang="en-US" altLang="ko-KR" dirty="0"/>
              <a:t> and S</a:t>
            </a:r>
            <a:r>
              <a:rPr lang="en-US" altLang="ko-KR" baseline="-25000" dirty="0"/>
              <a:t>i</a:t>
            </a:r>
          </a:p>
          <a:p>
            <a:pPr lvl="2"/>
            <a:r>
              <a:rPr lang="en-US" altLang="ko-KR" dirty="0"/>
              <a:t>R</a:t>
            </a:r>
            <a:r>
              <a:rPr lang="en-US" altLang="ko-KR" baseline="-25000" dirty="0"/>
              <a:t>i</a:t>
            </a:r>
            <a:r>
              <a:rPr lang="en-US" altLang="ko-KR" dirty="0"/>
              <a:t> : rotation</a:t>
            </a:r>
          </a:p>
          <a:p>
            <a:pPr lvl="2"/>
            <a:r>
              <a:rPr lang="en-US" altLang="ko-KR" dirty="0"/>
              <a:t>S</a:t>
            </a:r>
            <a:r>
              <a:rPr lang="en-US" altLang="ko-KR" baseline="-25000" dirty="0"/>
              <a:t>i</a:t>
            </a:r>
            <a:r>
              <a:rPr lang="en-US" altLang="ko-KR" dirty="0"/>
              <a:t> : stretch/shear</a:t>
            </a:r>
          </a:p>
          <a:p>
            <a:pPr lvl="1"/>
            <a:r>
              <a:rPr lang="en-US" altLang="ko-KR" dirty="0"/>
              <a:t>Finally, only relative rotation of triangle to its neighbors is </a:t>
            </a:r>
            <a:r>
              <a:rPr lang="en-US" altLang="ko-KR" dirty="0" err="1"/>
              <a:t>storedS</a:t>
            </a:r>
            <a:endParaRPr lang="en-US" altLang="ko-KR" dirty="0"/>
          </a:p>
          <a:p>
            <a:r>
              <a:rPr lang="en-US" altLang="ko-KR" dirty="0"/>
              <a:t>Given a rotation for one of the triangles, actual rotation matrices can be covered by solving linear system</a:t>
            </a:r>
          </a:p>
          <a:p>
            <a:r>
              <a:rPr lang="en-US" altLang="ko-KR" dirty="0"/>
              <a:t>For increase stability a re-orthonormalization step can be added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0493DC6-00B9-48C7-9B96-196E47A2E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99AD3E1-D3CC-4A2C-AFCE-3F1C061A246E}" type="datetime1">
              <a:rPr lang="ko-KR" altLang="en-US" smtClean="0"/>
              <a:t>2018-07-04</a:t>
            </a:fld>
            <a:endParaRPr lang="en-US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B200A17-FEB1-43C4-802A-F71C6E898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57F253-BFD6-4B06-BA72-D88E120B01E7}" type="slidenum">
              <a:rPr lang="en-US" altLang="ko-KR" smtClean="0"/>
              <a:pPr>
                <a:defRPr/>
              </a:pPr>
              <a:t>5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2090F51-DDA9-4D4D-BA66-667A2A751A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4296" y="2101549"/>
            <a:ext cx="3526907" cy="88488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7DE6BCE-FE79-4960-9F25-8D2707EEFE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7549" y="3095974"/>
            <a:ext cx="3452798" cy="1115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7350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5A8E4C-7ECA-4475-8733-B598FC646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2.1Model representation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0201AF-9B10-4444-932D-F07D1B44E5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Concatenate rotations and components of stretch matrices makes a high dimensional matrix</a:t>
            </a:r>
          </a:p>
          <a:p>
            <a:r>
              <a:rPr lang="en-US" altLang="ko-KR" dirty="0"/>
              <a:t>Apply PCA to the matrix yields a matrix of eigenvectors E, describing combined body shape and pose space</a:t>
            </a:r>
          </a:p>
          <a:p>
            <a:endParaRPr lang="en-US" altLang="ko-KR" dirty="0"/>
          </a:p>
          <a:p>
            <a:r>
              <a:rPr lang="en-US" altLang="ko-KR" dirty="0"/>
              <a:t>m: scanned model</a:t>
            </a:r>
          </a:p>
          <a:p>
            <a:r>
              <a:rPr lang="en-US" altLang="ko-KR" dirty="0"/>
              <a:t>a: average model</a:t>
            </a:r>
          </a:p>
          <a:p>
            <a:r>
              <a:rPr lang="en-US" altLang="ko-KR" dirty="0"/>
              <a:t>s: a set of low dimensional descriptors</a:t>
            </a:r>
          </a:p>
          <a:p>
            <a:r>
              <a:rPr lang="en-US" altLang="ko-KR" dirty="0"/>
              <a:t>If an unknown body shape is to be represented in body shape space a least square system needs to be solved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0493DC6-00B9-48C7-9B96-196E47A2E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99AD3E1-D3CC-4A2C-AFCE-3F1C061A246E}" type="datetime1">
              <a:rPr lang="ko-KR" altLang="en-US" smtClean="0"/>
              <a:t>2018-07-04</a:t>
            </a:fld>
            <a:endParaRPr lang="en-US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B200A17-FEB1-43C4-802A-F71C6E898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57F253-BFD6-4B06-BA72-D88E120B01E7}" type="slidenum">
              <a:rPr lang="en-US" altLang="ko-KR" smtClean="0"/>
              <a:pPr>
                <a:defRPr/>
              </a:pPr>
              <a:t>6</a:t>
            </a:fld>
            <a:endParaRPr lang="en-US" altLang="ko-KR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40957CA-5900-441A-B2E0-48D2570F79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5576" y="2988521"/>
            <a:ext cx="5184720" cy="79554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4A686C1E-C945-4944-88F2-2E962A2188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5643" y="6019800"/>
            <a:ext cx="6372225" cy="1095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2331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25AB69-9F0E-4C67-BE66-20ACAAFE6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2.1Model representation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6FE340-59D0-454C-A5CE-5D2E07844D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Influence of eigenvectors corresponding to small eigenvalues is overemphasized</a:t>
            </a:r>
          </a:p>
          <a:p>
            <a:r>
              <a:rPr lang="en-US" altLang="ko-KR" dirty="0"/>
              <a:t>This can be solved by dividing each eigenvector by its eigenvalue, yielding new matrix W of whitened coefficients([16])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Projecting 3D model into space of human shapes</a:t>
            </a:r>
          </a:p>
          <a:p>
            <a:r>
              <a:rPr lang="en-US" altLang="ko-KR" dirty="0"/>
              <a:t>W</a:t>
            </a:r>
            <a:r>
              <a:rPr lang="en-US" altLang="ko-KR" baseline="30000" dirty="0"/>
              <a:t>+</a:t>
            </a:r>
            <a:r>
              <a:rPr lang="en-US" altLang="ko-KR" dirty="0"/>
              <a:t>: pseudo-inverse of W</a:t>
            </a:r>
          </a:p>
          <a:p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C2B8B6-42A3-4BF8-B04B-A91ADA5CE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99AD3E1-D3CC-4A2C-AFCE-3F1C061A246E}" type="datetime1">
              <a:rPr lang="ko-KR" altLang="en-US" smtClean="0"/>
              <a:t>2018-07-04</a:t>
            </a:fld>
            <a:endParaRPr lang="en-US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2EDCC70-4778-4450-873F-A9EC24090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57F253-BFD6-4B06-BA72-D88E120B01E7}" type="slidenum">
              <a:rPr lang="en-US" altLang="ko-KR" smtClean="0"/>
              <a:pPr>
                <a:defRPr/>
              </a:pPr>
              <a:t>7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2E910D1-7661-4EB4-B8AF-33BC1DA28D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126" y="3636611"/>
            <a:ext cx="4320600" cy="774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1269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861095-2B17-4FB4-96D9-3B3CB1C41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3.Fitting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A186622-6DED-4CD9-8116-5347C69079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Fitting human model μ to a 3D scan or model     is done with an iterative approach illustrated in Fig. 1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Start with a sparse set of user specified points</a:t>
            </a:r>
          </a:p>
          <a:p>
            <a:pPr lvl="1"/>
            <a:r>
              <a:rPr lang="en-US" altLang="ko-KR" dirty="0"/>
              <a:t>Feet, hands, elbows, and head</a:t>
            </a:r>
          </a:p>
          <a:p>
            <a:r>
              <a:rPr lang="en-US" altLang="ko-KR" dirty="0"/>
              <a:t>Iterate 3 steps until convergence</a:t>
            </a:r>
          </a:p>
          <a:p>
            <a:pPr lvl="1"/>
            <a:r>
              <a:rPr lang="en-US" altLang="ko-KR" dirty="0"/>
              <a:t>μ is aligned rigidly to     by finding set of closest points and minimizing least-square distance</a:t>
            </a:r>
          </a:p>
          <a:p>
            <a:pPr lvl="1"/>
            <a:r>
              <a:rPr lang="en-US" altLang="ko-KR" dirty="0"/>
              <a:t>Matches are used to derive least-square Laplacian deformation</a:t>
            </a:r>
          </a:p>
          <a:p>
            <a:pPr lvl="1"/>
            <a:r>
              <a:rPr lang="en-US" altLang="ko-KR" dirty="0"/>
              <a:t>Project μ back into human body shape space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19620E-99CA-4F46-994A-44D458644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99AD3E1-D3CC-4A2C-AFCE-3F1C061A246E}" type="datetime1">
              <a:rPr lang="ko-KR" altLang="en-US" smtClean="0"/>
              <a:t>2018-07-04</a:t>
            </a:fld>
            <a:endParaRPr lang="en-US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163AF63-F0C9-44F8-82BB-617F8033C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57F253-BFD6-4B06-BA72-D88E120B01E7}" type="slidenum">
              <a:rPr lang="en-US" altLang="ko-KR" smtClean="0"/>
              <a:pPr>
                <a:defRPr/>
              </a:pPr>
              <a:t>8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80CAA34-C8A6-4AF3-B666-B1DD64FE21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0196" y="1188271"/>
            <a:ext cx="416197" cy="35587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191F4D61-F1FD-458A-AD80-D84B583E4C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2748" y="2052391"/>
            <a:ext cx="6734175" cy="192405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0CF13FB-115F-4AE2-B1B1-AA64C1D555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3616" y="5580881"/>
            <a:ext cx="416197" cy="355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7469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06B7A9-DADF-456F-A566-A3C5FE7CC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3.Fitting Step 1 Alignment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F8D4C8B-1374-4A68-AD60-58146E5B6C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Every point of μ the closest point on     is computed</a:t>
            </a:r>
          </a:p>
          <a:p>
            <a:pPr lvl="1"/>
            <a:r>
              <a:rPr lang="en-US" altLang="ko-KR" dirty="0"/>
              <a:t>Matches dropped if distance is too big(&gt;10cm) or normal directions deviate too strongly(&gt;30º)</a:t>
            </a:r>
          </a:p>
          <a:p>
            <a:pPr lvl="1"/>
            <a:r>
              <a:rPr lang="en-US" altLang="ko-KR" dirty="0"/>
              <a:t>they are stored in a new list</a:t>
            </a:r>
          </a:p>
          <a:p>
            <a:pPr lvl="1"/>
            <a:r>
              <a:rPr lang="en-US" altLang="ko-KR" dirty="0"/>
              <a:t>Optimal rigid body motion is calculated by minimizing squared distances of matches in the list</a:t>
            </a:r>
          </a:p>
          <a:p>
            <a:pPr lvl="1"/>
            <a:r>
              <a:rPr lang="en-US" altLang="ko-KR" dirty="0"/>
              <a:t>μ is transformed accordingly</a:t>
            </a:r>
          </a:p>
          <a:p>
            <a:r>
              <a:rPr lang="en-US" altLang="ko-KR" dirty="0"/>
              <a:t>This procedure is iterated until mean residual error q of matches converges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D06E5D-67F7-434A-8570-5F2B87757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99AD3E1-D3CC-4A2C-AFCE-3F1C061A246E}" type="datetime1">
              <a:rPr lang="ko-KR" altLang="en-US" smtClean="0"/>
              <a:t>2018-07-04</a:t>
            </a:fld>
            <a:endParaRPr lang="en-US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0C00C74-B65E-4D8B-960C-281482957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57F253-BFD6-4B06-BA72-D88E120B01E7}" type="slidenum">
              <a:rPr lang="en-US" altLang="ko-KR" smtClean="0"/>
              <a:pPr>
                <a:defRPr/>
              </a:pPr>
              <a:t>9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95C7688-864D-413C-9E9A-D51F667D50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5976" y="1188271"/>
            <a:ext cx="416197" cy="355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81532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BB5465-2B22-4B88-A362-75490C189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200" dirty="0"/>
              <a:t>3.Fitting Step 2 Laplacian deformation</a:t>
            </a:r>
            <a:endParaRPr lang="ko-KR" altLang="en-US" sz="42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590637D-94B2-4D06-968F-B2D271FEBE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μ is deformed using simple linear least-squares Laplacian mesh deformation[17]</a:t>
            </a:r>
          </a:p>
          <a:p>
            <a:r>
              <a:rPr lang="en-US" altLang="ko-KR" dirty="0"/>
              <a:t>Following energy is minimized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L and d are Laplacian system with cotangent weights</a:t>
            </a:r>
          </a:p>
          <a:p>
            <a:r>
              <a:rPr lang="en-US" altLang="ko-KR" dirty="0"/>
              <a:t>C and c represent constraints the list in prev. step weighted by importance function W(</a:t>
            </a:r>
            <a:r>
              <a:rPr lang="en-US" altLang="ko-KR" dirty="0" err="1"/>
              <a:t>i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If target person is wearing tight clothes uniform weights are sufficient</a:t>
            </a:r>
          </a:p>
          <a:p>
            <a:r>
              <a:rPr lang="en-US" altLang="ko-KR" dirty="0"/>
              <a:t>If a given segmentation of     computed with prior knowledge, importance function is modified</a:t>
            </a:r>
          </a:p>
          <a:p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14EB51-C582-486A-9A8F-8954750E1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99AD3E1-D3CC-4A2C-AFCE-3F1C061A246E}" type="datetime1">
              <a:rPr lang="ko-KR" altLang="en-US" smtClean="0"/>
              <a:t>2018-07-04</a:t>
            </a:fld>
            <a:endParaRPr lang="en-US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2F70B62-70ED-4486-B7C7-226682483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57F253-BFD6-4B06-BA72-D88E120B01E7}" type="slidenum">
              <a:rPr lang="en-US" altLang="ko-KR" smtClean="0"/>
              <a:pPr>
                <a:defRPr/>
              </a:pPr>
              <a:t>10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92B17A8-764A-4C40-8FCF-1658CB4A2E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136" y="2556461"/>
            <a:ext cx="9324372" cy="7201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81C7601-85BA-4EB8-B097-62F9ECBA87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9746" y="5868921"/>
            <a:ext cx="416197" cy="355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7289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BB7F79-DB75-4CE8-91F0-0FAB04395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3.Fitting Step 3 Humanization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A27C2E-593C-4163-9790-57B7452EDD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Step 2 moves model out of the space spanned by statistical model of human bodies</a:t>
            </a:r>
          </a:p>
          <a:p>
            <a:r>
              <a:rPr lang="en-US" altLang="ko-KR" dirty="0"/>
              <a:t>So the mesh need to be projected back into the space of human body shapes</a:t>
            </a:r>
            <a:r>
              <a:rPr lang="ko-KR" altLang="en-US" dirty="0"/>
              <a:t> </a:t>
            </a:r>
            <a:r>
              <a:rPr lang="en-US" altLang="ko-KR" dirty="0"/>
              <a:t>as</a:t>
            </a:r>
            <a:r>
              <a:rPr lang="ko-KR" altLang="en-US" dirty="0"/>
              <a:t> </a:t>
            </a:r>
            <a:r>
              <a:rPr lang="en-US" altLang="ko-KR" dirty="0"/>
              <a:t>we</a:t>
            </a:r>
            <a:r>
              <a:rPr lang="ko-KR" altLang="en-US" dirty="0"/>
              <a:t> </a:t>
            </a:r>
            <a:r>
              <a:rPr lang="en-US" altLang="ko-KR" dirty="0"/>
              <a:t>are</a:t>
            </a:r>
            <a:r>
              <a:rPr lang="ko-KR" altLang="en-US" dirty="0"/>
              <a:t> </a:t>
            </a:r>
            <a:r>
              <a:rPr lang="en-US" altLang="ko-KR" dirty="0"/>
              <a:t>interested</a:t>
            </a:r>
            <a:r>
              <a:rPr lang="ko-KR" altLang="en-US" dirty="0"/>
              <a:t> </a:t>
            </a:r>
            <a:r>
              <a:rPr lang="en-US" altLang="ko-KR" dirty="0"/>
              <a:t>in</a:t>
            </a:r>
            <a:r>
              <a:rPr lang="ko-KR" altLang="en-US" dirty="0"/>
              <a:t> </a:t>
            </a:r>
            <a:r>
              <a:rPr lang="en-US" altLang="ko-KR" dirty="0"/>
              <a:t>find</a:t>
            </a:r>
            <a:r>
              <a:rPr lang="ko-KR" altLang="en-US" dirty="0"/>
              <a:t> </a:t>
            </a:r>
            <a:r>
              <a:rPr lang="en-US" altLang="ko-KR" dirty="0"/>
              <a:t>human</a:t>
            </a:r>
            <a:r>
              <a:rPr lang="ko-KR" altLang="en-US" dirty="0"/>
              <a:t> </a:t>
            </a:r>
            <a:r>
              <a:rPr lang="en-US" altLang="ko-KR" dirty="0"/>
              <a:t>body</a:t>
            </a:r>
            <a:r>
              <a:rPr lang="ko-KR" altLang="en-US" dirty="0"/>
              <a:t> </a:t>
            </a:r>
            <a:r>
              <a:rPr lang="en-US" altLang="ko-KR" dirty="0"/>
              <a:t>shape</a:t>
            </a:r>
            <a:r>
              <a:rPr lang="ko-KR" altLang="en-US" dirty="0"/>
              <a:t> </a:t>
            </a:r>
            <a:r>
              <a:rPr lang="en-US" altLang="ko-KR" dirty="0"/>
              <a:t>that</a:t>
            </a:r>
            <a:r>
              <a:rPr lang="ko-KR" altLang="en-US" dirty="0"/>
              <a:t> </a:t>
            </a:r>
            <a:r>
              <a:rPr lang="en-US" altLang="ko-KR" dirty="0"/>
              <a:t>best</a:t>
            </a:r>
            <a:r>
              <a:rPr lang="ko-KR" altLang="en-US" dirty="0"/>
              <a:t> </a:t>
            </a:r>
            <a:r>
              <a:rPr lang="en-US" altLang="ko-KR" dirty="0"/>
              <a:t>fits</a:t>
            </a:r>
            <a:r>
              <a:rPr lang="ko-KR" altLang="en-US" dirty="0"/>
              <a:t> </a:t>
            </a:r>
            <a:r>
              <a:rPr lang="en-US" altLang="ko-KR" dirty="0"/>
              <a:t>the</a:t>
            </a:r>
            <a:r>
              <a:rPr lang="ko-KR" altLang="en-US" dirty="0"/>
              <a:t> </a:t>
            </a:r>
            <a:r>
              <a:rPr lang="en-US" altLang="ko-KR" dirty="0"/>
              <a:t>scan</a:t>
            </a:r>
          </a:p>
          <a:p>
            <a:r>
              <a:rPr lang="en-US" altLang="ko-KR" dirty="0"/>
              <a:t>Transform current model μ into relative rotation encoding m</a:t>
            </a:r>
          </a:p>
          <a:p>
            <a:r>
              <a:rPr lang="en-US" altLang="ko-KR" dirty="0"/>
              <a:t>Then the model is projected into the space using Eq. (4)</a:t>
            </a:r>
          </a:p>
          <a:p>
            <a:r>
              <a:rPr lang="en-US" altLang="ko-KR" dirty="0"/>
              <a:t>W</a:t>
            </a:r>
            <a:r>
              <a:rPr lang="en-US" altLang="ko-KR" baseline="30000" dirty="0"/>
              <a:t>+</a:t>
            </a:r>
            <a:r>
              <a:rPr lang="en-US" altLang="ko-KR" dirty="0"/>
              <a:t> is precomputed</a:t>
            </a:r>
          </a:p>
          <a:p>
            <a:r>
              <a:rPr lang="en-US" altLang="ko-KR" dirty="0"/>
              <a:t>The result is a closest fit of μ in the space of human body shapes</a:t>
            </a:r>
          </a:p>
          <a:p>
            <a:r>
              <a:rPr lang="en-US" altLang="ko-KR" dirty="0"/>
              <a:t>Reconstruct μ’ from s using Eq.(1)                 with [19] yields humanized model in Euclidean space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81F7034-2008-4787-A3F9-AFD10C958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99AD3E1-D3CC-4A2C-AFCE-3F1C061A246E}" type="datetime1">
              <a:rPr lang="ko-KR" altLang="en-US" smtClean="0"/>
              <a:t>2018-07-04</a:t>
            </a:fld>
            <a:endParaRPr lang="en-US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4E6929B-D152-4D08-BF3C-193D739F8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57F253-BFD6-4B06-BA72-D88E120B01E7}" type="slidenum">
              <a:rPr lang="en-US" altLang="ko-KR" smtClean="0"/>
              <a:pPr>
                <a:defRPr/>
              </a:pPr>
              <a:t>11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F330402-BAC4-4DB3-8B68-3A893B3137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8028" y="3807144"/>
            <a:ext cx="3236766" cy="58038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73D7D14-A393-4E32-9864-646BC5DFA1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1906" y="6229507"/>
            <a:ext cx="1940587" cy="626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1194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FB97BE-ED3E-401D-8CD4-3AF40B27F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3.Fitting Error Evaluation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BD4511-B0FC-4252-856A-30C7B679AF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Calculate mean length q’ of the matches </a:t>
            </a:r>
          </a:p>
          <a:p>
            <a:r>
              <a:rPr lang="en-US" altLang="ko-KR" dirty="0"/>
              <a:t>If q’ is lower than q, continue with alignment step</a:t>
            </a:r>
          </a:p>
          <a:p>
            <a:r>
              <a:rPr lang="en-US" altLang="ko-KR" dirty="0"/>
              <a:t>Otherwise Laplacian deformation is repeated with reduced weights for matches</a:t>
            </a:r>
          </a:p>
          <a:p>
            <a:r>
              <a:rPr lang="en-US" altLang="ko-KR" dirty="0"/>
              <a:t>After fixed number of iterations with q’&gt;q the algorithm terminates</a:t>
            </a:r>
          </a:p>
          <a:p>
            <a:endParaRPr lang="en-US" altLang="ko-KR" dirty="0"/>
          </a:p>
          <a:p>
            <a:r>
              <a:rPr lang="en-US" altLang="ko-KR" dirty="0"/>
              <a:t>Few markers are placed manually on the target surface and these are fixed in the same algorithm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CD06FA-CB5C-4DA8-B315-08922FD4E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99AD3E1-D3CC-4A2C-AFCE-3F1C061A246E}" type="datetime1">
              <a:rPr lang="ko-KR" altLang="en-US" smtClean="0"/>
              <a:t>2018-07-04</a:t>
            </a:fld>
            <a:endParaRPr lang="en-US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BBA54E2-BF05-4F16-85F0-782986BAF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57F253-BFD6-4B06-BA72-D88E120B01E7}" type="slidenum">
              <a:rPr lang="en-US" altLang="ko-KR" smtClean="0"/>
              <a:pPr>
                <a:defRPr/>
              </a:pPr>
              <a:t>12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225612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53C29B-2ADF-4ABB-BC38-7422BD11D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4.Experiments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6012651-60D1-48BB-B1A8-72BD9F6EA1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a) initial mesh(average man)</a:t>
            </a:r>
          </a:p>
          <a:p>
            <a:r>
              <a:rPr lang="en-US" altLang="ko-KR" dirty="0"/>
              <a:t>b) result of marker based fitting</a:t>
            </a:r>
          </a:p>
          <a:p>
            <a:r>
              <a:rPr lang="en-US" altLang="ko-KR" dirty="0"/>
              <a:t>c) and d) Laplace deformation followed by humanization at different points in the optimization</a:t>
            </a:r>
          </a:p>
          <a:p>
            <a:r>
              <a:rPr lang="en-US" altLang="ko-KR" dirty="0"/>
              <a:t>e) final result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9A4572-C532-4C5A-B9A6-98542D91D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99AD3E1-D3CC-4A2C-AFCE-3F1C061A246E}" type="datetime1">
              <a:rPr lang="ko-KR" altLang="en-US" smtClean="0"/>
              <a:t>2018-07-04</a:t>
            </a:fld>
            <a:endParaRPr lang="en-US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7C34A38-4D6B-4F74-B6DA-A1E5216EF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57F253-BFD6-4B06-BA72-D88E120B01E7}" type="slidenum">
              <a:rPr lang="en-US" altLang="ko-KR" smtClean="0"/>
              <a:pPr>
                <a:defRPr/>
              </a:pPr>
              <a:t>13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4CA3074-73E7-4CE0-9527-3FBA1CCB7C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8755" y="1260281"/>
            <a:ext cx="6786001" cy="325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5730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53C29B-2ADF-4ABB-BC38-7422BD11D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4.Experiments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6012651-60D1-48BB-B1A8-72BD9F6EA1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Difficult to estimate measures such as dress size or body weight of Santa because thick coat generates ambiguous situation</a:t>
            </a:r>
            <a:r>
              <a:rPr lang="ko-KR" altLang="en-US" dirty="0"/>
              <a:t> </a:t>
            </a:r>
            <a:r>
              <a:rPr lang="en-US" altLang="ko-KR" dirty="0"/>
              <a:t>even</a:t>
            </a:r>
            <a:r>
              <a:rPr lang="ko-KR" altLang="en-US" dirty="0"/>
              <a:t> </a:t>
            </a:r>
            <a:r>
              <a:rPr lang="en-US" altLang="ko-KR" dirty="0"/>
              <a:t>difficult</a:t>
            </a:r>
            <a:r>
              <a:rPr lang="ko-KR" altLang="en-US" dirty="0"/>
              <a:t> </a:t>
            </a:r>
            <a:r>
              <a:rPr lang="en-US" altLang="ko-KR" dirty="0"/>
              <a:t>for</a:t>
            </a:r>
            <a:r>
              <a:rPr lang="ko-KR" altLang="en-US" dirty="0"/>
              <a:t> </a:t>
            </a:r>
            <a:r>
              <a:rPr lang="en-US" altLang="ko-KR" dirty="0"/>
              <a:t>humans</a:t>
            </a:r>
            <a:r>
              <a:rPr lang="ko-KR" altLang="en-US" dirty="0"/>
              <a:t> </a:t>
            </a:r>
            <a:r>
              <a:rPr lang="en-US" altLang="ko-KR" dirty="0"/>
              <a:t>to</a:t>
            </a:r>
            <a:r>
              <a:rPr lang="ko-KR" altLang="en-US" dirty="0"/>
              <a:t> </a:t>
            </a:r>
            <a:r>
              <a:rPr lang="en-US" altLang="ko-KR" dirty="0"/>
              <a:t>resolve</a:t>
            </a:r>
          </a:p>
          <a:p>
            <a:r>
              <a:rPr lang="en-US" altLang="ko-KR" dirty="0"/>
              <a:t>Some measures can be recovered quite well</a:t>
            </a:r>
          </a:p>
          <a:p>
            <a:pPr lvl="1"/>
            <a:r>
              <a:rPr lang="en-US" altLang="ko-KR" dirty="0"/>
              <a:t>Length of arms and legs and total height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9A4572-C532-4C5A-B9A6-98542D91D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99AD3E1-D3CC-4A2C-AFCE-3F1C061A246E}" type="datetime1">
              <a:rPr lang="ko-KR" altLang="en-US" smtClean="0"/>
              <a:t>2018-07-04</a:t>
            </a:fld>
            <a:endParaRPr lang="en-US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7C34A38-4D6B-4F74-B6DA-A1E5216EF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57F253-BFD6-4B06-BA72-D88E120B01E7}" type="slidenum">
              <a:rPr lang="en-US" altLang="ko-KR" smtClean="0"/>
              <a:pPr>
                <a:defRPr/>
              </a:pPr>
              <a:t>14</a:t>
            </a:fld>
            <a:endParaRPr lang="en-US" altLang="ko-KR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CB81921-583A-4D3D-91FE-0DBCF86388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8755" y="1188271"/>
            <a:ext cx="6786001" cy="32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8718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53C29B-2ADF-4ABB-BC38-7422BD11D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4.Experiments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6012651-60D1-48BB-B1A8-72BD9F6EA1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a) input scan</a:t>
            </a:r>
          </a:p>
          <a:p>
            <a:r>
              <a:rPr lang="en-US" altLang="ko-KR" dirty="0"/>
              <a:t>b) skeleton based initial guess</a:t>
            </a:r>
          </a:p>
          <a:p>
            <a:r>
              <a:rPr lang="en-US" altLang="ko-KR" dirty="0"/>
              <a:t>c) surface fitting result using b)</a:t>
            </a:r>
          </a:p>
          <a:p>
            <a:r>
              <a:rPr lang="en-US" altLang="ko-KR" dirty="0"/>
              <a:t>d) initial guess generated by our system</a:t>
            </a:r>
          </a:p>
          <a:p>
            <a:r>
              <a:rPr lang="en-US" altLang="ko-KR" dirty="0"/>
              <a:t>e) final surface fitting result</a:t>
            </a:r>
          </a:p>
          <a:p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9A4572-C532-4C5A-B9A6-98542D91D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99AD3E1-D3CC-4A2C-AFCE-3F1C061A246E}" type="datetime1">
              <a:rPr lang="ko-KR" altLang="en-US" smtClean="0"/>
              <a:t>2018-07-04</a:t>
            </a:fld>
            <a:endParaRPr lang="en-US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7C34A38-4D6B-4F74-B6DA-A1E5216EF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57F253-BFD6-4B06-BA72-D88E120B01E7}" type="slidenum">
              <a:rPr lang="en-US" altLang="ko-KR" smtClean="0"/>
              <a:pPr>
                <a:defRPr/>
              </a:pPr>
              <a:t>15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4A5A9D3-1A25-44D3-A3D8-CA73330C9E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8755" y="1692341"/>
            <a:ext cx="6786001" cy="165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874970"/>
      </p:ext>
    </p:extLst>
  </p:cSld>
  <p:clrMapOvr>
    <a:masterClrMapping/>
  </p:clrMapOvr>
</p:sld>
</file>

<file path=ppt/theme/theme1.xml><?xml version="1.0" encoding="utf-8"?>
<a:theme xmlns:a="http://schemas.openxmlformats.org/drawingml/2006/main" name="Sanghun Park">
  <a:themeElements>
    <a:clrScheme name="Sanghun Par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anghun Park">
      <a:majorFont>
        <a:latin typeface="HY바다M"/>
        <a:ea typeface="HY바다M"/>
        <a:cs typeface=""/>
      </a:majorFont>
      <a:minorFont>
        <a:latin typeface="HY바다M"/>
        <a:ea typeface="HY바다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charset="-127"/>
            <a:ea typeface="굴림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charset="-127"/>
            <a:ea typeface="굴림" charset="-127"/>
          </a:defRPr>
        </a:defPPr>
      </a:lstStyle>
    </a:lnDef>
  </a:objectDefaults>
  <a:extraClrSchemeLst>
    <a:extraClrScheme>
      <a:clrScheme name="Sanghun Par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nghun Par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nghun Par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nghun Par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nghun Par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nghun Par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anghun Par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anghun Par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anghun Par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anghun Par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anghun Par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anghun Par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12276</TotalTime>
  <Words>959</Words>
  <Application>Microsoft Office PowerPoint</Application>
  <PresentationFormat>사용자 지정</PresentationFormat>
  <Paragraphs>149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3" baseType="lpstr">
      <vt:lpstr>HY강B</vt:lpstr>
      <vt:lpstr>HY강M</vt:lpstr>
      <vt:lpstr>HY바다M</vt:lpstr>
      <vt:lpstr>굴림</vt:lpstr>
      <vt:lpstr>맑은 고딕</vt:lpstr>
      <vt:lpstr>Helvetica</vt:lpstr>
      <vt:lpstr>Wingdings</vt:lpstr>
      <vt:lpstr>Sanghun Park</vt:lpstr>
      <vt:lpstr>Estimating body shape of dressed humans</vt:lpstr>
      <vt:lpstr>1.Introduction</vt:lpstr>
      <vt:lpstr>2.Human body space</vt:lpstr>
      <vt:lpstr>2.1Model representation</vt:lpstr>
      <vt:lpstr>2.1Model representation</vt:lpstr>
      <vt:lpstr>2.1Model representation</vt:lpstr>
      <vt:lpstr>2.1Model representation</vt:lpstr>
      <vt:lpstr>3.Fitting</vt:lpstr>
      <vt:lpstr>3.Fitting Step 1 Alignment</vt:lpstr>
      <vt:lpstr>3.Fitting Step 2 Laplacian deformation</vt:lpstr>
      <vt:lpstr>3.Fitting Step 3 Humanization</vt:lpstr>
      <vt:lpstr>3.Fitting Error Evaluation</vt:lpstr>
      <vt:lpstr>4.Experiments</vt:lpstr>
      <vt:lpstr>4.Experiments</vt:lpstr>
      <vt:lpstr>4.Experiments</vt:lpstr>
    </vt:vector>
  </TitlesOfParts>
  <Company>Catholic University of Daegu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Sanghun Park</dc:creator>
  <cp:lastModifiedBy>정재련</cp:lastModifiedBy>
  <cp:revision>2348</cp:revision>
  <cp:lastPrinted>2014-05-13T12:45:55Z</cp:lastPrinted>
  <dcterms:created xsi:type="dcterms:W3CDTF">2003-02-11T01:26:29Z</dcterms:created>
  <dcterms:modified xsi:type="dcterms:W3CDTF">2018-07-04T09:53:44Z</dcterms:modified>
</cp:coreProperties>
</file>