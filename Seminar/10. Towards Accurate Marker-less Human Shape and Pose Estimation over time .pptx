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71" r:id="rId5"/>
    <p:sldId id="259" r:id="rId6"/>
    <p:sldId id="261" r:id="rId7"/>
    <p:sldId id="262" r:id="rId8"/>
    <p:sldId id="260" r:id="rId9"/>
    <p:sldId id="264" r:id="rId10"/>
    <p:sldId id="263" r:id="rId11"/>
    <p:sldId id="266" r:id="rId12"/>
    <p:sldId id="265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56B38-05E3-482B-81CE-733F9899A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B8A08C-6359-4D3B-9AC3-75881FCE9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E8C6D9-FA47-4F50-9B55-2B2405A47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EAB4-9431-40B0-811C-3B20D2146028}" type="datetimeFigureOut">
              <a:rPr lang="ko-KR" altLang="en-US" smtClean="0"/>
              <a:t>2018-06-05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3B88A0-E1B8-43FF-82C4-6810CA2F9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162F7F-6FD7-4655-AAB9-84DA1224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D0A6-3234-493A-8DFB-F0B2D635A9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31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35F28-DCAA-494A-BD85-C1907FD62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083B63-4ECF-444E-A4C3-93B736E1D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DBE499-770D-4956-87C3-A1E268AF9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EAB4-9431-40B0-811C-3B20D2146028}" type="datetimeFigureOut">
              <a:rPr lang="ko-KR" altLang="en-US" smtClean="0"/>
              <a:t>2018-06-05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F4E05-0C42-4414-88D2-6D57EF605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3AF2BD-C387-4DFE-A9C0-D86DE7CF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D0A6-3234-493A-8DFB-F0B2D635A9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427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2D385-E130-4A23-9125-4E4085D5A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75B7BF-BD29-4850-B91B-1EBD83A62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A23885-E4E3-470A-91ED-A52374695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EAB4-9431-40B0-811C-3B20D2146028}" type="datetimeFigureOut">
              <a:rPr lang="ko-KR" altLang="en-US" smtClean="0"/>
              <a:t>2018-06-05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306D08-E9A0-45CA-BA20-75E1FE103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C99C6-64F8-492C-ADC8-7753BCB32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D0A6-3234-493A-8DFB-F0B2D635A9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8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C5989F-95DC-4AC1-A94B-2F80AB8CA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BB00DF-C892-4EAA-B84B-B9BE50D5F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003A11-8642-4031-88BB-7210501B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6AE72C-CFE9-47A8-888C-0C396AA21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EAB4-9431-40B0-811C-3B20D2146028}" type="datetimeFigureOut">
              <a:rPr lang="ko-KR" altLang="en-US" smtClean="0"/>
              <a:t>2018-06-05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FFD1A9-2AC1-42B9-8F0A-F9E423FD6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1B224B-9FC3-4C76-B972-840E2134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D0A6-3234-493A-8DFB-F0B2D635A9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920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7547F-9510-4C7C-B211-D4B68DFF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6F2D6A-71C9-419B-9ED5-978EFEE41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52ED54-A04C-4CDE-AF04-9A5430BB8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1B3884-D385-4392-8E50-79263C4567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BAD552-75DA-4870-AF8B-9D1F814570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E342971-44FB-4496-BBD1-ACCA278C2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EAB4-9431-40B0-811C-3B20D2146028}" type="datetimeFigureOut">
              <a:rPr lang="ko-KR" altLang="en-US" smtClean="0"/>
              <a:t>2018-06-05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5295552-24F1-4AFB-80FA-E5EAAE21B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30844D-E4E1-4E35-9EDF-4CAEDC1ED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D0A6-3234-493A-8DFB-F0B2D635A9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46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957E46-75D2-4C16-AE63-D95661296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9689B8-C4DE-4A0E-881E-08B6775A4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EAB4-9431-40B0-811C-3B20D2146028}" type="datetimeFigureOut">
              <a:rPr lang="ko-KR" altLang="en-US" smtClean="0"/>
              <a:t>2018-06-05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D27F20-E81E-43CD-8C43-02C4B5D8B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1518DE-C3DB-4239-B2A8-D783BC71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D0A6-3234-493A-8DFB-F0B2D635A9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861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C8EF50-EA83-44EC-8E9D-DE3D8BD25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EAB4-9431-40B0-811C-3B20D2146028}" type="datetimeFigureOut">
              <a:rPr lang="ko-KR" altLang="en-US" smtClean="0"/>
              <a:t>2018-06-05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0998F5-17F9-4CB4-9E60-FDBE9CA73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3C3FDB-7E6B-49AD-9BDC-AD3A7022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D0A6-3234-493A-8DFB-F0B2D635A9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57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96F4B-D8E9-46B8-A17F-D78277276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AB57C7-CC0A-4B3C-B714-7E8B72D48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A8DA7C-C19F-4129-9F2D-B3D5EABD2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9491E7-C0B4-4A5B-BE36-BC44A63B8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EAB4-9431-40B0-811C-3B20D2146028}" type="datetimeFigureOut">
              <a:rPr lang="ko-KR" altLang="en-US" smtClean="0"/>
              <a:t>2018-06-05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5DE4C2-337A-4346-A301-DC912E456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0616E4-9B1D-413F-9C37-95EA33F42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D0A6-3234-493A-8DFB-F0B2D635A9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38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20234-663A-4A0A-9838-AFD7F91D1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ADCD3F3-0ECF-460B-B02A-84F3F79FC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A578CE-2607-41FE-B516-BEDCFD5F1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2346FD-A825-4BEE-9303-280722E60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EAB4-9431-40B0-811C-3B20D2146028}" type="datetimeFigureOut">
              <a:rPr lang="ko-KR" altLang="en-US" smtClean="0"/>
              <a:t>2018-06-05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7CF9ED-6BF4-447D-8316-0CE9C1315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FA7978-F732-4166-9BDB-278892D9A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D0A6-3234-493A-8DFB-F0B2D635A9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6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91118-8551-419C-B7D9-B66EDEAD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223602-4920-4719-B85D-5E7DE7E79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03483C-727A-4F09-8858-2039D4D5A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EAB4-9431-40B0-811C-3B20D2146028}" type="datetimeFigureOut">
              <a:rPr lang="ko-KR" altLang="en-US" smtClean="0"/>
              <a:t>2018-06-05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3B1808-29E2-4AE0-BE8A-CBCB5A043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E42AC9-42CF-47EB-B757-845DB283E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D0A6-3234-493A-8DFB-F0B2D635A9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57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DD1A353-73B8-49F1-806B-AE5EC2F77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243921-5C2A-468E-AA56-3E4BF2508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F0AB03-F957-47D2-A832-9E4B8F1E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EAB4-9431-40B0-811C-3B20D2146028}" type="datetimeFigureOut">
              <a:rPr lang="ko-KR" altLang="en-US" smtClean="0"/>
              <a:t>2018-06-05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3B86BC-B887-4206-96D0-77A66ED0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357E4A-BCD8-4823-B954-EC1A8334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D0A6-3234-493A-8DFB-F0B2D635A9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709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CA20B4-DD79-41CC-8EEE-9DAF690D8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A05074-CB03-498B-AEAC-780244A63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3ED12A-C63D-4170-9CBA-0D152ADA0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3EAB4-9431-40B0-811C-3B20D2146028}" type="datetimeFigureOut">
              <a:rPr lang="ko-KR" altLang="en-US" smtClean="0"/>
              <a:t>2018-06-05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16CE6C-2278-4457-ACA4-56D77EDA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107884-6C43-49CE-98D6-1231F4A81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CD0A6-3234-493A-8DFB-F0B2D635A9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355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BC5495-6EBC-4723-A515-4CD8B8EBA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0634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ko-KR" sz="4000"/>
              <a:t>Towards Accurate Marker-less Human Shape and Pose Estimation over Time</a:t>
            </a:r>
            <a:endParaRPr lang="ko-KR" altLang="en-US" sz="40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B19F75-07EC-4830-A9AF-3864314B0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90309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sz="1200"/>
              <a:t>Yinghao Huang1, Federica Bogo2, Christoph Lassner3,∗, Angjoo Kanazawa4 Peter V. Gehler5,∗, Javier Romero3, Ijaz Akhter6, Michael J. Black1</a:t>
            </a:r>
          </a:p>
          <a:p>
            <a:r>
              <a:rPr lang="en-US" altLang="ko-KR" sz="1200"/>
              <a:t>1Max Planck Institute for Intelligent Systems, T¨ubingen, Germany 2Microsoft, 3Body Labs Inc., 4UC Berkeley 5University of W¨urzburg, 6Australian National University</a:t>
            </a:r>
            <a:endParaRPr lang="ko-KR" altLang="en-US" sz="12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2725DD-CBB6-4E54-BBC9-2D45594C5977}"/>
              </a:ext>
            </a:extLst>
          </p:cNvPr>
          <p:cNvSpPr/>
          <p:nvPr/>
        </p:nvSpPr>
        <p:spPr>
          <a:xfrm>
            <a:off x="3838010" y="4209067"/>
            <a:ext cx="45159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arXiv:1707.07548v4  [cs.CV]  20 Dec 2017</a:t>
            </a:r>
          </a:p>
        </p:txBody>
      </p:sp>
    </p:spTree>
    <p:extLst>
      <p:ext uri="{BB962C8B-B14F-4D97-AF65-F5344CB8AC3E}">
        <p14:creationId xmlns:p14="http://schemas.microsoft.com/office/powerpoint/2010/main" val="1461751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F25E60B-FC12-4E55-862E-A342F2E61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864" y="1282700"/>
            <a:ext cx="5875836" cy="265578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0DEB85D-C738-4800-9203-F53230DBDC46}"/>
              </a:ext>
            </a:extLst>
          </p:cNvPr>
          <p:cNvSpPr/>
          <p:nvPr/>
        </p:nvSpPr>
        <p:spPr>
          <a:xfrm>
            <a:off x="2780695" y="5740384"/>
            <a:ext cx="68338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DeepCut predict 2D body </a:t>
            </a:r>
            <a:r>
              <a:rPr lang="en-US" altLang="ko-KR">
                <a:solidFill>
                  <a:srgbClr val="FF0000"/>
                </a:solidFill>
              </a:rPr>
              <a:t>joints</a:t>
            </a:r>
            <a:r>
              <a:rPr lang="en-US" altLang="ko-KR"/>
              <a:t> – provide confidence value</a:t>
            </a:r>
          </a:p>
          <a:p>
            <a:r>
              <a:rPr lang="en-US" altLang="ko-KR"/>
              <a:t>Fit 3D body model minimize weighted error term using SMPL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143302-C250-4D80-90F9-924069E0E4C4}"/>
              </a:ext>
            </a:extLst>
          </p:cNvPr>
          <p:cNvSpPr/>
          <p:nvPr/>
        </p:nvSpPr>
        <p:spPr>
          <a:xfrm>
            <a:off x="403813" y="342188"/>
            <a:ext cx="113843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/>
              <a:t>This paper is an </a:t>
            </a:r>
            <a:r>
              <a:rPr lang="ko-KR" altLang="en-US" sz="2400">
                <a:solidFill>
                  <a:srgbClr val="FF0000"/>
                </a:solidFill>
              </a:rPr>
              <a:t>extended version </a:t>
            </a:r>
            <a:r>
              <a:rPr lang="ko-KR" altLang="en-US" sz="2400"/>
              <a:t>of </a:t>
            </a:r>
            <a:r>
              <a:rPr lang="en-US" altLang="ko-KR" sz="2400"/>
              <a:t>“</a:t>
            </a:r>
            <a:r>
              <a:rPr lang="en-US" altLang="ko-KR" sz="2400">
                <a:solidFill>
                  <a:srgbClr val="FF0000"/>
                </a:solidFill>
              </a:rPr>
              <a:t>Keep it SMPL</a:t>
            </a:r>
            <a:r>
              <a:rPr lang="en-US" altLang="ko-KR" sz="2400"/>
              <a:t>: Automatic Estimation of 3D Human Pose and Shape from a Single Image”</a:t>
            </a:r>
            <a:r>
              <a:rPr lang="ko-KR" altLang="en-US" sz="2400"/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63434A6-E43F-4900-86BA-3AA0392D9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1429857"/>
            <a:ext cx="5028929" cy="22050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F660F28-F95D-46A2-96AA-3C8DEAABC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999" y="3910564"/>
            <a:ext cx="7139730" cy="165063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C54476-7A97-4BBD-9B33-D5A7A6CE42BC}"/>
              </a:ext>
            </a:extLst>
          </p:cNvPr>
          <p:cNvSpPr/>
          <p:nvPr/>
        </p:nvSpPr>
        <p:spPr>
          <a:xfrm>
            <a:off x="505413" y="1282700"/>
            <a:ext cx="11191287" cy="5283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280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4B0C67-8697-4F87-B886-3F5102954593}"/>
              </a:ext>
            </a:extLst>
          </p:cNvPr>
          <p:cNvSpPr txBox="1"/>
          <p:nvPr/>
        </p:nvSpPr>
        <p:spPr>
          <a:xfrm>
            <a:off x="533400" y="1779538"/>
            <a:ext cx="11099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Anyway, This paper consists of a combination of the techniques mentioned below.</a:t>
            </a:r>
            <a:endParaRPr lang="en-US" altLang="ko-KR" sz="2400" b="1"/>
          </a:p>
          <a:p>
            <a:endParaRPr lang="en-US" altLang="ko-KR" sz="2400" b="1"/>
          </a:p>
          <a:p>
            <a:r>
              <a:rPr lang="en-US" altLang="ko-KR" sz="2400" b="1"/>
              <a:t>Deepcut</a:t>
            </a:r>
            <a:r>
              <a:rPr lang="en-US" altLang="ko-KR" sz="2400"/>
              <a:t> : Joint subset partition and labeling for multi person pose estimation. </a:t>
            </a:r>
          </a:p>
          <a:p>
            <a:r>
              <a:rPr lang="en-US" altLang="ko-KR" sz="2400" b="1"/>
              <a:t>Unite the people </a:t>
            </a:r>
            <a:r>
              <a:rPr lang="en-US" altLang="ko-KR" sz="2400"/>
              <a:t>: Closing the loop between 3D and 2D human representations.</a:t>
            </a:r>
          </a:p>
          <a:p>
            <a:r>
              <a:rPr lang="en-US" altLang="ko-KR" sz="2400" b="1"/>
              <a:t>SMPL</a:t>
            </a:r>
            <a:r>
              <a:rPr lang="en-US" altLang="ko-KR" sz="2400"/>
              <a:t> : A skinned multi-person linear model</a:t>
            </a:r>
          </a:p>
          <a:p>
            <a:r>
              <a:rPr lang="en-US" altLang="ko-KR" sz="2400" b="1"/>
              <a:t>Powell’s dogleg method : </a:t>
            </a:r>
            <a:r>
              <a:rPr lang="en-US" altLang="ko-KR" sz="2400"/>
              <a:t>Numerical optimization: Springer science &amp; business media.</a:t>
            </a:r>
          </a:p>
          <a:p>
            <a:r>
              <a:rPr lang="en-US" altLang="ko-KR" sz="2400" b="1"/>
              <a:t>DCT</a:t>
            </a:r>
            <a:r>
              <a:rPr lang="en-US" altLang="ko-KR" sz="2400"/>
              <a:t> : Bilinear spatiotemporal basis models. </a:t>
            </a:r>
          </a:p>
          <a:p>
            <a:r>
              <a:rPr lang="ko-KR" altLang="en-US" sz="2400"/>
              <a:t>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CFD693-54E6-408A-947B-19BC42B9E307}"/>
              </a:ext>
            </a:extLst>
          </p:cNvPr>
          <p:cNvSpPr/>
          <p:nvPr/>
        </p:nvSpPr>
        <p:spPr>
          <a:xfrm>
            <a:off x="2454510" y="680058"/>
            <a:ext cx="4272773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ko-KR" sz="2400">
                <a:solidFill>
                  <a:srgbClr val="FF0000"/>
                </a:solidFill>
              </a:rPr>
              <a:t>Keep it SMPL(only use joints)</a:t>
            </a:r>
            <a:endParaRPr lang="ko-KR" alt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451AA-67EB-40AD-8103-AA1016812A35}"/>
              </a:ext>
            </a:extLst>
          </p:cNvPr>
          <p:cNvSpPr txBox="1"/>
          <p:nvPr/>
        </p:nvSpPr>
        <p:spPr>
          <a:xfrm>
            <a:off x="6727283" y="688124"/>
            <a:ext cx="49059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+ silhouette + processing several consecutive frames   </a:t>
            </a:r>
            <a:endParaRPr lang="ko-KR" alt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32F01-D564-4C18-925A-51BD72961D58}"/>
              </a:ext>
            </a:extLst>
          </p:cNvPr>
          <p:cNvSpPr txBox="1"/>
          <p:nvPr/>
        </p:nvSpPr>
        <p:spPr>
          <a:xfrm>
            <a:off x="533400" y="680058"/>
            <a:ext cx="2120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This paper = 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230635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9F5B8C4-55A9-4FEC-8CE6-43C65A0564C1}"/>
              </a:ext>
            </a:extLst>
          </p:cNvPr>
          <p:cNvSpPr/>
          <p:nvPr/>
        </p:nvSpPr>
        <p:spPr>
          <a:xfrm>
            <a:off x="908050" y="1111935"/>
            <a:ext cx="10375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/>
              <a:t>I</a:t>
            </a:r>
            <a:r>
              <a:rPr lang="ko-KR" altLang="en-US" sz="2400"/>
              <a:t> will explain step by step according to the order of the algorithm.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E8752D-0553-4F2C-B143-BC818E1D0407}"/>
              </a:ext>
            </a:extLst>
          </p:cNvPr>
          <p:cNvSpPr/>
          <p:nvPr/>
        </p:nvSpPr>
        <p:spPr>
          <a:xfrm>
            <a:off x="5118100" y="1914436"/>
            <a:ext cx="19558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b="1">
                <a:solidFill>
                  <a:schemeClr val="accent1"/>
                </a:solidFill>
              </a:rPr>
              <a:t>Step1</a:t>
            </a:r>
          </a:p>
          <a:p>
            <a:r>
              <a:rPr lang="en-US" altLang="ko-KR" sz="3200" b="1">
                <a:solidFill>
                  <a:schemeClr val="accent1"/>
                </a:solidFill>
              </a:rPr>
              <a:t>Step2</a:t>
            </a:r>
          </a:p>
          <a:p>
            <a:r>
              <a:rPr lang="en-US" altLang="ko-KR" sz="3200" b="1">
                <a:solidFill>
                  <a:schemeClr val="accent1"/>
                </a:solidFill>
              </a:rPr>
              <a:t>Step3</a:t>
            </a:r>
          </a:p>
          <a:p>
            <a:r>
              <a:rPr lang="en-US" altLang="ko-KR" sz="3200" b="1">
                <a:solidFill>
                  <a:schemeClr val="accent1"/>
                </a:solidFill>
              </a:rPr>
              <a:t>Step4</a:t>
            </a:r>
            <a:endParaRPr lang="ko-KR" altLang="en-US" sz="3200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232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687F3A2-1542-4CBF-9520-BC17C8046614}"/>
              </a:ext>
            </a:extLst>
          </p:cNvPr>
          <p:cNvSpPr txBox="1"/>
          <p:nvPr/>
        </p:nvSpPr>
        <p:spPr>
          <a:xfrm>
            <a:off x="476250" y="247650"/>
            <a:ext cx="1724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solidFill>
                  <a:schemeClr val="accent1"/>
                </a:solidFill>
              </a:rPr>
              <a:t>Step1</a:t>
            </a:r>
            <a:endParaRPr lang="ko-KR" altLang="en-US" sz="3200" b="1">
              <a:solidFill>
                <a:schemeClr val="accent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1BEB5B2-BE41-4746-963F-7C28E7E7DE9B}"/>
              </a:ext>
            </a:extLst>
          </p:cNvPr>
          <p:cNvSpPr/>
          <p:nvPr/>
        </p:nvSpPr>
        <p:spPr>
          <a:xfrm>
            <a:off x="5637372" y="5044410"/>
            <a:ext cx="45665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/>
              <a:t>500x500 images</a:t>
            </a:r>
          </a:p>
          <a:p>
            <a:r>
              <a:rPr lang="en-US" altLang="ko-KR" sz="2400"/>
              <a:t>(HumenEva dataset[42])</a:t>
            </a:r>
          </a:p>
          <a:p>
            <a:r>
              <a:rPr lang="en-US" altLang="ko-KR" sz="2400"/>
              <a:t>4 views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0C5F8BB-03C1-47CD-A5B3-CD783998A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900" y="1213425"/>
            <a:ext cx="3455047" cy="25680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24D6D25-6C4C-4E73-94D9-936BA0AC4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224" y="1558214"/>
            <a:ext cx="3455047" cy="25680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A4EFB8D6-52D3-4C62-A015-1C3161556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51" y="1927901"/>
            <a:ext cx="3455047" cy="25680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BD7B45F7-7F91-4DA3-9447-56D74D73A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078" y="2375576"/>
            <a:ext cx="3455047" cy="2568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A076DFD-F33D-4BDC-8DB8-4D4F07509DCB}"/>
              </a:ext>
            </a:extLst>
          </p:cNvPr>
          <p:cNvSpPr txBox="1"/>
          <p:nvPr/>
        </p:nvSpPr>
        <p:spPr>
          <a:xfrm>
            <a:off x="3196026" y="693322"/>
            <a:ext cx="157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input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6589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F579E155-D3C3-4CAE-BAFA-6E05B5956F0F}"/>
              </a:ext>
            </a:extLst>
          </p:cNvPr>
          <p:cNvGrpSpPr/>
          <p:nvPr/>
        </p:nvGrpSpPr>
        <p:grpSpPr>
          <a:xfrm>
            <a:off x="1723247" y="1567234"/>
            <a:ext cx="4372753" cy="3250196"/>
            <a:chOff x="2586377" y="483449"/>
            <a:chExt cx="4372753" cy="325019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CAB4619-D8CF-4A56-A259-70764BFD3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6377" y="483449"/>
              <a:ext cx="4372753" cy="3250196"/>
            </a:xfrm>
            <a:prstGeom prst="rect">
              <a:avLst/>
            </a:prstGeom>
          </p:spPr>
        </p:pic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33FDC778-5754-4324-A093-F42C23772AC8}"/>
                </a:ext>
              </a:extLst>
            </p:cNvPr>
            <p:cNvSpPr/>
            <p:nvPr/>
          </p:nvSpPr>
          <p:spPr>
            <a:xfrm>
              <a:off x="3470770" y="1872524"/>
              <a:ext cx="84064" cy="8406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5CF01D-B18F-4084-8745-5AFAB438F3E3}"/>
                </a:ext>
              </a:extLst>
            </p:cNvPr>
            <p:cNvSpPr/>
            <p:nvPr/>
          </p:nvSpPr>
          <p:spPr>
            <a:xfrm>
              <a:off x="3607266" y="1615261"/>
              <a:ext cx="84064" cy="8406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BAD90D0-CFDE-4FB9-99CC-260499DECE83}"/>
                </a:ext>
              </a:extLst>
            </p:cNvPr>
            <p:cNvSpPr/>
            <p:nvPr/>
          </p:nvSpPr>
          <p:spPr>
            <a:xfrm>
              <a:off x="3779694" y="2608488"/>
              <a:ext cx="84064" cy="8406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B099B056-EBF2-4E97-BDAD-DB45600F1E8F}"/>
                </a:ext>
              </a:extLst>
            </p:cNvPr>
            <p:cNvSpPr/>
            <p:nvPr/>
          </p:nvSpPr>
          <p:spPr>
            <a:xfrm>
              <a:off x="3886584" y="2559954"/>
              <a:ext cx="84064" cy="8406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8114907-E721-4AE7-B47B-694EB4084875}"/>
                </a:ext>
              </a:extLst>
            </p:cNvPr>
            <p:cNvSpPr/>
            <p:nvPr/>
          </p:nvSpPr>
          <p:spPr>
            <a:xfrm>
              <a:off x="3820400" y="2229029"/>
              <a:ext cx="84064" cy="8406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A658A241-0BB6-4026-BBE6-CB3952A74B55}"/>
                </a:ext>
              </a:extLst>
            </p:cNvPr>
            <p:cNvSpPr/>
            <p:nvPr/>
          </p:nvSpPr>
          <p:spPr>
            <a:xfrm>
              <a:off x="3733101" y="2214552"/>
              <a:ext cx="84064" cy="8406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140152E-00CC-4BC0-B7BB-CFE7F0381792}"/>
                </a:ext>
              </a:extLst>
            </p:cNvPr>
            <p:cNvSpPr/>
            <p:nvPr/>
          </p:nvSpPr>
          <p:spPr>
            <a:xfrm>
              <a:off x="3657600" y="1405028"/>
              <a:ext cx="84064" cy="8406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1E105E0-DCA1-4905-A0D8-47B2F936011B}"/>
                </a:ext>
              </a:extLst>
            </p:cNvPr>
            <p:cNvSpPr/>
            <p:nvPr/>
          </p:nvSpPr>
          <p:spPr>
            <a:xfrm>
              <a:off x="4044710" y="1930170"/>
              <a:ext cx="84064" cy="8406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F1DFAAA-AEE3-47C4-A43D-D742A6625649}"/>
                </a:ext>
              </a:extLst>
            </p:cNvPr>
            <p:cNvSpPr/>
            <p:nvPr/>
          </p:nvSpPr>
          <p:spPr>
            <a:xfrm>
              <a:off x="3987339" y="1615261"/>
              <a:ext cx="84064" cy="8406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4C79AB10-1423-4CE8-8480-35FD08B98F25}"/>
                </a:ext>
              </a:extLst>
            </p:cNvPr>
            <p:cNvSpPr/>
            <p:nvPr/>
          </p:nvSpPr>
          <p:spPr>
            <a:xfrm>
              <a:off x="3928616" y="1376555"/>
              <a:ext cx="84064" cy="8406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713834C-E85C-4E70-88CC-E62D35291952}"/>
                </a:ext>
              </a:extLst>
            </p:cNvPr>
            <p:cNvSpPr/>
            <p:nvPr/>
          </p:nvSpPr>
          <p:spPr>
            <a:xfrm>
              <a:off x="3733101" y="1111413"/>
              <a:ext cx="84064" cy="8406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298B17A3-B542-42C2-A1B9-0AFF6DA575F3}"/>
                </a:ext>
              </a:extLst>
            </p:cNvPr>
            <p:cNvSpPr/>
            <p:nvPr/>
          </p:nvSpPr>
          <p:spPr>
            <a:xfrm>
              <a:off x="3733101" y="1838587"/>
              <a:ext cx="84064" cy="8406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95037933-CBD2-4495-ABA2-AF67D4EC7684}"/>
                </a:ext>
              </a:extLst>
            </p:cNvPr>
            <p:cNvSpPr/>
            <p:nvPr/>
          </p:nvSpPr>
          <p:spPr>
            <a:xfrm>
              <a:off x="3885387" y="1872524"/>
              <a:ext cx="84064" cy="8406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D3BB05A-A0E0-436A-9193-7D740B557CD8}"/>
              </a:ext>
            </a:extLst>
          </p:cNvPr>
          <p:cNvGrpSpPr/>
          <p:nvPr/>
        </p:nvGrpSpPr>
        <p:grpSpPr>
          <a:xfrm>
            <a:off x="6387108" y="1567234"/>
            <a:ext cx="4372753" cy="3250196"/>
            <a:chOff x="6762558" y="468209"/>
            <a:chExt cx="4372753" cy="3250196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E865EB2F-2019-45CB-B9CB-DCA8F6B99ADC}"/>
                </a:ext>
              </a:extLst>
            </p:cNvPr>
            <p:cNvSpPr/>
            <p:nvPr/>
          </p:nvSpPr>
          <p:spPr>
            <a:xfrm>
              <a:off x="6762558" y="468209"/>
              <a:ext cx="4372753" cy="32501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/>
                <a:t>z</a:t>
              </a:r>
              <a:endParaRPr lang="ko-KR" altLang="en-US" sz="2400"/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AEDE8234-56E2-4E2B-950A-AE84096FB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3441" y="712351"/>
              <a:ext cx="3353586" cy="2489222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741CFE0-C224-42E5-9281-70CC3C9B00F0}"/>
              </a:ext>
            </a:extLst>
          </p:cNvPr>
          <p:cNvSpPr txBox="1"/>
          <p:nvPr/>
        </p:nvSpPr>
        <p:spPr>
          <a:xfrm>
            <a:off x="1723247" y="4865068"/>
            <a:ext cx="2701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Estimate 2D joints</a:t>
            </a:r>
            <a:endParaRPr lang="ko-KR" altLang="en-US" sz="2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5E8CF1-61CF-4BC5-A67A-97122EE48294}"/>
              </a:ext>
            </a:extLst>
          </p:cNvPr>
          <p:cNvSpPr txBox="1"/>
          <p:nvPr/>
        </p:nvSpPr>
        <p:spPr>
          <a:xfrm>
            <a:off x="6387108" y="4905892"/>
            <a:ext cx="4081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Segmente silhouette</a:t>
            </a:r>
            <a:endParaRPr lang="ko-KR" altLang="en-US" sz="2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5D5914-EF9A-4A1A-954D-D51E11174299}"/>
              </a:ext>
            </a:extLst>
          </p:cNvPr>
          <p:cNvSpPr txBox="1"/>
          <p:nvPr/>
        </p:nvSpPr>
        <p:spPr>
          <a:xfrm>
            <a:off x="476250" y="247650"/>
            <a:ext cx="1724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solidFill>
                  <a:srgbClr val="0070C0"/>
                </a:solidFill>
              </a:rPr>
              <a:t>Step2</a:t>
            </a:r>
            <a:endParaRPr lang="ko-KR" altLang="en-US" sz="3200" b="1">
              <a:solidFill>
                <a:srgbClr val="0070C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DBF5989-E5B7-4574-AADF-E807F7EDACA2}"/>
              </a:ext>
            </a:extLst>
          </p:cNvPr>
          <p:cNvSpPr/>
          <p:nvPr/>
        </p:nvSpPr>
        <p:spPr>
          <a:xfrm>
            <a:off x="1723247" y="1022067"/>
            <a:ext cx="62959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/>
              <a:t>Use </a:t>
            </a:r>
            <a:r>
              <a:rPr lang="en-US" altLang="ko-KR" sz="2400">
                <a:solidFill>
                  <a:srgbClr val="FF0000"/>
                </a:solidFill>
              </a:rPr>
              <a:t>DeepCut</a:t>
            </a:r>
            <a:r>
              <a:rPr lang="en-US" altLang="ko-KR" sz="2400"/>
              <a:t>[35] and Unite the people[26] 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51559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6A6B36-B71A-4F54-891C-BBE1A4FC36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665" b="87574" l="33493" r="72010">
                        <a14:foregroundMark x1="52392" y1="13807" x2="55263" y2="9665"/>
                        <a14:foregroundMark x1="47129" y1="85799" x2="47129" y2="85799"/>
                        <a14:foregroundMark x1="61483" y1="87574" x2="61483" y2="87574"/>
                        <a14:foregroundMark x1="72010" y1="33531" x2="72010" y2="33531"/>
                      </a14:backgroundRemoval>
                    </a14:imgEffect>
                  </a14:imgLayer>
                </a14:imgProps>
              </a:ext>
            </a:extLst>
          </a:blip>
          <a:srcRect l="29438" t="5970" r="23681" b="6483"/>
          <a:stretch/>
        </p:blipFill>
        <p:spPr>
          <a:xfrm>
            <a:off x="389652" y="1713364"/>
            <a:ext cx="674773" cy="1485975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BFE6CC53-94C0-401A-BA71-979C0D0272F5}"/>
              </a:ext>
            </a:extLst>
          </p:cNvPr>
          <p:cNvGrpSpPr/>
          <p:nvPr/>
        </p:nvGrpSpPr>
        <p:grpSpPr>
          <a:xfrm>
            <a:off x="3940365" y="140295"/>
            <a:ext cx="2622361" cy="1949158"/>
            <a:chOff x="4476381" y="434766"/>
            <a:chExt cx="2932571" cy="21797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EB93AD1-3993-4291-AFC8-B31176C46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76381" y="434766"/>
              <a:ext cx="2932571" cy="2179732"/>
            </a:xfrm>
            <a:prstGeom prst="rect">
              <a:avLst/>
            </a:prstGeom>
          </p:spPr>
        </p:pic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D60FC4F-1F69-4027-A095-C490C3FDC12F}"/>
                </a:ext>
              </a:extLst>
            </p:cNvPr>
            <p:cNvSpPr/>
            <p:nvPr/>
          </p:nvSpPr>
          <p:spPr>
            <a:xfrm>
              <a:off x="5069496" y="1366344"/>
              <a:ext cx="56377" cy="563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36A1ED55-6BFE-4849-9DC8-52447A34D8E8}"/>
                </a:ext>
              </a:extLst>
            </p:cNvPr>
            <p:cNvSpPr/>
            <p:nvPr/>
          </p:nvSpPr>
          <p:spPr>
            <a:xfrm>
              <a:off x="5161037" y="1193812"/>
              <a:ext cx="56377" cy="563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ABAC5CD3-813A-4675-BA50-30A6C05E1843}"/>
                </a:ext>
              </a:extLst>
            </p:cNvPr>
            <p:cNvSpPr/>
            <p:nvPr/>
          </p:nvSpPr>
          <p:spPr>
            <a:xfrm>
              <a:off x="5276675" y="1859916"/>
              <a:ext cx="56377" cy="563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3F5E5A8-A804-47A9-BDDD-2F0CB90A0FCB}"/>
                </a:ext>
              </a:extLst>
            </p:cNvPr>
            <p:cNvSpPr/>
            <p:nvPr/>
          </p:nvSpPr>
          <p:spPr>
            <a:xfrm>
              <a:off x="5348360" y="1827366"/>
              <a:ext cx="56377" cy="563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8A293D9-67FD-4ED1-8B26-BB9ED5645768}"/>
                </a:ext>
              </a:extLst>
            </p:cNvPr>
            <p:cNvSpPr/>
            <p:nvPr/>
          </p:nvSpPr>
          <p:spPr>
            <a:xfrm>
              <a:off x="5303974" y="1605433"/>
              <a:ext cx="56377" cy="563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777D559-1D5A-4A9A-80F0-F4281F04ACCE}"/>
                </a:ext>
              </a:extLst>
            </p:cNvPr>
            <p:cNvSpPr/>
            <p:nvPr/>
          </p:nvSpPr>
          <p:spPr>
            <a:xfrm>
              <a:off x="5245427" y="1595724"/>
              <a:ext cx="56377" cy="563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50E2349-987F-4912-A94A-055F7780C139}"/>
                </a:ext>
              </a:extLst>
            </p:cNvPr>
            <p:cNvSpPr/>
            <p:nvPr/>
          </p:nvSpPr>
          <p:spPr>
            <a:xfrm>
              <a:off x="5194793" y="1052820"/>
              <a:ext cx="56377" cy="563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7D157B3-7EAF-4AD4-82E6-F79C4DE0BDC3}"/>
                </a:ext>
              </a:extLst>
            </p:cNvPr>
            <p:cNvSpPr/>
            <p:nvPr/>
          </p:nvSpPr>
          <p:spPr>
            <a:xfrm>
              <a:off x="5454407" y="1405004"/>
              <a:ext cx="56377" cy="563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B395267-4B5F-48E9-BF07-7ADE478BF9F8}"/>
                </a:ext>
              </a:extLst>
            </p:cNvPr>
            <p:cNvSpPr/>
            <p:nvPr/>
          </p:nvSpPr>
          <p:spPr>
            <a:xfrm>
              <a:off x="5415931" y="1193812"/>
              <a:ext cx="56377" cy="563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DF2AB361-597F-4902-80FF-86C9CFE86A58}"/>
                </a:ext>
              </a:extLst>
            </p:cNvPr>
            <p:cNvSpPr/>
            <p:nvPr/>
          </p:nvSpPr>
          <p:spPr>
            <a:xfrm>
              <a:off x="5376549" y="1033724"/>
              <a:ext cx="56377" cy="563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71191487-00A5-40EE-BD23-B5897538B460}"/>
                </a:ext>
              </a:extLst>
            </p:cNvPr>
            <p:cNvSpPr/>
            <p:nvPr/>
          </p:nvSpPr>
          <p:spPr>
            <a:xfrm>
              <a:off x="5245427" y="855908"/>
              <a:ext cx="56377" cy="563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606B7BB-B2C3-486D-B67D-B82DBCD00069}"/>
                </a:ext>
              </a:extLst>
            </p:cNvPr>
            <p:cNvSpPr/>
            <p:nvPr/>
          </p:nvSpPr>
          <p:spPr>
            <a:xfrm>
              <a:off x="5245427" y="1343584"/>
              <a:ext cx="56377" cy="563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D4DBB30B-24DA-43C1-A4A1-0C76DD139546}"/>
                </a:ext>
              </a:extLst>
            </p:cNvPr>
            <p:cNvSpPr/>
            <p:nvPr/>
          </p:nvSpPr>
          <p:spPr>
            <a:xfrm>
              <a:off x="5347557" y="1366344"/>
              <a:ext cx="56377" cy="563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C955AF8-CFED-4807-9A55-68FEBE676F1E}"/>
              </a:ext>
            </a:extLst>
          </p:cNvPr>
          <p:cNvGrpSpPr/>
          <p:nvPr/>
        </p:nvGrpSpPr>
        <p:grpSpPr>
          <a:xfrm>
            <a:off x="3940364" y="2370497"/>
            <a:ext cx="2622361" cy="1949158"/>
            <a:chOff x="6762558" y="468209"/>
            <a:chExt cx="4372753" cy="3250196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0F0A4DD-9CC3-4856-8912-94535928F2AB}"/>
                </a:ext>
              </a:extLst>
            </p:cNvPr>
            <p:cNvSpPr/>
            <p:nvPr/>
          </p:nvSpPr>
          <p:spPr>
            <a:xfrm>
              <a:off x="6762558" y="468209"/>
              <a:ext cx="4372753" cy="32501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z</a:t>
              </a:r>
              <a:endParaRPr lang="ko-KR" altLang="en-US"/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7506E54D-F8B0-407E-AAD1-375AD2337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83441" y="712351"/>
              <a:ext cx="3353586" cy="2489222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BAB594E-C842-41CC-8597-78F3AD3689B5}"/>
              </a:ext>
            </a:extLst>
          </p:cNvPr>
          <p:cNvGrpSpPr/>
          <p:nvPr/>
        </p:nvGrpSpPr>
        <p:grpSpPr>
          <a:xfrm>
            <a:off x="2541210" y="605177"/>
            <a:ext cx="606870" cy="1336440"/>
            <a:chOff x="2154333" y="788565"/>
            <a:chExt cx="1106067" cy="2435765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B6A67578-89BD-4774-AE9D-E1EA8B8377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665" b="87574" l="33493" r="72010">
                          <a14:foregroundMark x1="52392" y1="13807" x2="55263" y2="9665"/>
                          <a14:foregroundMark x1="47129" y1="85799" x2="47129" y2="85799"/>
                          <a14:foregroundMark x1="61483" y1="87574" x2="61483" y2="87574"/>
                          <a14:foregroundMark x1="72010" y1="33531" x2="72010" y2="33531"/>
                        </a14:backgroundRemoval>
                      </a14:imgEffect>
                    </a14:imgLayer>
                  </a14:imgProps>
                </a:ext>
              </a:extLst>
            </a:blip>
            <a:srcRect l="29438" t="5970" r="23681" b="6483"/>
            <a:stretch/>
          </p:blipFill>
          <p:spPr>
            <a:xfrm>
              <a:off x="2154333" y="788565"/>
              <a:ext cx="1106067" cy="2435765"/>
            </a:xfrm>
            <a:prstGeom prst="rect">
              <a:avLst/>
            </a:prstGeom>
          </p:spPr>
        </p:pic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D795ECD-068D-4DB9-BAF1-27E1EF98347D}"/>
                </a:ext>
              </a:extLst>
            </p:cNvPr>
            <p:cNvSpPr/>
            <p:nvPr/>
          </p:nvSpPr>
          <p:spPr>
            <a:xfrm>
              <a:off x="2703720" y="819378"/>
              <a:ext cx="122688" cy="122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2BF654B7-687C-46BB-894E-7AEF476E9114}"/>
                </a:ext>
              </a:extLst>
            </p:cNvPr>
            <p:cNvSpPr/>
            <p:nvPr/>
          </p:nvSpPr>
          <p:spPr>
            <a:xfrm>
              <a:off x="2503782" y="1301985"/>
              <a:ext cx="122688" cy="122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24880B52-2487-490E-A0AF-4FC113BC97F2}"/>
                </a:ext>
              </a:extLst>
            </p:cNvPr>
            <p:cNvSpPr/>
            <p:nvPr/>
          </p:nvSpPr>
          <p:spPr>
            <a:xfrm>
              <a:off x="2820747" y="1257335"/>
              <a:ext cx="122688" cy="122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105BA0D0-3869-46E9-B53B-944583820A31}"/>
                </a:ext>
              </a:extLst>
            </p:cNvPr>
            <p:cNvSpPr/>
            <p:nvPr/>
          </p:nvSpPr>
          <p:spPr>
            <a:xfrm>
              <a:off x="2310119" y="1551050"/>
              <a:ext cx="122688" cy="122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1F8AE26-5071-49B6-B837-7C2F69B1724E}"/>
                </a:ext>
              </a:extLst>
            </p:cNvPr>
            <p:cNvSpPr/>
            <p:nvPr/>
          </p:nvSpPr>
          <p:spPr>
            <a:xfrm>
              <a:off x="3057861" y="1467267"/>
              <a:ext cx="122688" cy="122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2FF5882E-6194-45C0-98D6-436008368F14}"/>
                </a:ext>
              </a:extLst>
            </p:cNvPr>
            <p:cNvSpPr/>
            <p:nvPr/>
          </p:nvSpPr>
          <p:spPr>
            <a:xfrm>
              <a:off x="2403114" y="1191024"/>
              <a:ext cx="122688" cy="122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DDCF50FB-B298-4126-B3B2-888D30F2D125}"/>
                </a:ext>
              </a:extLst>
            </p:cNvPr>
            <p:cNvSpPr/>
            <p:nvPr/>
          </p:nvSpPr>
          <p:spPr>
            <a:xfrm>
              <a:off x="2850137" y="1150671"/>
              <a:ext cx="122688" cy="122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3F6107A7-1C42-4A5E-A68C-A65953B05ACC}"/>
                </a:ext>
              </a:extLst>
            </p:cNvPr>
            <p:cNvSpPr/>
            <p:nvPr/>
          </p:nvSpPr>
          <p:spPr>
            <a:xfrm>
              <a:off x="2448922" y="1847523"/>
              <a:ext cx="122688" cy="122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9F7A428D-F11F-4B81-B3EB-79E670165032}"/>
                </a:ext>
              </a:extLst>
            </p:cNvPr>
            <p:cNvSpPr/>
            <p:nvPr/>
          </p:nvSpPr>
          <p:spPr>
            <a:xfrm>
              <a:off x="2895419" y="1819335"/>
              <a:ext cx="122688" cy="122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559CA59-A69E-4FB7-9DE1-4D6B02B49784}"/>
                </a:ext>
              </a:extLst>
            </p:cNvPr>
            <p:cNvSpPr/>
            <p:nvPr/>
          </p:nvSpPr>
          <p:spPr>
            <a:xfrm>
              <a:off x="2536251" y="2364774"/>
              <a:ext cx="122688" cy="122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37FCC8E-6E1D-4ECB-9FE7-C74EC8DD4ABC}"/>
                </a:ext>
              </a:extLst>
            </p:cNvPr>
            <p:cNvSpPr/>
            <p:nvPr/>
          </p:nvSpPr>
          <p:spPr>
            <a:xfrm>
              <a:off x="2821463" y="2382924"/>
              <a:ext cx="122688" cy="122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6A4131C-7680-402D-8D14-4A7AF0C3B856}"/>
                </a:ext>
              </a:extLst>
            </p:cNvPr>
            <p:cNvSpPr/>
            <p:nvPr/>
          </p:nvSpPr>
          <p:spPr>
            <a:xfrm>
              <a:off x="2525802" y="2845349"/>
              <a:ext cx="122688" cy="122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CC7DA18-1FE0-4B28-99F0-FE936A49B613}"/>
                </a:ext>
              </a:extLst>
            </p:cNvPr>
            <p:cNvSpPr/>
            <p:nvPr/>
          </p:nvSpPr>
          <p:spPr>
            <a:xfrm>
              <a:off x="2840559" y="2914405"/>
              <a:ext cx="122688" cy="122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85CA5132-FFAA-47FB-B49A-2015C1EBE35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665" b="87574" l="33493" r="72010">
                        <a14:foregroundMark x1="52392" y1="13807" x2="55263" y2="9665"/>
                        <a14:foregroundMark x1="47129" y1="85799" x2="47129" y2="85799"/>
                        <a14:foregroundMark x1="61483" y1="87574" x2="61483" y2="87574"/>
                        <a14:foregroundMark x1="72010" y1="33531" x2="72010" y2="33531"/>
                      </a14:backgroundRemoval>
                    </a14:imgEffect>
                    <a14:imgEffect>
                      <a14:colorTemperature colorTemp="6300"/>
                    </a14:imgEffect>
                    <a14:imgEffect>
                      <a14:saturation sat="106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l="29438" t="5970" r="23681" b="6483"/>
          <a:stretch/>
        </p:blipFill>
        <p:spPr>
          <a:xfrm>
            <a:off x="2564947" y="2685731"/>
            <a:ext cx="555394" cy="1223080"/>
          </a:xfrm>
          <a:prstGeom prst="rect">
            <a:avLst/>
          </a:prstGeom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id="{57CC3CCD-994C-43D7-B3AF-C2384A5BB005}"/>
              </a:ext>
            </a:extLst>
          </p:cNvPr>
          <p:cNvGrpSpPr/>
          <p:nvPr/>
        </p:nvGrpSpPr>
        <p:grpSpPr>
          <a:xfrm>
            <a:off x="8097053" y="1192246"/>
            <a:ext cx="2932571" cy="2179732"/>
            <a:chOff x="8523025" y="1366486"/>
            <a:chExt cx="2932571" cy="2179732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9F5F20CD-18BC-498E-A1AE-3574AFFF5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3025" y="1366486"/>
              <a:ext cx="2932571" cy="2179732"/>
            </a:xfrm>
            <a:prstGeom prst="rect">
              <a:avLst/>
            </a:prstGeom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FC41A099-E0C5-4D97-9006-6FC15A77D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4963" b="93548" l="9290" r="88525">
                          <a14:foregroundMark x1="50820" y1="4963" x2="51366" y2="9181"/>
                          <a14:foregroundMark x1="59563" y1="10422" x2="60109" y2="11911"/>
                          <a14:foregroundMark x1="89617" y1="58313" x2="86339" y2="49380"/>
                          <a14:foregroundMark x1="59563" y1="93548" x2="66120" y2="88586"/>
                          <a14:foregroundMark x1="46448" y1="93548" x2="49727" y2="93052"/>
                          <a14:foregroundMark x1="79235" y1="56079" x2="81967" y2="5459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070821" y="1744431"/>
              <a:ext cx="515315" cy="1134820"/>
            </a:xfrm>
            <a:prstGeom prst="rect">
              <a:avLst/>
            </a:prstGeom>
          </p:spPr>
        </p:pic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EB787DF5-47D6-43D4-973F-7F42EF725E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2974" y="4644889"/>
            <a:ext cx="3790950" cy="504825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3AA215F3-6640-4999-936F-992CBFB4FE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2975" y="5179981"/>
            <a:ext cx="3164035" cy="5260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95A9DAA1-0EE1-4132-922E-6DA51361C2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5070" y="5149714"/>
            <a:ext cx="2935309" cy="7624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620AA439-154E-43C0-A4E4-73848EE244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647" y="6015147"/>
            <a:ext cx="2241509" cy="2897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AFF45DB7-1AC2-4E34-B1AC-3279C05AF7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0092" y="5993534"/>
            <a:ext cx="2874316" cy="6556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0E1B583-1163-4A36-B046-FDCE01FE92D7}"/>
              </a:ext>
            </a:extLst>
          </p:cNvPr>
          <p:cNvSpPr txBox="1"/>
          <p:nvPr/>
        </p:nvSpPr>
        <p:spPr>
          <a:xfrm>
            <a:off x="235580" y="5207757"/>
            <a:ext cx="1051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v=view</a:t>
            </a:r>
          </a:p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2D60FFD-5F0B-4391-ABCE-8AEA09661CBA}"/>
              </a:ext>
            </a:extLst>
          </p:cNvPr>
          <p:cNvSpPr/>
          <p:nvPr/>
        </p:nvSpPr>
        <p:spPr>
          <a:xfrm>
            <a:off x="2409826" y="49693"/>
            <a:ext cx="4419599" cy="217973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255FF2D-67CA-40AE-9635-77528165F857}"/>
              </a:ext>
            </a:extLst>
          </p:cNvPr>
          <p:cNvSpPr/>
          <p:nvPr/>
        </p:nvSpPr>
        <p:spPr>
          <a:xfrm>
            <a:off x="2409826" y="2266603"/>
            <a:ext cx="4419599" cy="21903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7170BFC-A9A8-43BC-9A7D-DAD4BD181CF9}"/>
              </a:ext>
            </a:extLst>
          </p:cNvPr>
          <p:cNvSpPr/>
          <p:nvPr/>
        </p:nvSpPr>
        <p:spPr>
          <a:xfrm>
            <a:off x="4676690" y="4625956"/>
            <a:ext cx="1835707" cy="4548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AC098D9-FBB8-4FBF-B062-A96A2EE50ACF}"/>
              </a:ext>
            </a:extLst>
          </p:cNvPr>
          <p:cNvSpPr/>
          <p:nvPr/>
        </p:nvSpPr>
        <p:spPr>
          <a:xfrm>
            <a:off x="3666189" y="4644889"/>
            <a:ext cx="817383" cy="33018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5FFB7AE-C4BB-4ACF-8913-89FCD76F647F}"/>
              </a:ext>
            </a:extLst>
          </p:cNvPr>
          <p:cNvSpPr txBox="1"/>
          <p:nvPr/>
        </p:nvSpPr>
        <p:spPr>
          <a:xfrm>
            <a:off x="476250" y="247650"/>
            <a:ext cx="1724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solidFill>
                  <a:srgbClr val="0070C0"/>
                </a:solidFill>
              </a:rPr>
              <a:t>Step3</a:t>
            </a:r>
            <a:endParaRPr lang="ko-KR" altLang="en-US" sz="3200" b="1">
              <a:solidFill>
                <a:srgbClr val="0070C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99E4D1-5ACE-48F1-A2CB-42232455452A}"/>
              </a:ext>
            </a:extLst>
          </p:cNvPr>
          <p:cNvSpPr txBox="1"/>
          <p:nvPr/>
        </p:nvSpPr>
        <p:spPr>
          <a:xfrm>
            <a:off x="8291379" y="4181983"/>
            <a:ext cx="37909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&gt; Optimization problems are conducted using Powell’s dogleg method[32], OpenDR[29], Chumpy[1].</a:t>
            </a:r>
          </a:p>
          <a:p>
            <a:r>
              <a:rPr lang="en-US" altLang="ko-KR" sz="2000"/>
              <a:t>&gt; 70 seconds for each frame</a:t>
            </a:r>
            <a:endParaRPr lang="ko-KR" altLang="en-US" sz="2000"/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6FC2AFCC-6055-49C7-B156-41D053ACF8A8}"/>
              </a:ext>
            </a:extLst>
          </p:cNvPr>
          <p:cNvSpPr/>
          <p:nvPr/>
        </p:nvSpPr>
        <p:spPr>
          <a:xfrm>
            <a:off x="1287263" y="2089453"/>
            <a:ext cx="783641" cy="289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화살표: 오른쪽 60">
            <a:extLst>
              <a:ext uri="{FF2B5EF4-FFF2-40B4-BE49-F238E27FC236}">
                <a16:creationId xmlns:a16="http://schemas.microsoft.com/office/drawing/2014/main" id="{F0935E4F-FB45-4668-9AA7-E3097F7DF38E}"/>
              </a:ext>
            </a:extLst>
          </p:cNvPr>
          <p:cNvSpPr/>
          <p:nvPr/>
        </p:nvSpPr>
        <p:spPr>
          <a:xfrm>
            <a:off x="7060380" y="2089453"/>
            <a:ext cx="783641" cy="289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671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602DA80-9136-46A9-929F-4DF836C58FD2}"/>
              </a:ext>
            </a:extLst>
          </p:cNvPr>
          <p:cNvSpPr/>
          <p:nvPr/>
        </p:nvSpPr>
        <p:spPr>
          <a:xfrm>
            <a:off x="622818" y="4691156"/>
            <a:ext cx="1135328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/>
              <a:t>SMPL </a:t>
            </a:r>
            <a:endParaRPr lang="en-US" altLang="ko-KR" sz="2000"/>
          </a:p>
          <a:p>
            <a:r>
              <a:rPr lang="ko-KR" altLang="en-US" sz="2000"/>
              <a:t>SMPL is deﬁned as M(β,θ;Φ), </a:t>
            </a:r>
            <a:endParaRPr lang="en-US" altLang="ko-KR" sz="2000"/>
          </a:p>
          <a:p>
            <a:r>
              <a:rPr lang="ko-KR" altLang="en-US" sz="2000"/>
              <a:t>β </a:t>
            </a:r>
            <a:r>
              <a:rPr lang="en-US" altLang="ko-KR" sz="2000"/>
              <a:t>=</a:t>
            </a:r>
            <a:r>
              <a:rPr lang="ko-KR" altLang="en-US" sz="2000"/>
              <a:t> a vector of shape parameters that are responsible for the 3D body shape due to identity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θ </a:t>
            </a:r>
            <a:r>
              <a:rPr lang="en-US" altLang="ko-KR" sz="2000"/>
              <a:t>=</a:t>
            </a:r>
            <a:r>
              <a:rPr lang="ko-KR" altLang="en-US" sz="2000"/>
              <a:t> a vector of pose parameters representing body part rotations in a kinematic tree.</a:t>
            </a:r>
            <a:endParaRPr lang="en-US" altLang="ko-KR" sz="2000"/>
          </a:p>
          <a:p>
            <a:r>
              <a:rPr lang="ko-KR" altLang="en-US" sz="2000"/>
              <a:t>Φ </a:t>
            </a:r>
            <a:r>
              <a:rPr lang="en-US" altLang="ko-KR" sz="2000"/>
              <a:t>= </a:t>
            </a:r>
            <a:r>
              <a:rPr lang="ko-KR" altLang="en-US" sz="2000"/>
              <a:t>The ﬁxed parameters</a:t>
            </a:r>
            <a:r>
              <a:rPr lang="en-US" altLang="ko-KR" sz="2000"/>
              <a:t> </a:t>
            </a:r>
            <a:r>
              <a:rPr lang="ko-KR" altLang="en-US" sz="2000"/>
              <a:t>learned from a large number  of 3D body meshes.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E6A6B36-B71A-4F54-891C-BBE1A4FC36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38" t="5970" r="23681" b="6483"/>
          <a:stretch/>
        </p:blipFill>
        <p:spPr>
          <a:xfrm>
            <a:off x="4926659" y="725581"/>
            <a:ext cx="1743075" cy="3838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F4FDEA-D2B0-432E-9DAE-12A128353A63}"/>
              </a:ext>
            </a:extLst>
          </p:cNvPr>
          <p:cNvSpPr txBox="1"/>
          <p:nvPr/>
        </p:nvSpPr>
        <p:spPr>
          <a:xfrm>
            <a:off x="476250" y="247650"/>
            <a:ext cx="1724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/>
              <a:t>SMPL</a:t>
            </a:r>
            <a:endParaRPr lang="ko-KR" altLang="en-US" sz="3200" b="1"/>
          </a:p>
        </p:txBody>
      </p:sp>
    </p:spTree>
    <p:extLst>
      <p:ext uri="{BB962C8B-B14F-4D97-AF65-F5344CB8AC3E}">
        <p14:creationId xmlns:p14="http://schemas.microsoft.com/office/powerpoint/2010/main" val="2343640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DD9BF06-34ED-429A-9B98-BDF70BF6B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46" y="1005340"/>
            <a:ext cx="5097754" cy="363706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C6496B2-5110-44EB-B520-9BFB60785704}"/>
              </a:ext>
            </a:extLst>
          </p:cNvPr>
          <p:cNvSpPr/>
          <p:nvPr/>
        </p:nvSpPr>
        <p:spPr>
          <a:xfrm>
            <a:off x="998246" y="4642403"/>
            <a:ext cx="89966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/>
              <a:t>Original and adapted trajectories</a:t>
            </a:r>
          </a:p>
          <a:p>
            <a:r>
              <a:rPr lang="en-US" altLang="ko-KR" sz="2400"/>
              <a:t>(Image from “</a:t>
            </a:r>
            <a:r>
              <a:rPr lang="en-US" altLang="ko-KR" sz="2400">
                <a:solidFill>
                  <a:srgbClr val="FF0000"/>
                </a:solidFill>
              </a:rPr>
              <a:t>Bilinear spatiotemporal basis models.[4]</a:t>
            </a:r>
            <a:r>
              <a:rPr lang="en-US" altLang="ko-KR" sz="2400"/>
              <a:t>”. </a:t>
            </a:r>
            <a:r>
              <a:rPr lang="ko-KR" altLang="en-US" sz="2400"/>
              <a:t>showing that </a:t>
            </a:r>
            <a:r>
              <a:rPr lang="en-US" altLang="ko-KR" sz="2400"/>
              <a:t>this</a:t>
            </a:r>
            <a:r>
              <a:rPr lang="ko-KR" altLang="en-US" sz="2400"/>
              <a:t> model inherently filters out high-frequency noise due to the use of DCT as a trajectory basis</a:t>
            </a:r>
            <a:r>
              <a:rPr lang="en-US" altLang="ko-KR" sz="2400"/>
              <a:t>)</a:t>
            </a:r>
            <a:endParaRPr lang="ko-KR" alt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7FD34A-BB24-4DCD-A617-C6A00CC70A5A}"/>
              </a:ext>
            </a:extLst>
          </p:cNvPr>
          <p:cNvSpPr txBox="1"/>
          <p:nvPr/>
        </p:nvSpPr>
        <p:spPr>
          <a:xfrm>
            <a:off x="476250" y="247650"/>
            <a:ext cx="1724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solidFill>
                  <a:srgbClr val="0070C0"/>
                </a:solidFill>
              </a:rPr>
              <a:t>Step4</a:t>
            </a:r>
            <a:endParaRPr lang="ko-KR" altLang="en-US" sz="3200" b="1">
              <a:solidFill>
                <a:srgbClr val="0070C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DE0849-712C-48DD-93AF-B9DD5CDB7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478" y="2913538"/>
            <a:ext cx="4105275" cy="1247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6543F7-9D59-4B71-88EF-BB380BF5BADD}"/>
              </a:ext>
            </a:extLst>
          </p:cNvPr>
          <p:cNvSpPr txBox="1"/>
          <p:nvPr/>
        </p:nvSpPr>
        <p:spPr>
          <a:xfrm>
            <a:off x="6199478" y="1109009"/>
            <a:ext cx="58832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&gt; Optimization problems are conducted using Powell’s dogleg method[32], OpenDR[29], Chumpy[1].</a:t>
            </a:r>
          </a:p>
          <a:p>
            <a:r>
              <a:rPr lang="en-US" altLang="ko-KR" sz="2000"/>
              <a:t>&gt; Each temporal unit takes around 12 minutes.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1023556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99407FF-44D0-43D4-A92A-5E76DC42B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072" y="881893"/>
            <a:ext cx="7629525" cy="38862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3091884-939A-440C-A093-836A4BF287A0}"/>
              </a:ext>
            </a:extLst>
          </p:cNvPr>
          <p:cNvSpPr/>
          <p:nvPr/>
        </p:nvSpPr>
        <p:spPr>
          <a:xfrm>
            <a:off x="1002134" y="4748286"/>
            <a:ext cx="10439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/>
              <a:t>Figure 3: DCT</a:t>
            </a:r>
            <a:r>
              <a:rPr lang="en-US" altLang="ko-KR" sz="2400"/>
              <a:t>[4]</a:t>
            </a:r>
            <a:r>
              <a:rPr lang="ko-KR" altLang="en-US" sz="2400"/>
              <a:t> based temporal prior helps alleviate the leg swap problem. </a:t>
            </a:r>
            <a:endParaRPr lang="en-US" altLang="ko-KR" sz="2400"/>
          </a:p>
          <a:p>
            <a:r>
              <a:rPr lang="ko-KR" altLang="en-US" sz="2400"/>
              <a:t>a): Pose detection with leg swap; </a:t>
            </a:r>
            <a:endParaRPr lang="en-US" altLang="ko-KR" sz="2400"/>
          </a:p>
          <a:p>
            <a:r>
              <a:rPr lang="ko-KR" altLang="en-US" sz="2400"/>
              <a:t>b): MuVS without DCT prior; </a:t>
            </a:r>
            <a:endParaRPr lang="en-US" altLang="ko-KR" sz="2400"/>
          </a:p>
          <a:p>
            <a:r>
              <a:rPr lang="ko-KR" altLang="en-US" sz="2400"/>
              <a:t>c): MuVS with DCT prior.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0997C6-E79A-4CA0-84C1-1C2E159BEA82}"/>
              </a:ext>
            </a:extLst>
          </p:cNvPr>
          <p:cNvSpPr txBox="1"/>
          <p:nvPr/>
        </p:nvSpPr>
        <p:spPr>
          <a:xfrm>
            <a:off x="476250" y="247650"/>
            <a:ext cx="11156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/>
              <a:t>DCT</a:t>
            </a:r>
            <a:endParaRPr lang="ko-KR" altLang="en-US" sz="3200" b="1"/>
          </a:p>
        </p:txBody>
      </p:sp>
    </p:spTree>
    <p:extLst>
      <p:ext uri="{BB962C8B-B14F-4D97-AF65-F5344CB8AC3E}">
        <p14:creationId xmlns:p14="http://schemas.microsoft.com/office/powerpoint/2010/main" val="2144930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58AA4-197A-4BE1-A17E-0522C6D07DF4}"/>
              </a:ext>
            </a:extLst>
          </p:cNvPr>
          <p:cNvSpPr txBox="1"/>
          <p:nvPr/>
        </p:nvSpPr>
        <p:spPr>
          <a:xfrm>
            <a:off x="476250" y="247650"/>
            <a:ext cx="3000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/>
              <a:t>Experiment1</a:t>
            </a:r>
            <a:endParaRPr lang="ko-KR" altLang="en-US" sz="3200" b="1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6A8A76-CDFB-47D7-BD9B-B85DFD949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1118175"/>
            <a:ext cx="8353569" cy="274897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888A9AF-AFC6-445E-B96B-73382BF70D01}"/>
              </a:ext>
            </a:extLst>
          </p:cNvPr>
          <p:cNvSpPr/>
          <p:nvPr/>
        </p:nvSpPr>
        <p:spPr>
          <a:xfrm>
            <a:off x="1771650" y="3867151"/>
            <a:ext cx="102298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/>
              <a:t>Ablation results on HumanEva. </a:t>
            </a:r>
            <a:endParaRPr lang="en-US" altLang="ko-KR" sz="2400"/>
          </a:p>
          <a:p>
            <a:r>
              <a:rPr lang="ko-KR" altLang="en-US" sz="2400"/>
              <a:t>3D joint errors in mm. </a:t>
            </a:r>
            <a:endParaRPr lang="en-US" altLang="ko-KR" sz="2400"/>
          </a:p>
          <a:p>
            <a:r>
              <a:rPr lang="ko-KR" altLang="en-US" sz="2400"/>
              <a:t>Here labels </a:t>
            </a:r>
            <a:r>
              <a:rPr lang="ko-KR" altLang="en-US" sz="2400">
                <a:solidFill>
                  <a:srgbClr val="FF0000"/>
                </a:solidFill>
              </a:rPr>
              <a:t>2/3</a:t>
            </a:r>
            <a:r>
              <a:rPr lang="ko-KR" altLang="en-US" sz="2400"/>
              <a:t> mean using the ﬁrst </a:t>
            </a:r>
            <a:r>
              <a:rPr lang="ko-KR" altLang="en-US" sz="2400">
                <a:solidFill>
                  <a:srgbClr val="FF0000"/>
                </a:solidFill>
              </a:rPr>
              <a:t>2/3</a:t>
            </a:r>
            <a:r>
              <a:rPr lang="ko-KR" altLang="en-US" sz="2400"/>
              <a:t> camera views; </a:t>
            </a:r>
            <a:endParaRPr lang="en-US" altLang="ko-KR" sz="2400"/>
          </a:p>
          <a:p>
            <a:r>
              <a:rPr lang="ko-KR" altLang="en-US" sz="2400">
                <a:solidFill>
                  <a:srgbClr val="FF0000"/>
                </a:solidFill>
              </a:rPr>
              <a:t>S</a:t>
            </a:r>
            <a:r>
              <a:rPr lang="ko-KR" altLang="en-US" sz="2400"/>
              <a:t> means silhouette ﬁtting term; </a:t>
            </a:r>
            <a:endParaRPr lang="en-US" altLang="ko-KR" sz="2400"/>
          </a:p>
          <a:p>
            <a:r>
              <a:rPr lang="ko-KR" altLang="en-US" sz="2400">
                <a:solidFill>
                  <a:srgbClr val="FF0000"/>
                </a:solidFill>
              </a:rPr>
              <a:t>T</a:t>
            </a:r>
            <a:r>
              <a:rPr lang="ko-KR" altLang="en-US" sz="2400"/>
              <a:t> means temporal ﬁtting term; </a:t>
            </a:r>
            <a:endParaRPr lang="en-US" altLang="ko-KR" sz="2400"/>
          </a:p>
          <a:p>
            <a:r>
              <a:rPr lang="ko-KR" altLang="en-US" sz="2400">
                <a:solidFill>
                  <a:srgbClr val="FF0000"/>
                </a:solidFill>
              </a:rPr>
              <a:t>H</a:t>
            </a:r>
            <a:r>
              <a:rPr lang="ko-KR" altLang="en-US" sz="2400"/>
              <a:t> means adding silhouette ﬁtting term at the second stage. </a:t>
            </a:r>
            <a:endParaRPr lang="en-US" altLang="ko-KR" sz="2400"/>
          </a:p>
        </p:txBody>
      </p:sp>
    </p:spTree>
    <p:extLst>
      <p:ext uri="{BB962C8B-B14F-4D97-AF65-F5344CB8AC3E}">
        <p14:creationId xmlns:p14="http://schemas.microsoft.com/office/powerpoint/2010/main" val="226939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58AA4-197A-4BE1-A17E-0522C6D07DF4}"/>
              </a:ext>
            </a:extLst>
          </p:cNvPr>
          <p:cNvSpPr txBox="1"/>
          <p:nvPr/>
        </p:nvSpPr>
        <p:spPr>
          <a:xfrm>
            <a:off x="476250" y="247650"/>
            <a:ext cx="3000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/>
              <a:t>Experiment2</a:t>
            </a:r>
            <a:endParaRPr lang="ko-KR" altLang="en-US" sz="32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DE9C032-B100-4229-AC31-902B7C2AD4B7}"/>
              </a:ext>
            </a:extLst>
          </p:cNvPr>
          <p:cNvSpPr/>
          <p:nvPr/>
        </p:nvSpPr>
        <p:spPr>
          <a:xfrm>
            <a:off x="1005086" y="3958174"/>
            <a:ext cx="976451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/>
              <a:t>Ablation results on HumanEva. </a:t>
            </a:r>
            <a:endParaRPr lang="en-US" altLang="ko-KR" sz="2400"/>
          </a:p>
          <a:p>
            <a:r>
              <a:rPr lang="ko-KR" altLang="en-US" sz="2400"/>
              <a:t>3D joint errors in mm. </a:t>
            </a:r>
            <a:endParaRPr lang="en-US" altLang="ko-KR" sz="2400"/>
          </a:p>
          <a:p>
            <a:r>
              <a:rPr lang="ko-KR" altLang="en-US" sz="2400"/>
              <a:t>Here labels </a:t>
            </a:r>
            <a:r>
              <a:rPr lang="ko-KR" altLang="en-US" sz="2400">
                <a:solidFill>
                  <a:srgbClr val="FF0000"/>
                </a:solidFill>
              </a:rPr>
              <a:t>2/3</a:t>
            </a:r>
            <a:r>
              <a:rPr lang="ko-KR" altLang="en-US" sz="2400"/>
              <a:t> mean using the ﬁrst </a:t>
            </a:r>
            <a:r>
              <a:rPr lang="ko-KR" altLang="en-US" sz="2400">
                <a:solidFill>
                  <a:srgbClr val="FF0000"/>
                </a:solidFill>
              </a:rPr>
              <a:t>2/3</a:t>
            </a:r>
            <a:r>
              <a:rPr lang="ko-KR" altLang="en-US" sz="2400"/>
              <a:t> camera views; </a:t>
            </a:r>
            <a:endParaRPr lang="en-US" altLang="ko-KR" sz="2400"/>
          </a:p>
          <a:p>
            <a:r>
              <a:rPr lang="ko-KR" altLang="en-US" sz="2400">
                <a:solidFill>
                  <a:srgbClr val="FF0000"/>
                </a:solidFill>
              </a:rPr>
              <a:t>S</a:t>
            </a:r>
            <a:r>
              <a:rPr lang="ko-KR" altLang="en-US" sz="2400"/>
              <a:t> means silhouette ﬁtting term; </a:t>
            </a:r>
            <a:endParaRPr lang="en-US" altLang="ko-KR" sz="2400"/>
          </a:p>
          <a:p>
            <a:r>
              <a:rPr lang="ko-KR" altLang="en-US" sz="2400">
                <a:solidFill>
                  <a:srgbClr val="FF0000"/>
                </a:solidFill>
              </a:rPr>
              <a:t>T</a:t>
            </a:r>
            <a:r>
              <a:rPr lang="ko-KR" altLang="en-US" sz="2400"/>
              <a:t> means temporal ﬁtting term; </a:t>
            </a:r>
            <a:endParaRPr lang="en-US" altLang="ko-KR" sz="2400"/>
          </a:p>
          <a:p>
            <a:r>
              <a:rPr lang="ko-KR" altLang="en-US" sz="2400">
                <a:solidFill>
                  <a:srgbClr val="FF0000"/>
                </a:solidFill>
              </a:rPr>
              <a:t>H</a:t>
            </a:r>
            <a:r>
              <a:rPr lang="ko-KR" altLang="en-US" sz="2400"/>
              <a:t> means adding silhouette ﬁtting term at the second stage. </a:t>
            </a:r>
            <a:endParaRPr lang="en-US" altLang="ko-KR" sz="24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EB749BA-C6C3-4BEA-9492-DF78F7731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087" y="1145500"/>
            <a:ext cx="10181826" cy="273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0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58AA4-197A-4BE1-A17E-0522C6D07DF4}"/>
              </a:ext>
            </a:extLst>
          </p:cNvPr>
          <p:cNvSpPr txBox="1"/>
          <p:nvPr/>
        </p:nvSpPr>
        <p:spPr>
          <a:xfrm>
            <a:off x="476250" y="247650"/>
            <a:ext cx="3000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/>
              <a:t>Conculution</a:t>
            </a:r>
            <a:endParaRPr lang="ko-KR" altLang="en-US" sz="3200" b="1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7E1E64-0CC9-4405-A42C-EFB6FBC5AAA7}"/>
              </a:ext>
            </a:extLst>
          </p:cNvPr>
          <p:cNvSpPr/>
          <p:nvPr/>
        </p:nvSpPr>
        <p:spPr>
          <a:xfrm>
            <a:off x="825500" y="1496536"/>
            <a:ext cx="10299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/>
              <a:t>Our method computes relatively accurate 3D pose and </a:t>
            </a:r>
            <a:r>
              <a:rPr lang="ko-KR" altLang="en-US" sz="2400">
                <a:solidFill>
                  <a:srgbClr val="FF0000"/>
                </a:solidFill>
              </a:rPr>
              <a:t>also returns a realistic and faithful human body mesh</a:t>
            </a:r>
            <a:r>
              <a:rPr lang="ko-KR" altLang="en-US" sz="2400"/>
              <a:t>. Unlike previous work that assumes known silhouettes, needs user intervention, or limits the user motion, our algorithm works for general activities seen in daily life</a:t>
            </a:r>
            <a:r>
              <a:rPr lang="en-US" altLang="ko-KR" sz="2400"/>
              <a:t>.</a:t>
            </a:r>
            <a:endParaRPr lang="ko-KR" altLang="en-US" sz="2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548022-A60D-4791-A080-F6D382991FDC}"/>
              </a:ext>
            </a:extLst>
          </p:cNvPr>
          <p:cNvSpPr/>
          <p:nvPr/>
        </p:nvSpPr>
        <p:spPr>
          <a:xfrm>
            <a:off x="825500" y="3429000"/>
            <a:ext cx="10299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/>
              <a:t>Future work will address more complex scenarios, like cluttered backgrounds, multiple people, and extreme poses. A key direction to make the method practical is to </a:t>
            </a:r>
            <a:r>
              <a:rPr lang="ko-KR" altLang="en-US" sz="2400">
                <a:solidFill>
                  <a:srgbClr val="FF0000"/>
                </a:solidFill>
              </a:rPr>
              <a:t>reduce the computational costs</a:t>
            </a:r>
            <a:r>
              <a:rPr lang="ko-KR" altLang="en-US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7185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58AA4-197A-4BE1-A17E-0522C6D07DF4}"/>
              </a:ext>
            </a:extLst>
          </p:cNvPr>
          <p:cNvSpPr txBox="1"/>
          <p:nvPr/>
        </p:nvSpPr>
        <p:spPr>
          <a:xfrm>
            <a:off x="476250" y="247650"/>
            <a:ext cx="3000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/>
              <a:t>More results</a:t>
            </a:r>
            <a:endParaRPr lang="ko-KR" altLang="en-US" sz="3200" b="1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AE4894B-016F-4D50-B0A5-F9B0E8B6C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100" y="832425"/>
            <a:ext cx="9457800" cy="597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16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58AA4-197A-4BE1-A17E-0522C6D07DF4}"/>
              </a:ext>
            </a:extLst>
          </p:cNvPr>
          <p:cNvSpPr txBox="1"/>
          <p:nvPr/>
        </p:nvSpPr>
        <p:spPr>
          <a:xfrm>
            <a:off x="476250" y="247650"/>
            <a:ext cx="3000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/>
              <a:t>More results</a:t>
            </a:r>
            <a:endParaRPr lang="ko-KR" altLang="en-US" sz="3200" b="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5EE233-1A26-4ADF-ACCD-67E744440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" y="832425"/>
            <a:ext cx="11366500" cy="556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37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639</Words>
  <Application>Microsoft Office PowerPoint</Application>
  <PresentationFormat>와이드스크린</PresentationFormat>
  <Paragraphs>73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Towards Accurate Marker-less Human Shape and Pose Estimation over Time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Accurate Marker-less Human Shape and Pose Estimation over Time</dc:title>
  <dc:creator>DongWook Kim</dc:creator>
  <cp:lastModifiedBy>DongWook Kim</cp:lastModifiedBy>
  <cp:revision>20</cp:revision>
  <dcterms:created xsi:type="dcterms:W3CDTF">2018-05-29T10:43:46Z</dcterms:created>
  <dcterms:modified xsi:type="dcterms:W3CDTF">2018-06-05T10:17:52Z</dcterms:modified>
</cp:coreProperties>
</file>