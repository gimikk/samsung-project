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98" r:id="rId2"/>
    <p:sldId id="299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</p:sldIdLst>
  <p:sldSz cx="10323513" cy="756126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19113" indent="-619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39813" indent="-1254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60513" indent="-1889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81213" indent="-2524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2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8D7FA"/>
    <a:srgbClr val="FF9900"/>
    <a:srgbClr val="FFFF00"/>
    <a:srgbClr val="6699FF"/>
    <a:srgbClr val="000066"/>
    <a:srgbClr val="003399"/>
    <a:srgbClr val="423C3D"/>
    <a:srgbClr val="808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63" autoAdjust="0"/>
    <p:restoredTop sz="94581" autoAdjust="0"/>
  </p:normalViewPr>
  <p:slideViewPr>
    <p:cSldViewPr>
      <p:cViewPr varScale="1">
        <p:scale>
          <a:sx n="104" d="100"/>
          <a:sy n="104" d="100"/>
        </p:scale>
        <p:origin x="2028" y="108"/>
      </p:cViewPr>
      <p:guideLst>
        <p:guide orient="horz" pos="2381"/>
        <p:guide pos="3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350" y="-78"/>
      </p:cViewPr>
      <p:guideLst>
        <p:guide orient="horz" pos="3222"/>
        <p:guide pos="2236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655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4"/>
            <a:ext cx="3076978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>
            <a:lvl1pPr defTabSz="990907">
              <a:defRPr sz="1200" b="0" smtClean="0"/>
            </a:lvl1pPr>
          </a:lstStyle>
          <a:p>
            <a:pPr>
              <a:defRPr/>
            </a:pPr>
            <a:r>
              <a:rPr lang="en-US" altLang="ko-KR"/>
              <a:t>Dongguk University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651" y="4"/>
            <a:ext cx="3076977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>
            <a:lvl1pPr algn="r" defTabSz="990907">
              <a:defRPr sz="1200" b="0" smtClean="0"/>
            </a:lvl1pPr>
          </a:lstStyle>
          <a:p>
            <a:pPr>
              <a:defRPr/>
            </a:pPr>
            <a:r>
              <a:rPr lang="en-US"/>
              <a:t>11/25/2008</a:t>
            </a:r>
            <a:endParaRPr lang="en-US" altLang="ko-KR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8688" y="769938"/>
            <a:ext cx="524192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430" y="4861236"/>
            <a:ext cx="5680443" cy="460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472"/>
            <a:ext cx="3076978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b" anchorCtr="0" compatLnSpc="1">
            <a:prstTxWarp prst="textNoShape">
              <a:avLst/>
            </a:prstTxWarp>
          </a:bodyPr>
          <a:lstStyle>
            <a:lvl1pPr defTabSz="990907">
              <a:defRPr sz="1200" b="0" smtClean="0"/>
            </a:lvl1pPr>
          </a:lstStyle>
          <a:p>
            <a:pPr>
              <a:defRPr/>
            </a:pPr>
            <a:r>
              <a:rPr lang="en-US" altLang="ko-KR"/>
              <a:t>Department of Multimedia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651" y="9722472"/>
            <a:ext cx="3076977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b" anchorCtr="0" compatLnSpc="1">
            <a:prstTxWarp prst="textNoShape">
              <a:avLst/>
            </a:prstTxWarp>
          </a:bodyPr>
          <a:lstStyle>
            <a:lvl1pPr algn="r" defTabSz="990907">
              <a:defRPr sz="1200" b="0" smtClean="0"/>
            </a:lvl1pPr>
          </a:lstStyle>
          <a:p>
            <a:pPr>
              <a:defRPr/>
            </a:pPr>
            <a:fld id="{72223526-C2E7-4AD9-8A99-88A2648255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472744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191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398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605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812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602792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3351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43909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64468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1-31-Graphic-Motif-Type-B-U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588" y="4489450"/>
            <a:ext cx="31623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4" descr="1-05-Signature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035925" y="139700"/>
            <a:ext cx="2228850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6" descr="1-29-Graphic-Motif-Type-A-Co"/>
          <p:cNvPicPr preferRelativeResize="0">
            <a:picLocks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1019175"/>
            <a:ext cx="10323513" cy="4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3514" y="1994681"/>
            <a:ext cx="8774987" cy="2143140"/>
          </a:xfrm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 algn="ctr">
              <a:lnSpc>
                <a:spcPct val="100000"/>
              </a:lnSpc>
              <a:defRPr sz="5400" b="1" cap="none" spc="0">
                <a:ln>
                  <a:noFill/>
                </a:ln>
                <a:solidFill>
                  <a:srgbClr val="003399"/>
                </a:solidFill>
                <a:effectLst/>
                <a:latin typeface="Helvetica" pitchFamily="34" charset="0"/>
                <a:ea typeface="HY강M" pitchFamily="18" charset="-127"/>
              </a:defRPr>
            </a:lvl1pPr>
          </a:lstStyle>
          <a:p>
            <a:r>
              <a:rPr lang="en-US" altLang="ko-KR" dirty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8283" y="4575271"/>
            <a:ext cx="7930824" cy="16417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lnSpc>
                <a:spcPct val="80000"/>
              </a:lnSpc>
              <a:buFont typeface="Wingdings" pitchFamily="2" charset="2"/>
              <a:buNone/>
              <a:defRPr sz="3600" b="0" cap="none" spc="0">
                <a:ln>
                  <a:noFill/>
                </a:ln>
                <a:solidFill>
                  <a:schemeClr val="accent5">
                    <a:lumMod val="25000"/>
                  </a:schemeClr>
                </a:solidFill>
                <a:effectLst/>
                <a:latin typeface="Helvetica" pitchFamily="34" charset="0"/>
                <a:ea typeface="HY강B" pitchFamily="18" charset="-127"/>
              </a:defRPr>
            </a:lvl1pPr>
          </a:lstStyle>
          <a:p>
            <a:r>
              <a:rPr lang="en-US" altLang="ko-KR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D57F253-BFD6-4B06-BA72-D88E120B01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1-31-Graphic-Motif-Type-B-Us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588" y="4494213"/>
            <a:ext cx="31623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77788"/>
            <a:ext cx="9927246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b" anchorCtr="0" compatLnSpc="1"/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3200" y="1079500"/>
            <a:ext cx="9917113" cy="603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5938" y="7224713"/>
            <a:ext cx="2409825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bg2"/>
                </a:solidFill>
                <a:latin typeface="Helvetica" pitchFamily="34" charset="0"/>
              </a:defRPr>
            </a:lvl1pPr>
          </a:lstStyle>
          <a:p>
            <a:pPr>
              <a:defRPr/>
            </a:pPr>
            <a:fld id="{76D4B86E-74BB-441A-9532-38AF29BD327E}" type="datetime1">
              <a:rPr lang="ko-KR" altLang="en-US" smtClean="0"/>
              <a:t>2018-07-16</a:t>
            </a:fld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97750" y="7224713"/>
            <a:ext cx="2409825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solidFill>
                  <a:schemeClr val="bg2"/>
                </a:solidFill>
                <a:latin typeface="Helvetica" pitchFamily="34" charset="0"/>
              </a:defRPr>
            </a:lvl1pPr>
          </a:lstStyle>
          <a:p>
            <a:pPr>
              <a:defRPr/>
            </a:pPr>
            <a:fld id="{BEA56C7E-B086-4260-9634-0FD7B2E06793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2" name="Picture 18" descr="1-29-Graphic-Motif-Type-A-Co"/>
          <p:cNvPicPr preferRelativeResize="0">
            <a:picLocks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1588" y="7178675"/>
            <a:ext cx="10323512" cy="4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14" descr="1-05-Signature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8593138" y="258763"/>
            <a:ext cx="1655762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/>
  <p:txStyles>
    <p:titleStyle>
      <a:lvl1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4400" b="1" cap="none" spc="0">
          <a:ln>
            <a:noFill/>
          </a:ln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Helvetica" pitchFamily="34" charset="0"/>
          <a:ea typeface="HY강M" pitchFamily="18" charset="-127"/>
          <a:cs typeface="+mj-cs"/>
        </a:defRPr>
      </a:lvl1pPr>
      <a:lvl2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2pPr>
      <a:lvl3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3pPr>
      <a:lvl4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4pPr>
      <a:lvl5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5pPr>
      <a:lvl6pPr marL="520559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6pPr>
      <a:lvl7pPr marL="1041117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7pPr>
      <a:lvl8pPr marL="1561676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8pPr>
      <a:lvl9pPr marL="2082235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9pPr>
    </p:titleStyle>
    <p:bodyStyle>
      <a:lvl1pPr marL="388938" indent="-388938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§"/>
        <a:defRPr kumimoji="1" sz="28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844550" indent="-323850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ú"/>
        <a:defRPr kumimoji="1" sz="24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13001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Char char="•"/>
        <a:defRPr kumimoji="1" sz="20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8208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w"/>
        <a:defRPr kumimoji="1" sz="16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3415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ü"/>
        <a:defRPr kumimoji="1" sz="16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863072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6pPr>
      <a:lvl7pPr marL="3383630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7pPr>
      <a:lvl8pPr marL="3904189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8pPr>
      <a:lvl9pPr marL="4424747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0559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1117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1676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2235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2792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3351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3909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64468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2800" dirty="0"/>
              <a:t> </a:t>
            </a:r>
            <a:br>
              <a:rPr lang="ko-KR" altLang="en-US" sz="2800" b="0" dirty="0"/>
            </a:br>
            <a:r>
              <a:rPr lang="en-US" altLang="ko-KR" sz="2800" b="0" dirty="0"/>
              <a:t> Video Based Reconstruction of 3D People Models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2018.06.20</a:t>
            </a:r>
          </a:p>
          <a:p>
            <a:r>
              <a:rPr lang="en-US" altLang="ko-KR" dirty="0"/>
              <a:t>Jae-Ryun Chung</a:t>
            </a:r>
          </a:p>
        </p:txBody>
      </p:sp>
    </p:spTree>
    <p:extLst>
      <p:ext uri="{BB962C8B-B14F-4D97-AF65-F5344CB8AC3E}">
        <p14:creationId xmlns:p14="http://schemas.microsoft.com/office/powerpoint/2010/main" val="141585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2FC53-77B0-47FF-A697-78F2F712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511209-A045-4F2F-B6C8-7563FA1BD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Obtain 3D body model from a </a:t>
            </a:r>
            <a:r>
              <a:rPr lang="en-US" altLang="ko-KR" i="1" dirty="0"/>
              <a:t>single, monocular video</a:t>
            </a:r>
          </a:p>
          <a:p>
            <a:r>
              <a:rPr lang="en-US" altLang="ko-KR" dirty="0"/>
              <a:t>Estimate the shape of people in clothing from a single video in which person moves</a:t>
            </a:r>
          </a:p>
          <a:p>
            <a:r>
              <a:rPr lang="en-US" altLang="ko-KR" dirty="0"/>
              <a:t>Dataset and source code provided[1]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5155EA-8CE2-4128-B234-556BCF7E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84FC52-D878-46F2-B9FF-EDB3C8FC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DB2185-DA39-4132-B253-FB75775D5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86" y="3924651"/>
            <a:ext cx="8078327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5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2FC53-77B0-47FF-A697-78F2F712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511209-A045-4F2F-B6C8-7563FA1BD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a) Calculate poses using SMPL model</a:t>
            </a:r>
          </a:p>
          <a:p>
            <a:r>
              <a:rPr lang="en-US" altLang="ko-KR" dirty="0"/>
              <a:t>b) </a:t>
            </a:r>
            <a:r>
              <a:rPr lang="en-US" altLang="ko-KR" dirty="0" err="1"/>
              <a:t>Unpose</a:t>
            </a:r>
            <a:r>
              <a:rPr lang="en-US" altLang="ko-KR" dirty="0"/>
              <a:t>* silhouette camera rays(depicted in red)</a:t>
            </a:r>
          </a:p>
          <a:p>
            <a:r>
              <a:rPr lang="en-US" altLang="ko-KR" dirty="0"/>
              <a:t>c) Optimize for subject shape in T-pose</a:t>
            </a:r>
          </a:p>
          <a:p>
            <a:r>
              <a:rPr lang="en-US" altLang="ko-KR" dirty="0"/>
              <a:t>d) Calculate texture and generate model</a:t>
            </a:r>
          </a:p>
          <a:p>
            <a:endParaRPr lang="en-US" altLang="ko-KR" dirty="0"/>
          </a:p>
          <a:p>
            <a:r>
              <a:rPr lang="en-US" altLang="ko-KR" sz="1800" dirty="0" err="1"/>
              <a:t>Unpose</a:t>
            </a:r>
            <a:r>
              <a:rPr lang="en-US" altLang="ko-KR" sz="1800" dirty="0"/>
              <a:t> – transform every projection ray according to inverse deformation model of its corresponding 3D model point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5155EA-8CE2-4128-B234-556BCF7E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84FC52-D878-46F2-B9FF-EDB3C8FC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A3ED95-5FF1-4139-9654-BC79CD6A9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145" y="1036556"/>
            <a:ext cx="7135221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34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3C77C-D148-4C5B-B28C-5E3B1D4F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3DFCA-393F-4BC8-B413-BCE6F7296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Goal is to generate 3D model which consists of body, hair and clothing, texture map and skeleton rigged to surface</a:t>
            </a:r>
          </a:p>
          <a:p>
            <a:r>
              <a:rPr lang="en-US" altLang="ko-KR" dirty="0"/>
              <a:t>3 step</a:t>
            </a:r>
          </a:p>
          <a:p>
            <a:pPr lvl="1"/>
            <a:r>
              <a:rPr lang="en-US" altLang="ko-KR" dirty="0"/>
              <a:t>3.2 Pose reconstruction</a:t>
            </a:r>
          </a:p>
          <a:p>
            <a:pPr lvl="2"/>
            <a:r>
              <a:rPr lang="en-US" altLang="ko-KR" dirty="0"/>
              <a:t>Calculate 3D pose in each frame c.f.)</a:t>
            </a:r>
            <a:r>
              <a:rPr lang="en-US" altLang="ko-KR" dirty="0" err="1"/>
              <a:t>SMPLify</a:t>
            </a:r>
            <a:endParaRPr lang="en-US" altLang="ko-KR" dirty="0"/>
          </a:p>
          <a:p>
            <a:pPr lvl="1"/>
            <a:r>
              <a:rPr lang="en-US" altLang="ko-KR" dirty="0"/>
              <a:t>3.3 Consensus shape estimation</a:t>
            </a:r>
          </a:p>
          <a:p>
            <a:pPr lvl="2"/>
            <a:r>
              <a:rPr lang="en-US" altLang="ko-KR" dirty="0"/>
              <a:t>Optimized to maximally explain silhouettes at each frame instance</a:t>
            </a:r>
          </a:p>
          <a:p>
            <a:pPr lvl="1"/>
            <a:r>
              <a:rPr lang="en-US" altLang="ko-KR" dirty="0"/>
              <a:t>3.4 Frame refinement and texture map generation</a:t>
            </a:r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4D1BFB-6CDF-4FB9-914C-23839899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DEA27A-6833-4BB5-8769-C1209DD1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364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1B2F9-6886-4997-84C4-76DC51A35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SMPL body model with offsets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12B126-2372-4532-AF91-C7AD5901D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SMPL</a:t>
            </a:r>
          </a:p>
          <a:p>
            <a:pPr lvl="1"/>
            <a:r>
              <a:rPr lang="en-US" altLang="ko-KR" dirty="0"/>
              <a:t>72 pose and 10 shape parameters</a:t>
            </a:r>
          </a:p>
          <a:p>
            <a:pPr lvl="1"/>
            <a:r>
              <a:rPr lang="en-US" altLang="ko-KR" dirty="0"/>
              <a:t>Return triangulated mesh with N=6890 vertices</a:t>
            </a:r>
          </a:p>
          <a:p>
            <a:pPr lvl="1"/>
            <a:r>
              <a:rPr lang="en-US" altLang="ko-KR" dirty="0"/>
              <a:t>Shape β and pose θ deformations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Tμ</a:t>
            </a:r>
            <a:r>
              <a:rPr lang="en-US" altLang="ko-KR" dirty="0"/>
              <a:t>: training scans</a:t>
            </a:r>
          </a:p>
          <a:p>
            <a:pPr lvl="1"/>
            <a:r>
              <a:rPr lang="en-US" altLang="ko-KR" dirty="0"/>
              <a:t>W:</a:t>
            </a:r>
            <a:r>
              <a:rPr lang="ko-KR" altLang="en-US" dirty="0"/>
              <a:t> </a:t>
            </a:r>
            <a:r>
              <a:rPr lang="en-US" altLang="ko-KR" dirty="0"/>
              <a:t>linear</a:t>
            </a:r>
            <a:r>
              <a:rPr lang="ko-KR" altLang="en-US" dirty="0"/>
              <a:t> </a:t>
            </a:r>
            <a:r>
              <a:rPr lang="en-US" altLang="ko-KR" dirty="0"/>
              <a:t>blend-skinning</a:t>
            </a:r>
            <a:r>
              <a:rPr lang="ko-KR" altLang="en-US" dirty="0"/>
              <a:t> </a:t>
            </a:r>
            <a:r>
              <a:rPr lang="en-US" altLang="ko-KR" dirty="0"/>
              <a:t>function</a:t>
            </a:r>
          </a:p>
          <a:p>
            <a:pPr lvl="1"/>
            <a:r>
              <a:rPr lang="en-US" altLang="ko-KR" dirty="0"/>
              <a:t>T(β,θ): rest pose</a:t>
            </a:r>
          </a:p>
          <a:p>
            <a:pPr lvl="1"/>
            <a:r>
              <a:rPr lang="en-US" altLang="ko-KR" dirty="0"/>
              <a:t>J(β): skeleton joints</a:t>
            </a:r>
          </a:p>
          <a:p>
            <a:pPr lvl="1"/>
            <a:r>
              <a:rPr lang="en-US" altLang="ko-KR" dirty="0"/>
              <a:t>B: shape and pose dependent deformation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C01637-B161-4D2D-9FE6-6A810444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A64EE5-90DE-4CDE-B798-92CC5CD9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27C855-6DE6-41F4-A031-AB4331F30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416" y="2988521"/>
            <a:ext cx="5074038" cy="83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30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1B2F9-6886-4997-84C4-76DC51A35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SMPL body model with offsets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12B126-2372-4532-AF91-C7AD5901D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SMPL</a:t>
            </a:r>
          </a:p>
          <a:p>
            <a:pPr lvl="1"/>
            <a:r>
              <a:rPr lang="en-US" altLang="ko-KR" dirty="0"/>
              <a:t>Do not include clothing and other personal details</a:t>
            </a:r>
          </a:p>
          <a:p>
            <a:pPr lvl="1"/>
            <a:r>
              <a:rPr lang="en-US" altLang="ko-KR" dirty="0"/>
              <a:t>Add a set of auxiliary variables or offsets D</a:t>
            </a:r>
            <a:r>
              <a:rPr lang="ko-KR" altLang="en-US" dirty="0"/>
              <a:t>∈</a:t>
            </a:r>
            <a:r>
              <a:rPr lang="en-US" altLang="ko-KR" dirty="0"/>
              <a:t>R</a:t>
            </a:r>
            <a:r>
              <a:rPr lang="en-US" altLang="ko-KR" baseline="30000" dirty="0"/>
              <a:t>3N</a:t>
            </a:r>
          </a:p>
          <a:p>
            <a:pPr lvl="1"/>
            <a:endParaRPr lang="en-US" altLang="ko-KR" baseline="30000" dirty="0"/>
          </a:p>
          <a:p>
            <a:pPr lvl="1"/>
            <a:endParaRPr lang="en-US" altLang="ko-KR" baseline="30000" dirty="0"/>
          </a:p>
          <a:p>
            <a:pPr lvl="1"/>
            <a:r>
              <a:rPr lang="en-US" altLang="ko-KR" dirty="0"/>
              <a:t>Offsets are optimized in step 2 (3.3)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C01637-B161-4D2D-9FE6-6A810444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A64EE5-90DE-4CDE-B798-92CC5CD9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551CE1-0EFB-40A2-BB8E-5922D2CD1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280" y="2700481"/>
            <a:ext cx="4786951" cy="28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45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0E4B3-A41F-4778-8031-2C02789ED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Pose Reconstruction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C85897-269D-44E5-9B7F-2818A65A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700" dirty="0"/>
              <a:t>Output of initialization are SMPL model shape parameter</a:t>
            </a:r>
          </a:p>
          <a:p>
            <a:pPr lvl="1"/>
            <a:r>
              <a:rPr lang="en-US" altLang="ko-KR" sz="2300" dirty="0"/>
              <a:t>Keep fixed during subsequent frame-wise pose estimation</a:t>
            </a:r>
          </a:p>
          <a:p>
            <a:r>
              <a:rPr lang="en-US" altLang="ko-KR" sz="2700" dirty="0"/>
              <a:t>Extend </a:t>
            </a:r>
            <a:r>
              <a:rPr lang="en-US" altLang="ko-KR" sz="2700" dirty="0" err="1"/>
              <a:t>SMPLify</a:t>
            </a:r>
            <a:endParaRPr lang="en-US" altLang="ko-KR" sz="2700" dirty="0"/>
          </a:p>
          <a:p>
            <a:pPr lvl="1"/>
            <a:r>
              <a:rPr lang="en-US" altLang="ko-KR" sz="2300" dirty="0"/>
              <a:t>Jointly considers P=5 frames and optimize a shape and P poses</a:t>
            </a:r>
          </a:p>
          <a:p>
            <a:pPr lvl="1"/>
            <a:r>
              <a:rPr lang="en-US" altLang="ko-KR" sz="2300" dirty="0"/>
              <a:t>Incorporating silhouette term</a:t>
            </a:r>
          </a:p>
          <a:p>
            <a:pPr lvl="1"/>
            <a:endParaRPr lang="en-US" altLang="ko-KR" sz="2300" dirty="0"/>
          </a:p>
          <a:p>
            <a:pPr lvl="1"/>
            <a:endParaRPr lang="en-US" altLang="ko-KR" sz="2300" dirty="0"/>
          </a:p>
          <a:p>
            <a:pPr lvl="1"/>
            <a:r>
              <a:rPr lang="en-US" altLang="ko-KR" sz="2300" dirty="0"/>
              <a:t>I</a:t>
            </a:r>
            <a:r>
              <a:rPr lang="en-US" altLang="ko-KR" sz="2300" baseline="-25000" dirty="0"/>
              <a:t>rn</a:t>
            </a:r>
            <a:r>
              <a:rPr lang="en-US" altLang="ko-KR" sz="2300" dirty="0"/>
              <a:t>(θ): silhouette of rendered model</a:t>
            </a:r>
          </a:p>
          <a:p>
            <a:pPr lvl="1"/>
            <a:r>
              <a:rPr lang="en-US" altLang="ko-KR" sz="2300" dirty="0"/>
              <a:t>C: distance transform of observed image mask</a:t>
            </a:r>
          </a:p>
          <a:p>
            <a:pPr lvl="1"/>
            <a:r>
              <a:rPr lang="en-US" altLang="ko-KR" sz="2300" dirty="0"/>
              <a:t>w: weights</a:t>
            </a:r>
          </a:p>
          <a:p>
            <a:pPr lvl="1"/>
            <a:r>
              <a:rPr lang="en-US" altLang="ko-KR" sz="2300" dirty="0"/>
              <a:t>G: optimized at 4 different level of Gaussian pyramid to be robust to local minima</a:t>
            </a:r>
          </a:p>
          <a:p>
            <a:r>
              <a:rPr lang="en-US" altLang="ko-KR" sz="2700" dirty="0"/>
              <a:t>Output is a set of poses {θ</a:t>
            </a:r>
            <a:r>
              <a:rPr lang="en-US" altLang="ko-KR" sz="2700" baseline="-25000" dirty="0"/>
              <a:t>p</a:t>
            </a:r>
            <a:r>
              <a:rPr lang="en-US" altLang="ko-KR" sz="2700" dirty="0"/>
              <a:t>}</a:t>
            </a:r>
            <a:r>
              <a:rPr lang="en-US" altLang="ko-KR" sz="2700" baseline="30000" dirty="0"/>
              <a:t>F</a:t>
            </a:r>
            <a:r>
              <a:rPr lang="en-US" altLang="ko-KR" sz="2700" baseline="-25000" dirty="0"/>
              <a:t>p=1 </a:t>
            </a:r>
            <a:r>
              <a:rPr lang="en-US" altLang="ko-KR" sz="2700" dirty="0"/>
              <a:t>for F frames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E1714F-0532-4F3A-8A76-98FDCF19F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DE5CD-7161-498D-AAE9-5D1F1A48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C18278-C006-498B-A64C-DC14D77B1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452" y="3348571"/>
            <a:ext cx="6736607" cy="4467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D81616-3BE6-42A3-B556-EF2895D20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873" y="3867356"/>
            <a:ext cx="4523412" cy="32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2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8C745-FE7E-497A-AC0A-F24BE93E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Consensus Shape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E245CD-BCD0-4F0F-AD8E-9881F0BC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Merged all information into an </a:t>
            </a:r>
            <a:r>
              <a:rPr lang="en-US" altLang="ko-KR" dirty="0" err="1"/>
              <a:t>unposed</a:t>
            </a:r>
            <a:r>
              <a:rPr lang="en-US" altLang="ko-KR" dirty="0"/>
              <a:t> canonical frame</a:t>
            </a:r>
          </a:p>
          <a:p>
            <a:r>
              <a:rPr lang="en-US" altLang="ko-KR" dirty="0"/>
              <a:t>A set of rays from camera define</a:t>
            </a:r>
            <a:br>
              <a:rPr lang="en-US" altLang="ko-KR" dirty="0"/>
            </a:br>
            <a:r>
              <a:rPr lang="en-US" altLang="ko-KR" dirty="0"/>
              <a:t>a constraint cone</a:t>
            </a:r>
          </a:p>
          <a:p>
            <a:r>
              <a:rPr lang="en-US" altLang="ko-KR" dirty="0"/>
              <a:t>Idea is to </a:t>
            </a:r>
            <a:r>
              <a:rPr lang="en-US" altLang="ko-KR" dirty="0" err="1"/>
              <a:t>unpose</a:t>
            </a:r>
            <a:r>
              <a:rPr lang="en-US" altLang="ko-KR" dirty="0"/>
              <a:t> the cone</a:t>
            </a:r>
            <a:br>
              <a:rPr lang="en-US" altLang="ko-KR" dirty="0"/>
            </a:br>
            <a:r>
              <a:rPr lang="en-US" altLang="ko-KR" dirty="0"/>
              <a:t>using estimated poses</a:t>
            </a:r>
          </a:p>
          <a:p>
            <a:r>
              <a:rPr lang="en-US" altLang="ko-KR" dirty="0"/>
              <a:t>Invert SMPL function for every ray</a:t>
            </a:r>
          </a:p>
          <a:p>
            <a:r>
              <a:rPr lang="en-US" altLang="ko-KR" dirty="0"/>
              <a:t>SMPL function:</a:t>
            </a:r>
          </a:p>
          <a:p>
            <a:pPr lvl="1"/>
            <a:r>
              <a:rPr lang="en-US" altLang="ko-KR" dirty="0"/>
              <a:t>G</a:t>
            </a:r>
            <a:r>
              <a:rPr lang="en-US" altLang="ko-KR" baseline="-25000" dirty="0"/>
              <a:t>k</a:t>
            </a:r>
            <a:r>
              <a:rPr lang="en-US" altLang="ko-KR" dirty="0"/>
              <a:t>: global transformation of joint k</a:t>
            </a:r>
          </a:p>
          <a:p>
            <a:pPr lvl="1"/>
            <a:r>
              <a:rPr lang="en-US" altLang="ko-KR" dirty="0"/>
              <a:t>b: elements of B corresponding </a:t>
            </a:r>
            <a:r>
              <a:rPr lang="en-US" altLang="ko-KR" dirty="0" err="1"/>
              <a:t>i-th</a:t>
            </a:r>
            <a:r>
              <a:rPr lang="en-US" altLang="ko-KR" dirty="0"/>
              <a:t> vertex</a:t>
            </a:r>
          </a:p>
          <a:p>
            <a:pPr lvl="1"/>
            <a:r>
              <a:rPr lang="en-US" altLang="ko-KR" dirty="0"/>
              <a:t>v</a:t>
            </a:r>
            <a:r>
              <a:rPr lang="en-US" altLang="ko-KR" baseline="-25000" dirty="0"/>
              <a:t>i</a:t>
            </a:r>
            <a:r>
              <a:rPr lang="en-US" altLang="ko-KR" dirty="0"/>
              <a:t>: vertex input</a:t>
            </a:r>
          </a:p>
          <a:p>
            <a:r>
              <a:rPr lang="en-US" altLang="ko-KR" dirty="0"/>
              <a:t>Every ray r find closest 3D model point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A09B8-1CE0-4BF8-9D54-A0B91766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873EA7-E3E7-4727-92C3-A292303C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986509D-50CC-43A9-B8FC-389A85EF9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623" y="1476311"/>
            <a:ext cx="3867690" cy="237205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5B34EEF-62E9-4EA5-8AA9-802621622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201" y="4002256"/>
            <a:ext cx="3477110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18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8C745-FE7E-497A-AC0A-F24BE93E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Consensus Shape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E245CD-BCD0-4F0F-AD8E-9881F0BC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Inverse transformation:</a:t>
            </a:r>
          </a:p>
          <a:p>
            <a:pPr lvl="1"/>
            <a:r>
              <a:rPr lang="en-US" altLang="ko-KR" dirty="0"/>
              <a:t>c.f.)</a:t>
            </a:r>
          </a:p>
          <a:p>
            <a:r>
              <a:rPr lang="en-US" altLang="ko-KR" dirty="0"/>
              <a:t>Given the set of </a:t>
            </a:r>
            <a:r>
              <a:rPr lang="en-US" altLang="ko-KR" dirty="0" err="1"/>
              <a:t>unposed</a:t>
            </a:r>
            <a:r>
              <a:rPr lang="en-US" altLang="ko-KR" dirty="0"/>
              <a:t> rays for F silhouettes, we formulate an optimization in canonical frame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Minimize with respect to shape parameters β and vertex offsets D</a:t>
            </a:r>
          </a:p>
          <a:p>
            <a:pPr lvl="1"/>
            <a:r>
              <a:rPr lang="en-US" altLang="ko-KR" dirty="0"/>
              <a:t>Data term and 3 regularization terms with weights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A09B8-1CE0-4BF8-9D54-A0B91766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873EA7-E3E7-4727-92C3-A292303C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FF44147-93E3-414D-A063-2A2A15AD2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676" y="1094705"/>
            <a:ext cx="3343742" cy="5048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16DC5E-099D-4FAA-9072-94668B58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898" y="1599600"/>
            <a:ext cx="3477110" cy="4858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54D38DB-4B3D-4978-A810-272C0B0831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589" y="2989204"/>
            <a:ext cx="5242333" cy="36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40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8C745-FE7E-497A-AC0A-F24BE93E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Consensus Shape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E245CD-BCD0-4F0F-AD8E-9881F0BC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Term</a:t>
            </a:r>
          </a:p>
          <a:p>
            <a:pPr lvl="1"/>
            <a:r>
              <a:rPr lang="en-US" altLang="ko-KR" dirty="0"/>
              <a:t>Measure distance between vertices and rays</a:t>
            </a:r>
          </a:p>
          <a:p>
            <a:pPr lvl="1"/>
            <a:r>
              <a:rPr lang="en-US" altLang="ko-KR" dirty="0"/>
              <a:t>Using </a:t>
            </a:r>
            <a:r>
              <a:rPr lang="en-US" altLang="ko-KR" dirty="0" err="1"/>
              <a:t>Plucker</a:t>
            </a:r>
            <a:r>
              <a:rPr lang="en-US" altLang="ko-KR" dirty="0"/>
              <a:t> coordinates(r = r</a:t>
            </a:r>
            <a:r>
              <a:rPr lang="en-US" altLang="ko-KR" baseline="-25000" dirty="0"/>
              <a:t>m</a:t>
            </a:r>
            <a:r>
              <a:rPr lang="en-US" altLang="ko-KR" dirty="0"/>
              <a:t>, r</a:t>
            </a:r>
            <a:r>
              <a:rPr lang="en-US" altLang="ko-KR" baseline="-25000" dirty="0"/>
              <a:t>n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ρ is</a:t>
            </a:r>
            <a:r>
              <a:rPr lang="ko-KR" altLang="en-US" dirty="0"/>
              <a:t> </a:t>
            </a:r>
            <a:r>
              <a:rPr lang="en-US" altLang="ko-KR" dirty="0" err="1"/>
              <a:t>Geman</a:t>
            </a:r>
            <a:r>
              <a:rPr lang="en-US" altLang="ko-KR" dirty="0"/>
              <a:t>-McClure robust cost function</a:t>
            </a:r>
          </a:p>
          <a:p>
            <a:r>
              <a:rPr lang="en-US" altLang="ko-KR" dirty="0"/>
              <a:t>Laplacian Term</a:t>
            </a:r>
          </a:p>
          <a:p>
            <a:pPr lvl="1"/>
            <a:r>
              <a:rPr lang="en-US" altLang="ko-KR" dirty="0"/>
              <a:t>Smooth deformation by adding Laplacian mesh </a:t>
            </a:r>
            <a:r>
              <a:rPr lang="en-US" altLang="ko-KR" dirty="0" err="1"/>
              <a:t>regularizer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δ=L(v(β</a:t>
            </a:r>
            <a:r>
              <a:rPr lang="en-US" altLang="ko-KR" baseline="-25000" dirty="0"/>
              <a:t>0</a:t>
            </a:r>
            <a:r>
              <a:rPr lang="en-US" altLang="ko-KR" dirty="0"/>
              <a:t>,0)) and L is the Laplace operator</a:t>
            </a:r>
          </a:p>
          <a:p>
            <a:pPr lvl="1"/>
            <a:r>
              <a:rPr lang="en-US" altLang="ko-KR" dirty="0"/>
              <a:t>Forces Laplacian of optimized mesh to be similar to Laplacian of mesh at initialization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A09B8-1CE0-4BF8-9D54-A0B91766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873EA7-E3E7-4727-92C3-A292303C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54D38DB-4B3D-4978-A810-272C0B083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980" y="1030189"/>
            <a:ext cx="5242333" cy="3600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FE357F5-2CA5-4AE9-9F8B-D44625305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780" y="2484451"/>
            <a:ext cx="3057952" cy="4572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81AD264-5A73-418C-B9CF-1500D276F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044" y="4346666"/>
            <a:ext cx="3355423" cy="60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0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8C745-FE7E-497A-AC0A-F24BE93E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Consensus Shape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E245CD-BCD0-4F0F-AD8E-9881F0BC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Body Model Term</a:t>
            </a:r>
          </a:p>
          <a:p>
            <a:pPr lvl="1"/>
            <a:r>
              <a:rPr lang="en-US" altLang="ko-KR" dirty="0"/>
              <a:t>Penalize large deviations from shapes explained by SMPL</a:t>
            </a:r>
          </a:p>
          <a:p>
            <a:pPr lvl="1"/>
            <a:r>
              <a:rPr lang="en-US" altLang="ko-KR" dirty="0"/>
              <a:t>Penalize offsets with respect to a template model with offsets D = 0 and an auxiliary variable β</a:t>
            </a:r>
            <a:r>
              <a:rPr lang="en-US" altLang="ko-KR" baseline="30000" dirty="0"/>
              <a:t>~</a:t>
            </a:r>
          </a:p>
          <a:p>
            <a:pPr lvl="1"/>
            <a:endParaRPr lang="en-US" altLang="ko-KR" baseline="30000" dirty="0"/>
          </a:p>
          <a:p>
            <a:pPr lvl="1"/>
            <a:endParaRPr lang="en-US" altLang="ko-KR" baseline="30000" dirty="0"/>
          </a:p>
          <a:p>
            <a:r>
              <a:rPr lang="en-US" altLang="ko-KR" dirty="0"/>
              <a:t>Symmetry Term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S: all pairs of Y-symmetric vertices</a:t>
            </a:r>
          </a:p>
          <a:p>
            <a:pPr lvl="1"/>
            <a:r>
              <a:rPr lang="en-US" altLang="ko-KR" dirty="0"/>
              <a:t>Soft-constraint to allow potential symmetries in clothing wrinkles and body shapes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A09B8-1CE0-4BF8-9D54-A0B91766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873EA7-E3E7-4727-92C3-A292303C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54D38DB-4B3D-4978-A810-272C0B083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980" y="1030189"/>
            <a:ext cx="5242333" cy="3600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E78801E-9804-4B8B-ABB1-955649376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516" y="2988521"/>
            <a:ext cx="3219899" cy="49536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003E9F-ACA3-457E-910A-DD3BC39BD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648" y="3835363"/>
            <a:ext cx="3334215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57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8C745-FE7E-497A-AC0A-F24BE93E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Consensus Shape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E245CD-BCD0-4F0F-AD8E-9881F0BC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Implementation Details</a:t>
            </a:r>
          </a:p>
          <a:p>
            <a:pPr lvl="1"/>
            <a:r>
              <a:rPr lang="en-US" altLang="ko-KR" dirty="0"/>
              <a:t>Unclothed regions and where silhouettes are noisy are more regularized using per-vertex weights τ</a:t>
            </a:r>
          </a:p>
          <a:p>
            <a:pPr lvl="1"/>
            <a:r>
              <a:rPr lang="en-US" altLang="ko-KR" dirty="0"/>
              <a:t>Optimize E</a:t>
            </a:r>
            <a:r>
              <a:rPr lang="en-US" altLang="ko-KR" baseline="-25000" dirty="0"/>
              <a:t>cons</a:t>
            </a:r>
            <a:r>
              <a:rPr lang="en-US" altLang="ko-KR" dirty="0"/>
              <a:t> using “dog-leg’ trust region method</a:t>
            </a:r>
          </a:p>
          <a:p>
            <a:pPr lvl="1"/>
            <a:r>
              <a:rPr lang="en-US" altLang="ko-KR" dirty="0"/>
              <a:t>Alternate minimizing E</a:t>
            </a:r>
            <a:r>
              <a:rPr lang="en-US" altLang="ko-KR" baseline="-25000" dirty="0"/>
              <a:t>cons</a:t>
            </a:r>
            <a:r>
              <a:rPr lang="en-US" altLang="ko-KR" dirty="0"/>
              <a:t> and finding point to line correspondences</a:t>
            </a:r>
          </a:p>
          <a:p>
            <a:pPr lvl="1"/>
            <a:r>
              <a:rPr lang="en-US" altLang="ko-KR" dirty="0"/>
              <a:t>Re-initialize E</a:t>
            </a:r>
            <a:r>
              <a:rPr lang="en-US" altLang="ko-KR" baseline="-25000" dirty="0"/>
              <a:t>lp</a:t>
            </a:r>
            <a:r>
              <a:rPr lang="en-US" altLang="ko-KR" dirty="0"/>
              <a:t>, E</a:t>
            </a:r>
            <a:r>
              <a:rPr lang="en-US" altLang="ko-KR" baseline="-25000" dirty="0"/>
              <a:t>var</a:t>
            </a:r>
            <a:r>
              <a:rPr lang="en-US" altLang="ko-KR" dirty="0"/>
              <a:t>, E</a:t>
            </a:r>
            <a:r>
              <a:rPr lang="en-US" altLang="ko-KR" baseline="-25000" dirty="0"/>
              <a:t>sym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A09B8-1CE0-4BF8-9D54-A0B91766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873EA7-E3E7-4727-92C3-A292303C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54D38DB-4B3D-4978-A810-272C0B083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980" y="1030189"/>
            <a:ext cx="5242333" cy="36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2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3E3B3-0454-45C0-9ACC-93C02DA1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Frame Refine and Texture Gen.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811B65-DB3F-43A5-B742-3E972C76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Aim to capture temporal variations</a:t>
            </a:r>
          </a:p>
          <a:p>
            <a:r>
              <a:rPr lang="en-US" altLang="ko-KR" dirty="0"/>
              <a:t>Adapt Eq. 7 to process frames sequentially</a:t>
            </a:r>
          </a:p>
          <a:p>
            <a:r>
              <a:rPr lang="en-US" altLang="ko-KR" dirty="0"/>
              <a:t>Initialized with preceding frame and regularized with neighboring frames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l-GR" altLang="ko-KR" dirty="0"/>
              <a:t>Ψ</a:t>
            </a:r>
            <a:r>
              <a:rPr lang="en-US" altLang="ko-KR" baseline="-25000" dirty="0"/>
              <a:t>j</a:t>
            </a:r>
            <a:r>
              <a:rPr lang="en-US" altLang="ko-KR" dirty="0"/>
              <a:t>: 1 for j=k and w</a:t>
            </a:r>
            <a:r>
              <a:rPr lang="en-US" altLang="ko-KR" baseline="-25000" dirty="0"/>
              <a:t>neigh</a:t>
            </a:r>
            <a:r>
              <a:rPr lang="en-US" altLang="ko-KR" dirty="0"/>
              <a:t>&lt;1 for</a:t>
            </a:r>
            <a:r>
              <a:rPr lang="ko-KR" altLang="en-US" dirty="0"/>
              <a:t> </a:t>
            </a:r>
            <a:r>
              <a:rPr lang="en-US" altLang="ko-KR" dirty="0"/>
              <a:t>neighboring</a:t>
            </a:r>
            <a:r>
              <a:rPr lang="ko-KR" altLang="en-US" dirty="0"/>
              <a:t> </a:t>
            </a:r>
            <a:r>
              <a:rPr lang="en-US" altLang="ko-KR" dirty="0"/>
              <a:t>frames</a:t>
            </a:r>
          </a:p>
          <a:p>
            <a:pPr lvl="1"/>
            <a:r>
              <a:rPr lang="en-US" altLang="ko-KR" dirty="0"/>
              <a:t>Defines influence of neighboring frames</a:t>
            </a:r>
          </a:p>
          <a:p>
            <a:r>
              <a:rPr lang="en-US" altLang="ko-KR" dirty="0"/>
              <a:t>E</a:t>
            </a:r>
            <a:r>
              <a:rPr lang="en-US" altLang="ko-KR" baseline="-25000" dirty="0"/>
              <a:t>last</a:t>
            </a:r>
            <a:r>
              <a:rPr lang="en-US" altLang="ko-KR" dirty="0"/>
              <a:t>: regularize reconstruction to result of preceding frame</a:t>
            </a:r>
          </a:p>
          <a:p>
            <a:r>
              <a:rPr lang="en-US" altLang="ko-KR" dirty="0"/>
              <a:t>Warp model back to each frame, back-project image color to all visible vertices and generate texture image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F8A275-E41D-4DE2-8871-47CD6807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1E4BA6-274E-4B26-99E8-4C4E19B6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204591D-1239-41D7-A9A7-B66DF58A8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326" y="3099530"/>
            <a:ext cx="2736380" cy="6944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52F926-7F90-4879-BD08-10876927A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282" y="2680798"/>
            <a:ext cx="3079099" cy="153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3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10783-BBA7-4F29-9EBE-B6C28A5D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94BCAD-0D8F-4AC2-B01D-878B53143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67" y="1076217"/>
            <a:ext cx="9917113" cy="6035675"/>
          </a:xfrm>
        </p:spPr>
        <p:txBody>
          <a:bodyPr/>
          <a:lstStyle/>
          <a:p>
            <a:r>
              <a:rPr lang="en-US" altLang="ko-KR" dirty="0"/>
              <a:t>BUFF and </a:t>
            </a:r>
            <a:r>
              <a:rPr lang="en-US" altLang="ko-KR" dirty="0" err="1"/>
              <a:t>DynamicFaust</a:t>
            </a:r>
            <a:endParaRPr lang="en-US" altLang="ko-KR" dirty="0"/>
          </a:p>
          <a:p>
            <a:pPr lvl="1"/>
            <a:r>
              <a:rPr lang="en-US" altLang="ko-KR" dirty="0"/>
              <a:t>Created and rotated virtual camera</a:t>
            </a:r>
          </a:p>
          <a:p>
            <a:pPr lvl="1"/>
            <a:r>
              <a:rPr lang="en-US" altLang="ko-KR" dirty="0"/>
              <a:t>300-800frames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0DDBBA-E618-40E8-A75B-F98EE7BBE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CE6496-465F-4A77-AF42-7675A9DA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0E27911-BE8E-4EE4-8EE7-2F4B415B5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528" y="2916511"/>
            <a:ext cx="7992590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71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10783-BBA7-4F29-9EBE-B6C28A5D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94BCAD-0D8F-4AC2-B01D-878B53143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67" y="1076217"/>
            <a:ext cx="9917113" cy="6035675"/>
          </a:xfrm>
        </p:spPr>
        <p:txBody>
          <a:bodyPr/>
          <a:lstStyle/>
          <a:p>
            <a:r>
              <a:rPr lang="en-US" altLang="ko-KR" dirty="0" err="1"/>
              <a:t>Comparision</a:t>
            </a:r>
            <a:r>
              <a:rPr lang="en-US" altLang="ko-KR" dirty="0"/>
              <a:t> to </a:t>
            </a:r>
            <a:r>
              <a:rPr lang="en-US" altLang="ko-KR" dirty="0" err="1"/>
              <a:t>SMPLify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Overlay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output and input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0DDBBA-E618-40E8-A75B-F98EE7BBE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CE6496-465F-4A77-AF42-7675A9DA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4D89F1-E634-4BFE-8C24-895CE62CE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130" y="1620331"/>
            <a:ext cx="3153252" cy="20320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B0BB1D4-9534-4E9D-A6E4-D00042B4E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345" y="4196541"/>
            <a:ext cx="2876822" cy="345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30565"/>
      </p:ext>
    </p:extLst>
  </p:cSld>
  <p:clrMapOvr>
    <a:masterClrMapping/>
  </p:clrMapOvr>
</p:sld>
</file>

<file path=ppt/theme/theme1.xml><?xml version="1.0" encoding="utf-8"?>
<a:theme xmlns:a="http://schemas.openxmlformats.org/drawingml/2006/main" name="Sanghun Park">
  <a:themeElements>
    <a:clrScheme name="Sanghun P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anghun Park">
      <a:majorFont>
        <a:latin typeface="HY바다M"/>
        <a:ea typeface="HY바다M"/>
        <a:cs typeface=""/>
      </a:majorFont>
      <a:minorFont>
        <a:latin typeface="HY바다M"/>
        <a:ea typeface="HY바다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</a:objectDefaults>
  <a:extraClrSchemeLst>
    <a:extraClrScheme>
      <a:clrScheme name="Sanghun P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12384</TotalTime>
  <Words>674</Words>
  <Application>Microsoft Office PowerPoint</Application>
  <PresentationFormat>사용자 지정</PresentationFormat>
  <Paragraphs>158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HY강B</vt:lpstr>
      <vt:lpstr>HY강M</vt:lpstr>
      <vt:lpstr>HY바다M</vt:lpstr>
      <vt:lpstr>굴림</vt:lpstr>
      <vt:lpstr>맑은 고딕</vt:lpstr>
      <vt:lpstr>Helvetica</vt:lpstr>
      <vt:lpstr>Wingdings</vt:lpstr>
      <vt:lpstr>Sanghun Park</vt:lpstr>
      <vt:lpstr>   Video Based Reconstruction of 3D People Models</vt:lpstr>
      <vt:lpstr>INTRODUCTION</vt:lpstr>
      <vt:lpstr>INTRODUCTION</vt:lpstr>
      <vt:lpstr>Method</vt:lpstr>
      <vt:lpstr>3.1 SMPL body model with offsets</vt:lpstr>
      <vt:lpstr>3.1 SMPL body model with offsets</vt:lpstr>
      <vt:lpstr>3.2 Pose Reconstruction</vt:lpstr>
      <vt:lpstr>3.3 Consensus Shape</vt:lpstr>
      <vt:lpstr>3.3 Consensus Shape</vt:lpstr>
      <vt:lpstr>3.3 Consensus Shape</vt:lpstr>
      <vt:lpstr>3.3 Consensus Shape</vt:lpstr>
      <vt:lpstr>3.3 Consensus Shape</vt:lpstr>
      <vt:lpstr>3.4 Frame Refine and Texture Gen.</vt:lpstr>
      <vt:lpstr>Experiments</vt:lpstr>
      <vt:lpstr>Experiments</vt:lpstr>
    </vt:vector>
  </TitlesOfParts>
  <Company>Catholic University of Daegu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Sanghun Park</dc:creator>
  <cp:lastModifiedBy>user</cp:lastModifiedBy>
  <cp:revision>2361</cp:revision>
  <cp:lastPrinted>2014-05-13T12:45:55Z</cp:lastPrinted>
  <dcterms:created xsi:type="dcterms:W3CDTF">2003-02-11T01:26:29Z</dcterms:created>
  <dcterms:modified xsi:type="dcterms:W3CDTF">2018-07-16T10:49:15Z</dcterms:modified>
</cp:coreProperties>
</file>