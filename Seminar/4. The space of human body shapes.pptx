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313" r:id="rId4"/>
    <p:sldId id="312" r:id="rId5"/>
    <p:sldId id="302" r:id="rId6"/>
    <p:sldId id="297" r:id="rId7"/>
    <p:sldId id="311" r:id="rId8"/>
    <p:sldId id="306" r:id="rId9"/>
    <p:sldId id="308" r:id="rId10"/>
    <p:sldId id="309" r:id="rId11"/>
    <p:sldId id="319" r:id="rId12"/>
    <p:sldId id="320" r:id="rId13"/>
    <p:sldId id="315" r:id="rId14"/>
    <p:sldId id="317" r:id="rId15"/>
    <p:sldId id="31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57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40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79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13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92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49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30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30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37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9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D5439-BDD1-497F-9549-E5A5C148AF04}" type="datetimeFigureOut">
              <a:rPr lang="ko-KR" altLang="en-US" smtClean="0"/>
              <a:t>2018-05-02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43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The space of human body shapes: </a:t>
            </a:r>
            <a:br>
              <a:rPr lang="en-US" altLang="ko-KR" sz="4000" b="1" dirty="0"/>
            </a:br>
            <a:r>
              <a:rPr lang="en-US" altLang="ko-KR" sz="4000" b="1" dirty="0"/>
              <a:t>reconstruction and parameterization</a:t>
            </a:r>
            <a:br>
              <a:rPr lang="en-US" altLang="ko-KR" sz="4000" b="1" dirty="0"/>
            </a:br>
            <a:r>
              <a:rPr lang="en-US" altLang="ko-KR" sz="4000" b="1" dirty="0"/>
              <a:t>from range scans </a:t>
            </a:r>
            <a:endParaRPr lang="ko-KR" altLang="en-US" sz="40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8129" y="3602037"/>
            <a:ext cx="10475742" cy="2236055"/>
          </a:xfrm>
        </p:spPr>
        <p:txBody>
          <a:bodyPr>
            <a:normAutofit/>
          </a:bodyPr>
          <a:lstStyle/>
          <a:p>
            <a:r>
              <a:rPr lang="nb-NO" altLang="ko-KR" dirty="0"/>
              <a:t>Brett Allen, Brian Curless, and Zoran Popovic </a:t>
            </a:r>
            <a:endParaRPr lang="en-US" altLang="ko-KR" dirty="0"/>
          </a:p>
          <a:p>
            <a:r>
              <a:rPr lang="en-US" altLang="ko-KR" dirty="0"/>
              <a:t>2018. 5. 3</a:t>
            </a:r>
          </a:p>
          <a:p>
            <a:r>
              <a:rPr lang="en-US" altLang="ko-KR" dirty="0"/>
              <a:t>Presenter: </a:t>
            </a:r>
            <a:r>
              <a:rPr lang="en-US" altLang="ko-KR" dirty="0" err="1"/>
              <a:t>Sesong</a:t>
            </a:r>
            <a:r>
              <a:rPr lang="en-US" altLang="ko-KR" dirty="0"/>
              <a:t> Kim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02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 propose a method for creating a </a:t>
            </a:r>
            <a:r>
              <a:rPr lang="en-US" altLang="ko-KR" b="1" dirty="0"/>
              <a:t>whole-body morphable model</a:t>
            </a:r>
            <a:r>
              <a:rPr lang="en-US" altLang="ko-KR" dirty="0"/>
              <a:t> based on 3D scanned examples in the spirit of </a:t>
            </a:r>
            <a:r>
              <a:rPr lang="en-US" altLang="ko-KR" dirty="0" err="1"/>
              <a:t>Blanz</a:t>
            </a:r>
            <a:r>
              <a:rPr lang="en-US" altLang="ko-KR" dirty="0"/>
              <a:t> and Vetter’s morphable face model [1999]. </a:t>
            </a:r>
          </a:p>
          <a:p>
            <a:endParaRPr lang="ko-KR" altLang="en-US" dirty="0"/>
          </a:p>
        </p:txBody>
      </p:sp>
      <p:pic>
        <p:nvPicPr>
          <p:cNvPr id="1026" name="Picture 2" descr="http://gravis.dmi.unibas.ch/publications/Sigg99/tom.jpg">
            <a:extLst>
              <a:ext uri="{FF2B5EF4-FFF2-40B4-BE49-F238E27FC236}">
                <a16:creationId xmlns:a16="http://schemas.microsoft.com/office/drawing/2014/main" id="{FB62968D-A8EE-4464-9F70-9B736D654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433" y="3095126"/>
            <a:ext cx="3304528" cy="355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0A6C93-55AE-43B1-888E-90033449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2" y="3910555"/>
            <a:ext cx="7755370" cy="258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8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Dataset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420096" cy="4515798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Civilian American and European Surface Anthropometry Resource Project (</a:t>
            </a:r>
            <a:r>
              <a:rPr lang="en-US" altLang="ko-KR" sz="1800" b="1" dirty="0"/>
              <a:t>CAESAR</a:t>
            </a:r>
            <a:r>
              <a:rPr lang="en-US" altLang="ko-KR" sz="1800" dirty="0"/>
              <a:t>)</a:t>
            </a:r>
          </a:p>
          <a:p>
            <a:r>
              <a:rPr lang="en-US" altLang="ko-KR" sz="1800" dirty="0"/>
              <a:t>Thousands of range scans of volunteers aged 18–65 in the United States and Europe</a:t>
            </a:r>
          </a:p>
          <a:p>
            <a:r>
              <a:rPr lang="en-US" altLang="ko-KR" sz="1800" b="1" dirty="0"/>
              <a:t>74 white markers</a:t>
            </a:r>
          </a:p>
          <a:p>
            <a:r>
              <a:rPr lang="en-US" altLang="ko-KR" sz="1800" dirty="0"/>
              <a:t>The reconstructed meshes are not complete, due to </a:t>
            </a:r>
            <a:r>
              <a:rPr lang="en-US" altLang="ko-KR" sz="1800" b="1" dirty="0"/>
              <a:t>occlusions and grazing angle views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This paper use a subset of the meshes in the CAESAR dataset, consisting of 125 male and 125 female scans with a wide variety of body types and ethnicities.</a:t>
            </a:r>
          </a:p>
          <a:p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6F42E3-11AC-4952-96A6-998BA48C0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21" y="2077591"/>
            <a:ext cx="5739556" cy="281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2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376553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(a): The template mesh(artist generated)</a:t>
            </a:r>
          </a:p>
          <a:p>
            <a:r>
              <a:rPr lang="en-US" altLang="ko-KR" sz="2000" dirty="0"/>
              <a:t>(b): Since the template mesh doesn’t have the markers, </a:t>
            </a:r>
            <a:r>
              <a:rPr lang="en-US" altLang="ko-KR" sz="2000" b="1" dirty="0"/>
              <a:t>use a different set of markers </a:t>
            </a:r>
            <a:r>
              <a:rPr lang="en-US" altLang="ko-KR" sz="2000" dirty="0"/>
              <a:t>based on visually-identiﬁable features to ensure good correspondence. </a:t>
            </a:r>
          </a:p>
          <a:p>
            <a:r>
              <a:rPr lang="en-US" altLang="ko-KR" sz="2000" dirty="0"/>
              <a:t>(c), (e): Heads of the subjects. Interior surfaces are tinted blue. </a:t>
            </a:r>
          </a:p>
          <a:p>
            <a:r>
              <a:rPr lang="en-US" altLang="ko-KR" sz="2000" dirty="0"/>
              <a:t>(d), (f): The templates mapped to (c), (e).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B080A5-825C-46CF-88B5-5FC1377A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753" y="1509712"/>
            <a:ext cx="5829300" cy="3838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9FD75-A065-45E5-AD6F-658425BECE8C}"/>
              </a:ext>
            </a:extLst>
          </p:cNvPr>
          <p:cNvSpPr txBox="1"/>
          <p:nvPr/>
        </p:nvSpPr>
        <p:spPr>
          <a:xfrm>
            <a:off x="643467" y="5604014"/>
            <a:ext cx="12528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The holes have been ﬁlled in</a:t>
            </a:r>
            <a:r>
              <a:rPr lang="en-US" altLang="ko-KR" sz="2000" dirty="0"/>
              <a:t>, and the template </a:t>
            </a:r>
            <a:r>
              <a:rPr lang="en-US" altLang="ko-KR" sz="2000" b="1" dirty="0"/>
              <a:t>ear has been plausibly rotated and scaled.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1689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2. Related work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Autofit/>
          </a:bodyPr>
          <a:lstStyle/>
          <a:p>
            <a:pPr fontAlgn="base"/>
            <a:r>
              <a:rPr lang="en-US" altLang="ko-KR" sz="1900" dirty="0" err="1"/>
              <a:t>Praun</a:t>
            </a:r>
            <a:r>
              <a:rPr lang="en-US" altLang="ko-KR" sz="1900" dirty="0"/>
              <a:t> et al. [2001] </a:t>
            </a:r>
          </a:p>
          <a:p>
            <a:pPr lvl="1" fontAlgn="base"/>
            <a:r>
              <a:rPr lang="en-US" altLang="ko-KR" sz="1500" dirty="0"/>
              <a:t>Establish an n-way correspondence between arbitrary meshes of the same topological type with feature markers. </a:t>
            </a:r>
          </a:p>
          <a:p>
            <a:pPr lvl="1" fontAlgn="base"/>
            <a:r>
              <a:rPr lang="en-US" altLang="ko-KR" sz="1500" dirty="0"/>
              <a:t>Unfortunately, whole body range scans </a:t>
            </a:r>
            <a:r>
              <a:rPr lang="en-US" altLang="ko-KR" sz="1500" b="1" dirty="0"/>
              <a:t>contain numerous holes</a:t>
            </a:r>
            <a:r>
              <a:rPr lang="en-US" altLang="ko-KR" sz="1500" dirty="0"/>
              <a:t>.</a:t>
            </a:r>
          </a:p>
          <a:p>
            <a:pPr fontAlgn="base"/>
            <a:r>
              <a:rPr lang="en-US" altLang="ko-KR" sz="1900" dirty="0"/>
              <a:t>Davis et al. [2002], </a:t>
            </a:r>
            <a:r>
              <a:rPr lang="en-US" altLang="ko-KR" sz="1900" dirty="0" err="1"/>
              <a:t>Carr</a:t>
            </a:r>
            <a:r>
              <a:rPr lang="en-US" altLang="ko-KR" sz="1900" dirty="0"/>
              <a:t> et al. [2001]; Whitaker [1998]</a:t>
            </a:r>
          </a:p>
          <a:p>
            <a:pPr lvl="1" fontAlgn="base"/>
            <a:r>
              <a:rPr lang="en-US" altLang="ko-KR" sz="1500" b="1" dirty="0"/>
              <a:t>Direct hole-free reconstruction methods</a:t>
            </a:r>
            <a:r>
              <a:rPr lang="en-US" altLang="ko-KR" sz="1500" dirty="0"/>
              <a:t> have the nice feature that holes are filled in a smooth manner. </a:t>
            </a:r>
          </a:p>
          <a:p>
            <a:pPr lvl="1" fontAlgn="base"/>
            <a:r>
              <a:rPr lang="en-US" altLang="ko-KR" sz="1500" dirty="0"/>
              <a:t>However, while smooth hole-filling is reasonable in some areas, such as the top of the head and possibly in the underarm, </a:t>
            </a:r>
            <a:r>
              <a:rPr lang="en-US" altLang="ko-KR" sz="1500" b="1" dirty="0"/>
              <a:t>other areas should not be filled smoothly</a:t>
            </a:r>
            <a:r>
              <a:rPr lang="en-US" altLang="ko-KR" sz="1500"/>
              <a:t>.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22549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 Algorithm</a:t>
            </a:r>
            <a:endParaRPr lang="ko-KR" altLang="en-US" b="1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000" dirty="0"/>
              <a:t>The objective function is a weighted combination of three measures:	</a:t>
            </a:r>
          </a:p>
          <a:p>
            <a:pPr marL="0" indent="0" fontAlgn="base">
              <a:buNone/>
            </a:pPr>
            <a:endParaRPr lang="en-US" altLang="ko-KR" sz="2000" dirty="0"/>
          </a:p>
          <a:p>
            <a:pPr marL="514350" indent="-514350" fontAlgn="base">
              <a:buAutoNum type="arabicPeriod"/>
            </a:pPr>
            <a:r>
              <a:rPr lang="en-US" altLang="ko-KR" sz="2000" dirty="0"/>
              <a:t>Data error: proximity of transformed vertices to the range data</a:t>
            </a:r>
          </a:p>
          <a:p>
            <a:pPr marL="514350" indent="-514350" fontAlgn="base">
              <a:buAutoNum type="arabicPeriod"/>
            </a:pPr>
            <a:r>
              <a:rPr lang="en-US" altLang="ko-KR" sz="2000" dirty="0"/>
              <a:t>Smoothness error: similarity between neighboring transformations</a:t>
            </a:r>
          </a:p>
          <a:p>
            <a:pPr marL="514350" indent="-514350" fontAlgn="base">
              <a:buAutoNum type="arabicPeriod"/>
            </a:pPr>
            <a:r>
              <a:rPr lang="en-US" altLang="ko-KR" sz="2000" dirty="0"/>
              <a:t>Marker error: proximity of sparse markers at corresponding locations on the template and target surface.</a:t>
            </a:r>
          </a:p>
          <a:p>
            <a:pPr marL="0" indent="0" fontAlgn="base">
              <a:buNone/>
            </a:pPr>
            <a:endParaRPr lang="en-US" altLang="ko-KR" sz="1000" dirty="0"/>
          </a:p>
          <a:p>
            <a:pPr marL="0" indent="0" fontAlgn="base">
              <a:buNone/>
            </a:pPr>
            <a:r>
              <a:rPr lang="en-US" altLang="ko-KR" dirty="0"/>
              <a:t>Find affine transform matrix which minimize sum of error. </a:t>
            </a:r>
          </a:p>
        </p:txBody>
      </p:sp>
      <p:pic>
        <p:nvPicPr>
          <p:cNvPr id="4" name="Picture 2" descr="https://pages.mtu.edu/~shene/COURSES/cs3621/NOTES/geometry/3d-affine.jpg">
            <a:extLst>
              <a:ext uri="{FF2B5EF4-FFF2-40B4-BE49-F238E27FC236}">
                <a16:creationId xmlns:a16="http://schemas.microsoft.com/office/drawing/2014/main" id="{DECB2408-98E9-419F-AC95-B98111BF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748" y="4962714"/>
            <a:ext cx="8945435" cy="168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718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 Error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5165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000" dirty="0" err="1"/>
              <a:t>T_i</a:t>
            </a:r>
            <a:r>
              <a:rPr lang="en-US" altLang="ko-KR" sz="2000" dirty="0"/>
              <a:t>: set of afﬁne transformations which makes T into T’</a:t>
            </a:r>
          </a:p>
          <a:p>
            <a:pPr fontAlgn="base"/>
            <a:r>
              <a:rPr lang="en-US" altLang="ko-KR" sz="2000" dirty="0" err="1"/>
              <a:t>v_i</a:t>
            </a:r>
            <a:r>
              <a:rPr lang="en-US" altLang="ko-KR" sz="2000" dirty="0"/>
              <a:t>: the vertices vi of the template surface T </a:t>
            </a:r>
          </a:p>
          <a:p>
            <a:pPr fontAlgn="base"/>
            <a:r>
              <a:rPr lang="en-US" altLang="ko-KR" sz="2000" dirty="0"/>
              <a:t>v_3: marker of template mesh</a:t>
            </a:r>
          </a:p>
          <a:p>
            <a:pPr fontAlgn="base"/>
            <a:r>
              <a:rPr lang="en-US" altLang="ko-KR" sz="2000" dirty="0"/>
              <a:t>m_0: marker of scanned data</a:t>
            </a:r>
          </a:p>
          <a:p>
            <a:pPr fontAlgn="base"/>
            <a:r>
              <a:rPr lang="en-US" altLang="ko-KR" sz="2000" b="1" dirty="0"/>
              <a:t>The data error</a:t>
            </a:r>
            <a:r>
              <a:rPr lang="en-US" altLang="ko-KR" sz="2000" dirty="0"/>
              <a:t>, indicated by the </a:t>
            </a:r>
            <a:r>
              <a:rPr lang="en-US" altLang="ko-KR" sz="2000" b="1" dirty="0"/>
              <a:t>red arrows</a:t>
            </a:r>
            <a:r>
              <a:rPr lang="en-US" altLang="ko-KR" sz="2000" dirty="0"/>
              <a:t>, is a weighted sum of the squared distances between the transformed template surface and D. </a:t>
            </a:r>
          </a:p>
          <a:p>
            <a:pPr fontAlgn="base"/>
            <a:r>
              <a:rPr lang="en-US" altLang="ko-KR" sz="2000" b="1" dirty="0"/>
              <a:t>The smoothness error</a:t>
            </a:r>
            <a:r>
              <a:rPr lang="en-US" altLang="ko-KR" sz="2000" dirty="0"/>
              <a:t> penalizes differences between adjacent transform matrices. </a:t>
            </a:r>
          </a:p>
          <a:p>
            <a:pPr fontAlgn="base"/>
            <a:r>
              <a:rPr lang="en-US" altLang="ko-KR" sz="2000" b="1" dirty="0"/>
              <a:t>The marker error</a:t>
            </a:r>
            <a:r>
              <a:rPr lang="en-US" altLang="ko-KR" sz="2000" dirty="0"/>
              <a:t> penalizes distance between the marker points on the transformed surface and on D.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A805D2-0096-4D7A-9B78-F0290215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471" y="675209"/>
            <a:ext cx="4374529" cy="253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5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3.1 Data error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2262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400" dirty="0"/>
              <a:t>The template surface should be </a:t>
            </a:r>
            <a:r>
              <a:rPr lang="en-US" altLang="ko-KR" sz="2400" b="1" dirty="0"/>
              <a:t>as close as possible to the target surface</a:t>
            </a:r>
          </a:p>
          <a:p>
            <a:pPr fontAlgn="base"/>
            <a:r>
              <a:rPr lang="en-US" altLang="ko-KR" sz="2400" dirty="0" err="1"/>
              <a:t>dist</a:t>
            </a:r>
            <a:r>
              <a:rPr lang="en-US" altLang="ko-KR" sz="2400" dirty="0"/>
              <a:t>() function computes the distance to the closest point on 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AC2BC30-2F6B-4341-8C49-C8128BB2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19" y="4056537"/>
            <a:ext cx="4229100" cy="14287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0746A46-6ACE-4E36-9EBE-C8B50A75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3" y="3761421"/>
            <a:ext cx="4720749" cy="2731454"/>
          </a:xfrm>
          <a:prstGeom prst="rect">
            <a:avLst/>
          </a:prstGeom>
        </p:spPr>
      </p:pic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DE2677C-0696-4620-BF28-A661E8C76D00}"/>
              </a:ext>
            </a:extLst>
          </p:cNvPr>
          <p:cNvSpPr/>
          <p:nvPr/>
        </p:nvSpPr>
        <p:spPr>
          <a:xfrm>
            <a:off x="8153400" y="4084320"/>
            <a:ext cx="502920" cy="932523"/>
          </a:xfrm>
          <a:custGeom>
            <a:avLst/>
            <a:gdLst>
              <a:gd name="connsiteX0" fmla="*/ 502920 w 502920"/>
              <a:gd name="connsiteY0" fmla="*/ 91440 h 932523"/>
              <a:gd name="connsiteX1" fmla="*/ 502920 w 502920"/>
              <a:gd name="connsiteY1" fmla="*/ 91440 h 932523"/>
              <a:gd name="connsiteX2" fmla="*/ 487680 w 502920"/>
              <a:gd name="connsiteY2" fmla="*/ 457200 h 932523"/>
              <a:gd name="connsiteX3" fmla="*/ 472440 w 502920"/>
              <a:gd name="connsiteY3" fmla="*/ 609600 h 932523"/>
              <a:gd name="connsiteX4" fmla="*/ 441960 w 502920"/>
              <a:gd name="connsiteY4" fmla="*/ 670560 h 932523"/>
              <a:gd name="connsiteX5" fmla="*/ 396240 w 502920"/>
              <a:gd name="connsiteY5" fmla="*/ 838200 h 932523"/>
              <a:gd name="connsiteX6" fmla="*/ 365760 w 502920"/>
              <a:gd name="connsiteY6" fmla="*/ 883920 h 932523"/>
              <a:gd name="connsiteX7" fmla="*/ 320040 w 502920"/>
              <a:gd name="connsiteY7" fmla="*/ 929640 h 932523"/>
              <a:gd name="connsiteX8" fmla="*/ 30480 w 502920"/>
              <a:gd name="connsiteY8" fmla="*/ 883920 h 932523"/>
              <a:gd name="connsiteX9" fmla="*/ 0 w 502920"/>
              <a:gd name="connsiteY9" fmla="*/ 838200 h 932523"/>
              <a:gd name="connsiteX10" fmla="*/ 15240 w 502920"/>
              <a:gd name="connsiteY10" fmla="*/ 579120 h 932523"/>
              <a:gd name="connsiteX11" fmla="*/ 45720 w 502920"/>
              <a:gd name="connsiteY11" fmla="*/ 487680 h 932523"/>
              <a:gd name="connsiteX12" fmla="*/ 76200 w 502920"/>
              <a:gd name="connsiteY12" fmla="*/ 396240 h 932523"/>
              <a:gd name="connsiteX13" fmla="*/ 121920 w 502920"/>
              <a:gd name="connsiteY13" fmla="*/ 259080 h 932523"/>
              <a:gd name="connsiteX14" fmla="*/ 137160 w 502920"/>
              <a:gd name="connsiteY14" fmla="*/ 213360 h 932523"/>
              <a:gd name="connsiteX15" fmla="*/ 152400 w 502920"/>
              <a:gd name="connsiteY15" fmla="*/ 167640 h 932523"/>
              <a:gd name="connsiteX16" fmla="*/ 198120 w 502920"/>
              <a:gd name="connsiteY16" fmla="*/ 106680 h 932523"/>
              <a:gd name="connsiteX17" fmla="*/ 213360 w 502920"/>
              <a:gd name="connsiteY17" fmla="*/ 60960 h 932523"/>
              <a:gd name="connsiteX18" fmla="*/ 304800 w 502920"/>
              <a:gd name="connsiteY18" fmla="*/ 0 h 932523"/>
              <a:gd name="connsiteX19" fmla="*/ 426720 w 502920"/>
              <a:gd name="connsiteY19" fmla="*/ 15240 h 932523"/>
              <a:gd name="connsiteX20" fmla="*/ 487680 w 502920"/>
              <a:gd name="connsiteY20" fmla="*/ 106680 h 932523"/>
              <a:gd name="connsiteX21" fmla="*/ 502920 w 502920"/>
              <a:gd name="connsiteY21" fmla="*/ 91440 h 932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02920" h="932523">
                <a:moveTo>
                  <a:pt x="502920" y="91440"/>
                </a:moveTo>
                <a:lnTo>
                  <a:pt x="502920" y="91440"/>
                </a:lnTo>
                <a:cubicBezTo>
                  <a:pt x="497840" y="213360"/>
                  <a:pt x="494846" y="335385"/>
                  <a:pt x="487680" y="457200"/>
                </a:cubicBezTo>
                <a:cubicBezTo>
                  <a:pt x="484682" y="508165"/>
                  <a:pt x="483137" y="559680"/>
                  <a:pt x="472440" y="609600"/>
                </a:cubicBezTo>
                <a:cubicBezTo>
                  <a:pt x="467680" y="631814"/>
                  <a:pt x="452120" y="650240"/>
                  <a:pt x="441960" y="670560"/>
                </a:cubicBezTo>
                <a:cubicBezTo>
                  <a:pt x="433781" y="711455"/>
                  <a:pt x="418338" y="805053"/>
                  <a:pt x="396240" y="838200"/>
                </a:cubicBezTo>
                <a:cubicBezTo>
                  <a:pt x="386080" y="853440"/>
                  <a:pt x="377486" y="869849"/>
                  <a:pt x="365760" y="883920"/>
                </a:cubicBezTo>
                <a:cubicBezTo>
                  <a:pt x="351962" y="900477"/>
                  <a:pt x="335280" y="914400"/>
                  <a:pt x="320040" y="929640"/>
                </a:cubicBezTo>
                <a:cubicBezTo>
                  <a:pt x="237321" y="924470"/>
                  <a:pt x="103612" y="957052"/>
                  <a:pt x="30480" y="883920"/>
                </a:cubicBezTo>
                <a:cubicBezTo>
                  <a:pt x="17528" y="870968"/>
                  <a:pt x="10160" y="853440"/>
                  <a:pt x="0" y="838200"/>
                </a:cubicBezTo>
                <a:cubicBezTo>
                  <a:pt x="5080" y="751840"/>
                  <a:pt x="4051" y="664903"/>
                  <a:pt x="15240" y="579120"/>
                </a:cubicBezTo>
                <a:cubicBezTo>
                  <a:pt x="19396" y="547261"/>
                  <a:pt x="35560" y="518160"/>
                  <a:pt x="45720" y="487680"/>
                </a:cubicBezTo>
                <a:lnTo>
                  <a:pt x="76200" y="396240"/>
                </a:lnTo>
                <a:lnTo>
                  <a:pt x="121920" y="259080"/>
                </a:lnTo>
                <a:lnTo>
                  <a:pt x="137160" y="213360"/>
                </a:lnTo>
                <a:cubicBezTo>
                  <a:pt x="142240" y="198120"/>
                  <a:pt x="142761" y="180491"/>
                  <a:pt x="152400" y="167640"/>
                </a:cubicBezTo>
                <a:lnTo>
                  <a:pt x="198120" y="106680"/>
                </a:lnTo>
                <a:cubicBezTo>
                  <a:pt x="203200" y="91440"/>
                  <a:pt x="202001" y="72319"/>
                  <a:pt x="213360" y="60960"/>
                </a:cubicBezTo>
                <a:cubicBezTo>
                  <a:pt x="239263" y="35057"/>
                  <a:pt x="304800" y="0"/>
                  <a:pt x="304800" y="0"/>
                </a:cubicBezTo>
                <a:cubicBezTo>
                  <a:pt x="345440" y="5080"/>
                  <a:pt x="388230" y="1243"/>
                  <a:pt x="426720" y="15240"/>
                </a:cubicBezTo>
                <a:cubicBezTo>
                  <a:pt x="486202" y="36870"/>
                  <a:pt x="463833" y="66936"/>
                  <a:pt x="487680" y="106680"/>
                </a:cubicBezTo>
                <a:cubicBezTo>
                  <a:pt x="495072" y="119001"/>
                  <a:pt x="500380" y="93980"/>
                  <a:pt x="502920" y="91440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3.2 Smoothness error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400" dirty="0"/>
              <a:t>Not smoothness of the deformed surface itself, </a:t>
            </a:r>
            <a:br>
              <a:rPr lang="en-US" altLang="ko-KR" sz="2400" dirty="0"/>
            </a:br>
            <a:r>
              <a:rPr lang="en-US" altLang="ko-KR" sz="2400" dirty="0"/>
              <a:t>but smoothness of the </a:t>
            </a:r>
            <a:r>
              <a:rPr lang="en-US" altLang="ko-KR" sz="2400" b="1" dirty="0"/>
              <a:t>actual deformation applied to the template surface</a:t>
            </a:r>
            <a:r>
              <a:rPr lang="en-US" altLang="ko-KR" sz="2400" dirty="0"/>
              <a:t>.</a:t>
            </a:r>
          </a:p>
          <a:p>
            <a:pPr fontAlgn="base"/>
            <a:r>
              <a:rPr lang="en-US" altLang="ko-KR" sz="2400" dirty="0"/>
              <a:t>||·||F is the </a:t>
            </a:r>
            <a:r>
              <a:rPr lang="en-US" altLang="ko-KR" sz="2400" dirty="0" err="1"/>
              <a:t>Frobenius</a:t>
            </a:r>
            <a:r>
              <a:rPr lang="en-US" altLang="ko-KR" sz="2400" dirty="0"/>
              <a:t> norm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AB2A67-DED4-4BB4-936E-D4F3E0F28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43" y="3903724"/>
            <a:ext cx="5314950" cy="1285875"/>
          </a:xfrm>
          <a:prstGeom prst="rect">
            <a:avLst/>
          </a:prstGeom>
        </p:spPr>
      </p:pic>
      <p:pic>
        <p:nvPicPr>
          <p:cNvPr id="3074" name="Picture 2" descr=" ||A||_F=sqrt(sum_(i=1)^msum_(j=1)^n|a_(ij)|^2) ">
            <a:extLst>
              <a:ext uri="{FF2B5EF4-FFF2-40B4-BE49-F238E27FC236}">
                <a16:creationId xmlns:a16="http://schemas.microsoft.com/office/drawing/2014/main" id="{649D7C1B-684B-4F3D-9D1B-D117B11B2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299" y="5379305"/>
            <a:ext cx="1903701" cy="84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FDD624D-AFE1-4050-981E-447AEAED671A}"/>
              </a:ext>
            </a:extLst>
          </p:cNvPr>
          <p:cNvGrpSpPr/>
          <p:nvPr/>
        </p:nvGrpSpPr>
        <p:grpSpPr>
          <a:xfrm>
            <a:off x="7196323" y="3761421"/>
            <a:ext cx="4720749" cy="2731454"/>
            <a:chOff x="7196323" y="3761421"/>
            <a:chExt cx="4720749" cy="273145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99CA3FC-388D-4FB9-BF3A-8CC2714EE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6323" y="3761421"/>
              <a:ext cx="4720749" cy="2731454"/>
            </a:xfrm>
            <a:prstGeom prst="rect">
              <a:avLst/>
            </a:prstGeom>
          </p:spPr>
        </p:pic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BE1F599D-E477-4F48-8701-218264378EAC}"/>
                </a:ext>
              </a:extLst>
            </p:cNvPr>
            <p:cNvSpPr/>
            <p:nvPr/>
          </p:nvSpPr>
          <p:spPr>
            <a:xfrm>
              <a:off x="7647709" y="4955376"/>
              <a:ext cx="3269972" cy="1085580"/>
            </a:xfrm>
            <a:custGeom>
              <a:avLst/>
              <a:gdLst>
                <a:gd name="connsiteX0" fmla="*/ 1140031 w 3269972"/>
                <a:gd name="connsiteY0" fmla="*/ 142504 h 1085580"/>
                <a:gd name="connsiteX1" fmla="*/ 1140031 w 3269972"/>
                <a:gd name="connsiteY1" fmla="*/ 142504 h 1085580"/>
                <a:gd name="connsiteX2" fmla="*/ 938151 w 3269972"/>
                <a:gd name="connsiteY2" fmla="*/ 71252 h 1085580"/>
                <a:gd name="connsiteX3" fmla="*/ 819397 w 3269972"/>
                <a:gd name="connsiteY3" fmla="*/ 35626 h 1085580"/>
                <a:gd name="connsiteX4" fmla="*/ 688769 w 3269972"/>
                <a:gd name="connsiteY4" fmla="*/ 23750 h 1085580"/>
                <a:gd name="connsiteX5" fmla="*/ 558140 w 3269972"/>
                <a:gd name="connsiteY5" fmla="*/ 0 h 1085580"/>
                <a:gd name="connsiteX6" fmla="*/ 356260 w 3269972"/>
                <a:gd name="connsiteY6" fmla="*/ 11875 h 1085580"/>
                <a:gd name="connsiteX7" fmla="*/ 308759 w 3269972"/>
                <a:gd name="connsiteY7" fmla="*/ 23750 h 1085580"/>
                <a:gd name="connsiteX8" fmla="*/ 178130 w 3269972"/>
                <a:gd name="connsiteY8" fmla="*/ 59376 h 1085580"/>
                <a:gd name="connsiteX9" fmla="*/ 71252 w 3269972"/>
                <a:gd name="connsiteY9" fmla="*/ 95002 h 1085580"/>
                <a:gd name="connsiteX10" fmla="*/ 35626 w 3269972"/>
                <a:gd name="connsiteY10" fmla="*/ 106878 h 1085580"/>
                <a:gd name="connsiteX11" fmla="*/ 0 w 3269972"/>
                <a:gd name="connsiteY11" fmla="*/ 178130 h 1085580"/>
                <a:gd name="connsiteX12" fmla="*/ 23751 w 3269972"/>
                <a:gd name="connsiteY12" fmla="*/ 356259 h 1085580"/>
                <a:gd name="connsiteX13" fmla="*/ 71252 w 3269972"/>
                <a:gd name="connsiteY13" fmla="*/ 439387 h 1085580"/>
                <a:gd name="connsiteX14" fmla="*/ 118753 w 3269972"/>
                <a:gd name="connsiteY14" fmla="*/ 510639 h 1085580"/>
                <a:gd name="connsiteX15" fmla="*/ 142504 w 3269972"/>
                <a:gd name="connsiteY15" fmla="*/ 546265 h 1085580"/>
                <a:gd name="connsiteX16" fmla="*/ 237507 w 3269972"/>
                <a:gd name="connsiteY16" fmla="*/ 570015 h 1085580"/>
                <a:gd name="connsiteX17" fmla="*/ 273133 w 3269972"/>
                <a:gd name="connsiteY17" fmla="*/ 581891 h 1085580"/>
                <a:gd name="connsiteX18" fmla="*/ 938151 w 3269972"/>
                <a:gd name="connsiteY18" fmla="*/ 593766 h 1085580"/>
                <a:gd name="connsiteX19" fmla="*/ 1056904 w 3269972"/>
                <a:gd name="connsiteY19" fmla="*/ 617517 h 1085580"/>
                <a:gd name="connsiteX20" fmla="*/ 1187533 w 3269972"/>
                <a:gd name="connsiteY20" fmla="*/ 653143 h 1085580"/>
                <a:gd name="connsiteX21" fmla="*/ 1258785 w 3269972"/>
                <a:gd name="connsiteY21" fmla="*/ 688769 h 1085580"/>
                <a:gd name="connsiteX22" fmla="*/ 1294410 w 3269972"/>
                <a:gd name="connsiteY22" fmla="*/ 712519 h 1085580"/>
                <a:gd name="connsiteX23" fmla="*/ 1330036 w 3269972"/>
                <a:gd name="connsiteY23" fmla="*/ 724395 h 1085580"/>
                <a:gd name="connsiteX24" fmla="*/ 1436914 w 3269972"/>
                <a:gd name="connsiteY24" fmla="*/ 783771 h 1085580"/>
                <a:gd name="connsiteX25" fmla="*/ 1472540 w 3269972"/>
                <a:gd name="connsiteY25" fmla="*/ 807522 h 1085580"/>
                <a:gd name="connsiteX26" fmla="*/ 1520042 w 3269972"/>
                <a:gd name="connsiteY26" fmla="*/ 831272 h 1085580"/>
                <a:gd name="connsiteX27" fmla="*/ 1591294 w 3269972"/>
                <a:gd name="connsiteY27" fmla="*/ 878774 h 1085580"/>
                <a:gd name="connsiteX28" fmla="*/ 1626920 w 3269972"/>
                <a:gd name="connsiteY28" fmla="*/ 902524 h 1085580"/>
                <a:gd name="connsiteX29" fmla="*/ 1710047 w 3269972"/>
                <a:gd name="connsiteY29" fmla="*/ 914400 h 1085580"/>
                <a:gd name="connsiteX30" fmla="*/ 1781299 w 3269972"/>
                <a:gd name="connsiteY30" fmla="*/ 926275 h 1085580"/>
                <a:gd name="connsiteX31" fmla="*/ 1840675 w 3269972"/>
                <a:gd name="connsiteY31" fmla="*/ 938150 h 1085580"/>
                <a:gd name="connsiteX32" fmla="*/ 1923803 w 3269972"/>
                <a:gd name="connsiteY32" fmla="*/ 961901 h 1085580"/>
                <a:gd name="connsiteX33" fmla="*/ 2042556 w 3269972"/>
                <a:gd name="connsiteY33" fmla="*/ 973776 h 1085580"/>
                <a:gd name="connsiteX34" fmla="*/ 2090057 w 3269972"/>
                <a:gd name="connsiteY34" fmla="*/ 985652 h 1085580"/>
                <a:gd name="connsiteX35" fmla="*/ 2945081 w 3269972"/>
                <a:gd name="connsiteY35" fmla="*/ 1021278 h 1085580"/>
                <a:gd name="connsiteX36" fmla="*/ 3111335 w 3269972"/>
                <a:gd name="connsiteY36" fmla="*/ 1068779 h 1085580"/>
                <a:gd name="connsiteX37" fmla="*/ 3146961 w 3269972"/>
                <a:gd name="connsiteY37" fmla="*/ 1080654 h 1085580"/>
                <a:gd name="connsiteX38" fmla="*/ 3265714 w 3269972"/>
                <a:gd name="connsiteY38" fmla="*/ 1068779 h 1085580"/>
                <a:gd name="connsiteX39" fmla="*/ 3241964 w 3269972"/>
                <a:gd name="connsiteY39" fmla="*/ 890649 h 1085580"/>
                <a:gd name="connsiteX40" fmla="*/ 3230088 w 3269972"/>
                <a:gd name="connsiteY40" fmla="*/ 855023 h 1085580"/>
                <a:gd name="connsiteX41" fmla="*/ 3194462 w 3269972"/>
                <a:gd name="connsiteY41" fmla="*/ 819397 h 1085580"/>
                <a:gd name="connsiteX42" fmla="*/ 3146961 w 3269972"/>
                <a:gd name="connsiteY42" fmla="*/ 748145 h 1085580"/>
                <a:gd name="connsiteX43" fmla="*/ 3063834 w 3269972"/>
                <a:gd name="connsiteY43" fmla="*/ 712519 h 1085580"/>
                <a:gd name="connsiteX44" fmla="*/ 3028208 w 3269972"/>
                <a:gd name="connsiteY44" fmla="*/ 700644 h 1085580"/>
                <a:gd name="connsiteX45" fmla="*/ 2909455 w 3269972"/>
                <a:gd name="connsiteY45" fmla="*/ 653143 h 1085580"/>
                <a:gd name="connsiteX46" fmla="*/ 2861953 w 3269972"/>
                <a:gd name="connsiteY46" fmla="*/ 641267 h 1085580"/>
                <a:gd name="connsiteX47" fmla="*/ 2493818 w 3269972"/>
                <a:gd name="connsiteY47" fmla="*/ 629392 h 1085580"/>
                <a:gd name="connsiteX48" fmla="*/ 2232561 w 3269972"/>
                <a:gd name="connsiteY48" fmla="*/ 617517 h 1085580"/>
                <a:gd name="connsiteX49" fmla="*/ 2149434 w 3269972"/>
                <a:gd name="connsiteY49" fmla="*/ 593766 h 1085580"/>
                <a:gd name="connsiteX50" fmla="*/ 2078182 w 3269972"/>
                <a:gd name="connsiteY50" fmla="*/ 570015 h 1085580"/>
                <a:gd name="connsiteX51" fmla="*/ 1923803 w 3269972"/>
                <a:gd name="connsiteY51" fmla="*/ 534389 h 1085580"/>
                <a:gd name="connsiteX52" fmla="*/ 1888177 w 3269972"/>
                <a:gd name="connsiteY52" fmla="*/ 522514 h 1085580"/>
                <a:gd name="connsiteX53" fmla="*/ 1757548 w 3269972"/>
                <a:gd name="connsiteY53" fmla="*/ 486888 h 1085580"/>
                <a:gd name="connsiteX54" fmla="*/ 1721922 w 3269972"/>
                <a:gd name="connsiteY54" fmla="*/ 475013 h 1085580"/>
                <a:gd name="connsiteX55" fmla="*/ 1686296 w 3269972"/>
                <a:gd name="connsiteY55" fmla="*/ 451262 h 1085580"/>
                <a:gd name="connsiteX56" fmla="*/ 1591294 w 3269972"/>
                <a:gd name="connsiteY56" fmla="*/ 415636 h 1085580"/>
                <a:gd name="connsiteX57" fmla="*/ 1472540 w 3269972"/>
                <a:gd name="connsiteY57" fmla="*/ 356259 h 1085580"/>
                <a:gd name="connsiteX58" fmla="*/ 1401288 w 3269972"/>
                <a:gd name="connsiteY58" fmla="*/ 296883 h 1085580"/>
                <a:gd name="connsiteX59" fmla="*/ 1330036 w 3269972"/>
                <a:gd name="connsiteY59" fmla="*/ 237506 h 1085580"/>
                <a:gd name="connsiteX60" fmla="*/ 1258785 w 3269972"/>
                <a:gd name="connsiteY60" fmla="*/ 213756 h 1085580"/>
                <a:gd name="connsiteX61" fmla="*/ 1223159 w 3269972"/>
                <a:gd name="connsiteY61" fmla="*/ 190005 h 1085580"/>
                <a:gd name="connsiteX62" fmla="*/ 1140031 w 3269972"/>
                <a:gd name="connsiteY62" fmla="*/ 142504 h 10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269972" h="1085580">
                  <a:moveTo>
                    <a:pt x="1140031" y="142504"/>
                  </a:moveTo>
                  <a:lnTo>
                    <a:pt x="1140031" y="142504"/>
                  </a:lnTo>
                  <a:cubicBezTo>
                    <a:pt x="1009853" y="93687"/>
                    <a:pt x="1077130" y="117579"/>
                    <a:pt x="938151" y="71252"/>
                  </a:cubicBezTo>
                  <a:cubicBezTo>
                    <a:pt x="904703" y="60103"/>
                    <a:pt x="846607" y="40161"/>
                    <a:pt x="819397" y="35626"/>
                  </a:cubicBezTo>
                  <a:cubicBezTo>
                    <a:pt x="776270" y="28438"/>
                    <a:pt x="732192" y="28859"/>
                    <a:pt x="688769" y="23750"/>
                  </a:cubicBezTo>
                  <a:cubicBezTo>
                    <a:pt x="651869" y="19409"/>
                    <a:pt x="595642" y="7500"/>
                    <a:pt x="558140" y="0"/>
                  </a:cubicBezTo>
                  <a:cubicBezTo>
                    <a:pt x="490847" y="3958"/>
                    <a:pt x="423366" y="5484"/>
                    <a:pt x="356260" y="11875"/>
                  </a:cubicBezTo>
                  <a:cubicBezTo>
                    <a:pt x="340013" y="13422"/>
                    <a:pt x="324691" y="20209"/>
                    <a:pt x="308759" y="23750"/>
                  </a:cubicBezTo>
                  <a:cubicBezTo>
                    <a:pt x="208059" y="46128"/>
                    <a:pt x="289336" y="22307"/>
                    <a:pt x="178130" y="59376"/>
                  </a:cubicBezTo>
                  <a:lnTo>
                    <a:pt x="71252" y="95002"/>
                  </a:lnTo>
                  <a:lnTo>
                    <a:pt x="35626" y="106878"/>
                  </a:lnTo>
                  <a:cubicBezTo>
                    <a:pt x="23617" y="124891"/>
                    <a:pt x="0" y="153546"/>
                    <a:pt x="0" y="178130"/>
                  </a:cubicBezTo>
                  <a:cubicBezTo>
                    <a:pt x="0" y="384084"/>
                    <a:pt x="193" y="262026"/>
                    <a:pt x="23751" y="356259"/>
                  </a:cubicBezTo>
                  <a:cubicBezTo>
                    <a:pt x="42828" y="432567"/>
                    <a:pt x="15718" y="402364"/>
                    <a:pt x="71252" y="439387"/>
                  </a:cubicBezTo>
                  <a:cubicBezTo>
                    <a:pt x="92121" y="501995"/>
                    <a:pt x="69334" y="451337"/>
                    <a:pt x="118753" y="510639"/>
                  </a:cubicBezTo>
                  <a:cubicBezTo>
                    <a:pt x="127890" y="521603"/>
                    <a:pt x="131359" y="537349"/>
                    <a:pt x="142504" y="546265"/>
                  </a:cubicBezTo>
                  <a:cubicBezTo>
                    <a:pt x="154843" y="556136"/>
                    <a:pt x="234282" y="569209"/>
                    <a:pt x="237507" y="570015"/>
                  </a:cubicBezTo>
                  <a:cubicBezTo>
                    <a:pt x="249651" y="573051"/>
                    <a:pt x="260622" y="581467"/>
                    <a:pt x="273133" y="581891"/>
                  </a:cubicBezTo>
                  <a:cubicBezTo>
                    <a:pt x="494714" y="589402"/>
                    <a:pt x="716478" y="589808"/>
                    <a:pt x="938151" y="593766"/>
                  </a:cubicBezTo>
                  <a:cubicBezTo>
                    <a:pt x="977735" y="601683"/>
                    <a:pt x="1018607" y="604752"/>
                    <a:pt x="1056904" y="617517"/>
                  </a:cubicBezTo>
                  <a:cubicBezTo>
                    <a:pt x="1147305" y="647650"/>
                    <a:pt x="1103607" y="636357"/>
                    <a:pt x="1187533" y="653143"/>
                  </a:cubicBezTo>
                  <a:cubicBezTo>
                    <a:pt x="1289636" y="721210"/>
                    <a:pt x="1160449" y="639600"/>
                    <a:pt x="1258785" y="688769"/>
                  </a:cubicBezTo>
                  <a:cubicBezTo>
                    <a:pt x="1271550" y="695152"/>
                    <a:pt x="1281645" y="706136"/>
                    <a:pt x="1294410" y="712519"/>
                  </a:cubicBezTo>
                  <a:cubicBezTo>
                    <a:pt x="1305606" y="718117"/>
                    <a:pt x="1319094" y="718316"/>
                    <a:pt x="1330036" y="724395"/>
                  </a:cubicBezTo>
                  <a:cubicBezTo>
                    <a:pt x="1452532" y="792449"/>
                    <a:pt x="1356304" y="756902"/>
                    <a:pt x="1436914" y="783771"/>
                  </a:cubicBezTo>
                  <a:cubicBezTo>
                    <a:pt x="1448789" y="791688"/>
                    <a:pt x="1460148" y="800441"/>
                    <a:pt x="1472540" y="807522"/>
                  </a:cubicBezTo>
                  <a:cubicBezTo>
                    <a:pt x="1487910" y="816305"/>
                    <a:pt x="1505637" y="820983"/>
                    <a:pt x="1520042" y="831272"/>
                  </a:cubicBezTo>
                  <a:cubicBezTo>
                    <a:pt x="1677627" y="943831"/>
                    <a:pt x="1455429" y="810842"/>
                    <a:pt x="1591294" y="878774"/>
                  </a:cubicBezTo>
                  <a:cubicBezTo>
                    <a:pt x="1604059" y="885157"/>
                    <a:pt x="1613250" y="898423"/>
                    <a:pt x="1626920" y="902524"/>
                  </a:cubicBezTo>
                  <a:cubicBezTo>
                    <a:pt x="1653730" y="910567"/>
                    <a:pt x="1682382" y="910144"/>
                    <a:pt x="1710047" y="914400"/>
                  </a:cubicBezTo>
                  <a:cubicBezTo>
                    <a:pt x="1733845" y="918061"/>
                    <a:pt x="1757609" y="921968"/>
                    <a:pt x="1781299" y="926275"/>
                  </a:cubicBezTo>
                  <a:cubicBezTo>
                    <a:pt x="1801157" y="929886"/>
                    <a:pt x="1821094" y="933255"/>
                    <a:pt x="1840675" y="938150"/>
                  </a:cubicBezTo>
                  <a:cubicBezTo>
                    <a:pt x="1868633" y="945139"/>
                    <a:pt x="1895423" y="956893"/>
                    <a:pt x="1923803" y="961901"/>
                  </a:cubicBezTo>
                  <a:cubicBezTo>
                    <a:pt x="1962979" y="968814"/>
                    <a:pt x="2002972" y="969818"/>
                    <a:pt x="2042556" y="973776"/>
                  </a:cubicBezTo>
                  <a:cubicBezTo>
                    <a:pt x="2058390" y="977735"/>
                    <a:pt x="2073823" y="983973"/>
                    <a:pt x="2090057" y="985652"/>
                  </a:cubicBezTo>
                  <a:cubicBezTo>
                    <a:pt x="2434771" y="1021312"/>
                    <a:pt x="2545732" y="1012781"/>
                    <a:pt x="2945081" y="1021278"/>
                  </a:cubicBezTo>
                  <a:cubicBezTo>
                    <a:pt x="3064378" y="1051102"/>
                    <a:pt x="3009110" y="1034704"/>
                    <a:pt x="3111335" y="1068779"/>
                  </a:cubicBezTo>
                  <a:lnTo>
                    <a:pt x="3146961" y="1080654"/>
                  </a:lnTo>
                  <a:cubicBezTo>
                    <a:pt x="3186545" y="1076696"/>
                    <a:pt x="3241845" y="1100604"/>
                    <a:pt x="3265714" y="1068779"/>
                  </a:cubicBezTo>
                  <a:cubicBezTo>
                    <a:pt x="3280203" y="1049460"/>
                    <a:pt x="3254050" y="932950"/>
                    <a:pt x="3241964" y="890649"/>
                  </a:cubicBezTo>
                  <a:cubicBezTo>
                    <a:pt x="3238525" y="878613"/>
                    <a:pt x="3237032" y="865438"/>
                    <a:pt x="3230088" y="855023"/>
                  </a:cubicBezTo>
                  <a:cubicBezTo>
                    <a:pt x="3220772" y="841049"/>
                    <a:pt x="3204773" y="832654"/>
                    <a:pt x="3194462" y="819397"/>
                  </a:cubicBezTo>
                  <a:cubicBezTo>
                    <a:pt x="3176937" y="796865"/>
                    <a:pt x="3174041" y="757171"/>
                    <a:pt x="3146961" y="748145"/>
                  </a:cubicBezTo>
                  <a:cubicBezTo>
                    <a:pt x="3063412" y="720296"/>
                    <a:pt x="3166554" y="756542"/>
                    <a:pt x="3063834" y="712519"/>
                  </a:cubicBezTo>
                  <a:cubicBezTo>
                    <a:pt x="3052328" y="707588"/>
                    <a:pt x="3039714" y="705575"/>
                    <a:pt x="3028208" y="700644"/>
                  </a:cubicBezTo>
                  <a:cubicBezTo>
                    <a:pt x="2959401" y="671155"/>
                    <a:pt x="2995965" y="674771"/>
                    <a:pt x="2909455" y="653143"/>
                  </a:cubicBezTo>
                  <a:cubicBezTo>
                    <a:pt x="2893621" y="649184"/>
                    <a:pt x="2878248" y="642198"/>
                    <a:pt x="2861953" y="641267"/>
                  </a:cubicBezTo>
                  <a:cubicBezTo>
                    <a:pt x="2739377" y="634263"/>
                    <a:pt x="2616506" y="634022"/>
                    <a:pt x="2493818" y="629392"/>
                  </a:cubicBezTo>
                  <a:lnTo>
                    <a:pt x="2232561" y="617517"/>
                  </a:lnTo>
                  <a:cubicBezTo>
                    <a:pt x="2112861" y="577615"/>
                    <a:pt x="2298510" y="638489"/>
                    <a:pt x="2149434" y="593766"/>
                  </a:cubicBezTo>
                  <a:cubicBezTo>
                    <a:pt x="2125454" y="586572"/>
                    <a:pt x="2102335" y="576602"/>
                    <a:pt x="2078182" y="570015"/>
                  </a:cubicBezTo>
                  <a:cubicBezTo>
                    <a:pt x="1974530" y="541746"/>
                    <a:pt x="2058225" y="579195"/>
                    <a:pt x="1923803" y="534389"/>
                  </a:cubicBezTo>
                  <a:cubicBezTo>
                    <a:pt x="1911928" y="530431"/>
                    <a:pt x="1900321" y="525550"/>
                    <a:pt x="1888177" y="522514"/>
                  </a:cubicBezTo>
                  <a:cubicBezTo>
                    <a:pt x="1753897" y="488945"/>
                    <a:pt x="1910405" y="537840"/>
                    <a:pt x="1757548" y="486888"/>
                  </a:cubicBezTo>
                  <a:lnTo>
                    <a:pt x="1721922" y="475013"/>
                  </a:lnTo>
                  <a:cubicBezTo>
                    <a:pt x="1710047" y="467096"/>
                    <a:pt x="1699062" y="457645"/>
                    <a:pt x="1686296" y="451262"/>
                  </a:cubicBezTo>
                  <a:cubicBezTo>
                    <a:pt x="1657892" y="437060"/>
                    <a:pt x="1622131" y="425915"/>
                    <a:pt x="1591294" y="415636"/>
                  </a:cubicBezTo>
                  <a:cubicBezTo>
                    <a:pt x="1506462" y="359082"/>
                    <a:pt x="1547734" y="375058"/>
                    <a:pt x="1472540" y="356259"/>
                  </a:cubicBezTo>
                  <a:cubicBezTo>
                    <a:pt x="1368458" y="252177"/>
                    <a:pt x="1500488" y="379548"/>
                    <a:pt x="1401288" y="296883"/>
                  </a:cubicBezTo>
                  <a:cubicBezTo>
                    <a:pt x="1369327" y="270249"/>
                    <a:pt x="1367944" y="254354"/>
                    <a:pt x="1330036" y="237506"/>
                  </a:cubicBezTo>
                  <a:cubicBezTo>
                    <a:pt x="1307159" y="227338"/>
                    <a:pt x="1258785" y="213756"/>
                    <a:pt x="1258785" y="213756"/>
                  </a:cubicBezTo>
                  <a:cubicBezTo>
                    <a:pt x="1246910" y="205839"/>
                    <a:pt x="1236699" y="194518"/>
                    <a:pt x="1223159" y="190005"/>
                  </a:cubicBezTo>
                  <a:cubicBezTo>
                    <a:pt x="1200316" y="182391"/>
                    <a:pt x="1153886" y="150421"/>
                    <a:pt x="1140031" y="142504"/>
                  </a:cubicBez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35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3.3 Marker error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000" dirty="0"/>
              <a:t>In the more common situation, where T and D are not close, the optimization can become </a:t>
            </a:r>
            <a:r>
              <a:rPr lang="en-US" altLang="ko-KR" sz="2000" b="1" dirty="0"/>
              <a:t>stuck in local minima</a:t>
            </a:r>
            <a:r>
              <a:rPr lang="en-US" altLang="ko-KR" sz="2000" dirty="0"/>
              <a:t>.</a:t>
            </a:r>
          </a:p>
          <a:p>
            <a:pPr fontAlgn="base"/>
            <a:r>
              <a:rPr lang="en-US" altLang="ko-KR" sz="2000" dirty="0"/>
              <a:t>To avoid this problem, the marker error term </a:t>
            </a:r>
            <a:r>
              <a:rPr lang="en-US" altLang="ko-KR" sz="2000" b="1" dirty="0"/>
              <a:t>minimizes the distance</a:t>
            </a:r>
            <a:r>
              <a:rPr lang="en-US" altLang="ko-KR" sz="2000" dirty="0"/>
              <a:t> between each marker’s location on the template surface and its location on the scanned surface.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07FE1E-2338-4727-9B6D-257F63F4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58" y="4151538"/>
            <a:ext cx="4381500" cy="1428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AF7A61-4D30-497A-B9C8-483B6317E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3" y="3761421"/>
            <a:ext cx="4720749" cy="2731454"/>
          </a:xfrm>
          <a:prstGeom prst="rect">
            <a:avLst/>
          </a:prstGeom>
        </p:spPr>
      </p:pic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8FDA935-9D12-4C60-8E3F-0D0E78D48FD3}"/>
              </a:ext>
            </a:extLst>
          </p:cNvPr>
          <p:cNvSpPr/>
          <p:nvPr/>
        </p:nvSpPr>
        <p:spPr>
          <a:xfrm>
            <a:off x="9494520" y="4410455"/>
            <a:ext cx="1693434" cy="2036065"/>
          </a:xfrm>
          <a:custGeom>
            <a:avLst/>
            <a:gdLst>
              <a:gd name="connsiteX0" fmla="*/ 1371600 w 1693434"/>
              <a:gd name="connsiteY0" fmla="*/ 9145 h 2036065"/>
              <a:gd name="connsiteX1" fmla="*/ 1371600 w 1693434"/>
              <a:gd name="connsiteY1" fmla="*/ 9145 h 2036065"/>
              <a:gd name="connsiteX2" fmla="*/ 1005840 w 1693434"/>
              <a:gd name="connsiteY2" fmla="*/ 192025 h 2036065"/>
              <a:gd name="connsiteX3" fmla="*/ 914400 w 1693434"/>
              <a:gd name="connsiteY3" fmla="*/ 237745 h 2036065"/>
              <a:gd name="connsiteX4" fmla="*/ 883920 w 1693434"/>
              <a:gd name="connsiteY4" fmla="*/ 283465 h 2036065"/>
              <a:gd name="connsiteX5" fmla="*/ 792480 w 1693434"/>
              <a:gd name="connsiteY5" fmla="*/ 344425 h 2036065"/>
              <a:gd name="connsiteX6" fmla="*/ 762000 w 1693434"/>
              <a:gd name="connsiteY6" fmla="*/ 390145 h 2036065"/>
              <a:gd name="connsiteX7" fmla="*/ 670560 w 1693434"/>
              <a:gd name="connsiteY7" fmla="*/ 481585 h 2036065"/>
              <a:gd name="connsiteX8" fmla="*/ 594360 w 1693434"/>
              <a:gd name="connsiteY8" fmla="*/ 588265 h 2036065"/>
              <a:gd name="connsiteX9" fmla="*/ 579120 w 1693434"/>
              <a:gd name="connsiteY9" fmla="*/ 633985 h 2036065"/>
              <a:gd name="connsiteX10" fmla="*/ 487680 w 1693434"/>
              <a:gd name="connsiteY10" fmla="*/ 755905 h 2036065"/>
              <a:gd name="connsiteX11" fmla="*/ 426720 w 1693434"/>
              <a:gd name="connsiteY11" fmla="*/ 862585 h 2036065"/>
              <a:gd name="connsiteX12" fmla="*/ 411480 w 1693434"/>
              <a:gd name="connsiteY12" fmla="*/ 908305 h 2036065"/>
              <a:gd name="connsiteX13" fmla="*/ 381000 w 1693434"/>
              <a:gd name="connsiteY13" fmla="*/ 969265 h 2036065"/>
              <a:gd name="connsiteX14" fmla="*/ 274320 w 1693434"/>
              <a:gd name="connsiteY14" fmla="*/ 1121665 h 2036065"/>
              <a:gd name="connsiteX15" fmla="*/ 243840 w 1693434"/>
              <a:gd name="connsiteY15" fmla="*/ 1167385 h 2036065"/>
              <a:gd name="connsiteX16" fmla="*/ 182880 w 1693434"/>
              <a:gd name="connsiteY16" fmla="*/ 1289305 h 2036065"/>
              <a:gd name="connsiteX17" fmla="*/ 121920 w 1693434"/>
              <a:gd name="connsiteY17" fmla="*/ 1380745 h 2036065"/>
              <a:gd name="connsiteX18" fmla="*/ 91440 w 1693434"/>
              <a:gd name="connsiteY18" fmla="*/ 1487425 h 2036065"/>
              <a:gd name="connsiteX19" fmla="*/ 30480 w 1693434"/>
              <a:gd name="connsiteY19" fmla="*/ 1609345 h 2036065"/>
              <a:gd name="connsiteX20" fmla="*/ 0 w 1693434"/>
              <a:gd name="connsiteY20" fmla="*/ 1731265 h 2036065"/>
              <a:gd name="connsiteX21" fmla="*/ 15240 w 1693434"/>
              <a:gd name="connsiteY21" fmla="*/ 1853185 h 2036065"/>
              <a:gd name="connsiteX22" fmla="*/ 60960 w 1693434"/>
              <a:gd name="connsiteY22" fmla="*/ 1898905 h 2036065"/>
              <a:gd name="connsiteX23" fmla="*/ 137160 w 1693434"/>
              <a:gd name="connsiteY23" fmla="*/ 1990345 h 2036065"/>
              <a:gd name="connsiteX24" fmla="*/ 243840 w 1693434"/>
              <a:gd name="connsiteY24" fmla="*/ 2036065 h 2036065"/>
              <a:gd name="connsiteX25" fmla="*/ 335280 w 1693434"/>
              <a:gd name="connsiteY25" fmla="*/ 2020825 h 2036065"/>
              <a:gd name="connsiteX26" fmla="*/ 350520 w 1693434"/>
              <a:gd name="connsiteY26" fmla="*/ 1959865 h 2036065"/>
              <a:gd name="connsiteX27" fmla="*/ 381000 w 1693434"/>
              <a:gd name="connsiteY27" fmla="*/ 1914145 h 2036065"/>
              <a:gd name="connsiteX28" fmla="*/ 441960 w 1693434"/>
              <a:gd name="connsiteY28" fmla="*/ 1761745 h 2036065"/>
              <a:gd name="connsiteX29" fmla="*/ 502920 w 1693434"/>
              <a:gd name="connsiteY29" fmla="*/ 1670305 h 2036065"/>
              <a:gd name="connsiteX30" fmla="*/ 624840 w 1693434"/>
              <a:gd name="connsiteY30" fmla="*/ 1533145 h 2036065"/>
              <a:gd name="connsiteX31" fmla="*/ 670560 w 1693434"/>
              <a:gd name="connsiteY31" fmla="*/ 1502665 h 2036065"/>
              <a:gd name="connsiteX32" fmla="*/ 731520 w 1693434"/>
              <a:gd name="connsiteY32" fmla="*/ 1472185 h 2036065"/>
              <a:gd name="connsiteX33" fmla="*/ 822960 w 1693434"/>
              <a:gd name="connsiteY33" fmla="*/ 1411225 h 2036065"/>
              <a:gd name="connsiteX34" fmla="*/ 868680 w 1693434"/>
              <a:gd name="connsiteY34" fmla="*/ 1365505 h 2036065"/>
              <a:gd name="connsiteX35" fmla="*/ 929640 w 1693434"/>
              <a:gd name="connsiteY35" fmla="*/ 1350265 h 2036065"/>
              <a:gd name="connsiteX36" fmla="*/ 960120 w 1693434"/>
              <a:gd name="connsiteY36" fmla="*/ 1304545 h 2036065"/>
              <a:gd name="connsiteX37" fmla="*/ 1005840 w 1693434"/>
              <a:gd name="connsiteY37" fmla="*/ 1274065 h 2036065"/>
              <a:gd name="connsiteX38" fmla="*/ 1036320 w 1693434"/>
              <a:gd name="connsiteY38" fmla="*/ 1228345 h 2036065"/>
              <a:gd name="connsiteX39" fmla="*/ 1082040 w 1693434"/>
              <a:gd name="connsiteY39" fmla="*/ 1182625 h 2036065"/>
              <a:gd name="connsiteX40" fmla="*/ 1143000 w 1693434"/>
              <a:gd name="connsiteY40" fmla="*/ 1075945 h 2036065"/>
              <a:gd name="connsiteX41" fmla="*/ 1188720 w 1693434"/>
              <a:gd name="connsiteY41" fmla="*/ 1045465 h 2036065"/>
              <a:gd name="connsiteX42" fmla="*/ 1234440 w 1693434"/>
              <a:gd name="connsiteY42" fmla="*/ 999745 h 2036065"/>
              <a:gd name="connsiteX43" fmla="*/ 1280160 w 1693434"/>
              <a:gd name="connsiteY43" fmla="*/ 969265 h 2036065"/>
              <a:gd name="connsiteX44" fmla="*/ 1325880 w 1693434"/>
              <a:gd name="connsiteY44" fmla="*/ 923545 h 2036065"/>
              <a:gd name="connsiteX45" fmla="*/ 1386840 w 1693434"/>
              <a:gd name="connsiteY45" fmla="*/ 908305 h 2036065"/>
              <a:gd name="connsiteX46" fmla="*/ 1478280 w 1693434"/>
              <a:gd name="connsiteY46" fmla="*/ 847345 h 2036065"/>
              <a:gd name="connsiteX47" fmla="*/ 1554480 w 1693434"/>
              <a:gd name="connsiteY47" fmla="*/ 740665 h 2036065"/>
              <a:gd name="connsiteX48" fmla="*/ 1569720 w 1693434"/>
              <a:gd name="connsiteY48" fmla="*/ 679705 h 2036065"/>
              <a:gd name="connsiteX49" fmla="*/ 1600200 w 1693434"/>
              <a:gd name="connsiteY49" fmla="*/ 633985 h 2036065"/>
              <a:gd name="connsiteX50" fmla="*/ 1615440 w 1693434"/>
              <a:gd name="connsiteY50" fmla="*/ 557785 h 2036065"/>
              <a:gd name="connsiteX51" fmla="*/ 1676400 w 1693434"/>
              <a:gd name="connsiteY51" fmla="*/ 390145 h 2036065"/>
              <a:gd name="connsiteX52" fmla="*/ 1676400 w 1693434"/>
              <a:gd name="connsiteY52" fmla="*/ 176785 h 2036065"/>
              <a:gd name="connsiteX53" fmla="*/ 1630680 w 1693434"/>
              <a:gd name="connsiteY53" fmla="*/ 131065 h 2036065"/>
              <a:gd name="connsiteX54" fmla="*/ 1539240 w 1693434"/>
              <a:gd name="connsiteY54" fmla="*/ 54865 h 2036065"/>
              <a:gd name="connsiteX55" fmla="*/ 1371600 w 1693434"/>
              <a:gd name="connsiteY55" fmla="*/ 9145 h 203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693434" h="2036065">
                <a:moveTo>
                  <a:pt x="1371600" y="9145"/>
                </a:moveTo>
                <a:lnTo>
                  <a:pt x="1371600" y="9145"/>
                </a:lnTo>
                <a:lnTo>
                  <a:pt x="1005840" y="192025"/>
                </a:lnTo>
                <a:cubicBezTo>
                  <a:pt x="899485" y="247172"/>
                  <a:pt x="1018954" y="202894"/>
                  <a:pt x="914400" y="237745"/>
                </a:cubicBezTo>
                <a:cubicBezTo>
                  <a:pt x="904240" y="252985"/>
                  <a:pt x="897704" y="271404"/>
                  <a:pt x="883920" y="283465"/>
                </a:cubicBezTo>
                <a:cubicBezTo>
                  <a:pt x="856351" y="307588"/>
                  <a:pt x="792480" y="344425"/>
                  <a:pt x="792480" y="344425"/>
                </a:cubicBezTo>
                <a:cubicBezTo>
                  <a:pt x="782320" y="359665"/>
                  <a:pt x="774169" y="376455"/>
                  <a:pt x="762000" y="390145"/>
                </a:cubicBezTo>
                <a:cubicBezTo>
                  <a:pt x="733362" y="422362"/>
                  <a:pt x="696423" y="447101"/>
                  <a:pt x="670560" y="481585"/>
                </a:cubicBezTo>
                <a:cubicBezTo>
                  <a:pt x="660205" y="495391"/>
                  <a:pt x="605502" y="565980"/>
                  <a:pt x="594360" y="588265"/>
                </a:cubicBezTo>
                <a:cubicBezTo>
                  <a:pt x="587176" y="602633"/>
                  <a:pt x="587745" y="620432"/>
                  <a:pt x="579120" y="633985"/>
                </a:cubicBezTo>
                <a:cubicBezTo>
                  <a:pt x="551847" y="676843"/>
                  <a:pt x="487680" y="755905"/>
                  <a:pt x="487680" y="755905"/>
                </a:cubicBezTo>
                <a:cubicBezTo>
                  <a:pt x="452737" y="860733"/>
                  <a:pt x="500531" y="733415"/>
                  <a:pt x="426720" y="862585"/>
                </a:cubicBezTo>
                <a:cubicBezTo>
                  <a:pt x="418750" y="876533"/>
                  <a:pt x="417808" y="893540"/>
                  <a:pt x="411480" y="908305"/>
                </a:cubicBezTo>
                <a:cubicBezTo>
                  <a:pt x="402531" y="929187"/>
                  <a:pt x="392689" y="949784"/>
                  <a:pt x="381000" y="969265"/>
                </a:cubicBezTo>
                <a:cubicBezTo>
                  <a:pt x="328447" y="1056853"/>
                  <a:pt x="326421" y="1048724"/>
                  <a:pt x="274320" y="1121665"/>
                </a:cubicBezTo>
                <a:cubicBezTo>
                  <a:pt x="263674" y="1136570"/>
                  <a:pt x="254000" y="1152145"/>
                  <a:pt x="243840" y="1167385"/>
                </a:cubicBezTo>
                <a:cubicBezTo>
                  <a:pt x="220659" y="1260107"/>
                  <a:pt x="243326" y="1202954"/>
                  <a:pt x="182880" y="1289305"/>
                </a:cubicBezTo>
                <a:cubicBezTo>
                  <a:pt x="161873" y="1319315"/>
                  <a:pt x="121920" y="1380745"/>
                  <a:pt x="121920" y="1380745"/>
                </a:cubicBezTo>
                <a:cubicBezTo>
                  <a:pt x="115453" y="1406611"/>
                  <a:pt x="103586" y="1460703"/>
                  <a:pt x="91440" y="1487425"/>
                </a:cubicBezTo>
                <a:cubicBezTo>
                  <a:pt x="72638" y="1528789"/>
                  <a:pt x="44848" y="1566240"/>
                  <a:pt x="30480" y="1609345"/>
                </a:cubicBezTo>
                <a:cubicBezTo>
                  <a:pt x="7049" y="1679639"/>
                  <a:pt x="18390" y="1639313"/>
                  <a:pt x="0" y="1731265"/>
                </a:cubicBezTo>
                <a:cubicBezTo>
                  <a:pt x="5080" y="1771905"/>
                  <a:pt x="1243" y="1814695"/>
                  <a:pt x="15240" y="1853185"/>
                </a:cubicBezTo>
                <a:cubicBezTo>
                  <a:pt x="22605" y="1873440"/>
                  <a:pt x="47162" y="1882348"/>
                  <a:pt x="60960" y="1898905"/>
                </a:cubicBezTo>
                <a:cubicBezTo>
                  <a:pt x="100275" y="1946083"/>
                  <a:pt x="82160" y="1951059"/>
                  <a:pt x="137160" y="1990345"/>
                </a:cubicBezTo>
                <a:cubicBezTo>
                  <a:pt x="170116" y="2013885"/>
                  <a:pt x="206529" y="2023628"/>
                  <a:pt x="243840" y="2036065"/>
                </a:cubicBezTo>
                <a:cubicBezTo>
                  <a:pt x="274320" y="2030985"/>
                  <a:pt x="310135" y="2038786"/>
                  <a:pt x="335280" y="2020825"/>
                </a:cubicBezTo>
                <a:cubicBezTo>
                  <a:pt x="352324" y="2008651"/>
                  <a:pt x="342269" y="1979117"/>
                  <a:pt x="350520" y="1959865"/>
                </a:cubicBezTo>
                <a:cubicBezTo>
                  <a:pt x="357735" y="1943030"/>
                  <a:pt x="373561" y="1930883"/>
                  <a:pt x="381000" y="1914145"/>
                </a:cubicBezTo>
                <a:cubicBezTo>
                  <a:pt x="430847" y="1801990"/>
                  <a:pt x="388497" y="1850849"/>
                  <a:pt x="441960" y="1761745"/>
                </a:cubicBezTo>
                <a:cubicBezTo>
                  <a:pt x="460807" y="1730333"/>
                  <a:pt x="482600" y="1700785"/>
                  <a:pt x="502920" y="1670305"/>
                </a:cubicBezTo>
                <a:cubicBezTo>
                  <a:pt x="539567" y="1615334"/>
                  <a:pt x="562205" y="1574902"/>
                  <a:pt x="624840" y="1533145"/>
                </a:cubicBezTo>
                <a:cubicBezTo>
                  <a:pt x="640080" y="1522985"/>
                  <a:pt x="654657" y="1511752"/>
                  <a:pt x="670560" y="1502665"/>
                </a:cubicBezTo>
                <a:cubicBezTo>
                  <a:pt x="690285" y="1491393"/>
                  <a:pt x="713033" y="1485390"/>
                  <a:pt x="731520" y="1472185"/>
                </a:cubicBezTo>
                <a:cubicBezTo>
                  <a:pt x="831409" y="1400836"/>
                  <a:pt x="724885" y="1443917"/>
                  <a:pt x="822960" y="1411225"/>
                </a:cubicBezTo>
                <a:cubicBezTo>
                  <a:pt x="838200" y="1395985"/>
                  <a:pt x="849967" y="1376198"/>
                  <a:pt x="868680" y="1365505"/>
                </a:cubicBezTo>
                <a:cubicBezTo>
                  <a:pt x="886866" y="1355113"/>
                  <a:pt x="912212" y="1361883"/>
                  <a:pt x="929640" y="1350265"/>
                </a:cubicBezTo>
                <a:cubicBezTo>
                  <a:pt x="944880" y="1340105"/>
                  <a:pt x="947168" y="1317497"/>
                  <a:pt x="960120" y="1304545"/>
                </a:cubicBezTo>
                <a:cubicBezTo>
                  <a:pt x="973072" y="1291593"/>
                  <a:pt x="990600" y="1284225"/>
                  <a:pt x="1005840" y="1274065"/>
                </a:cubicBezTo>
                <a:cubicBezTo>
                  <a:pt x="1016000" y="1258825"/>
                  <a:pt x="1024594" y="1242416"/>
                  <a:pt x="1036320" y="1228345"/>
                </a:cubicBezTo>
                <a:cubicBezTo>
                  <a:pt x="1050118" y="1211788"/>
                  <a:pt x="1069513" y="1200163"/>
                  <a:pt x="1082040" y="1182625"/>
                </a:cubicBezTo>
                <a:cubicBezTo>
                  <a:pt x="1111922" y="1140790"/>
                  <a:pt x="1107004" y="1111941"/>
                  <a:pt x="1143000" y="1075945"/>
                </a:cubicBezTo>
                <a:cubicBezTo>
                  <a:pt x="1155952" y="1062993"/>
                  <a:pt x="1174649" y="1057191"/>
                  <a:pt x="1188720" y="1045465"/>
                </a:cubicBezTo>
                <a:cubicBezTo>
                  <a:pt x="1205277" y="1031667"/>
                  <a:pt x="1217883" y="1013543"/>
                  <a:pt x="1234440" y="999745"/>
                </a:cubicBezTo>
                <a:cubicBezTo>
                  <a:pt x="1248511" y="988019"/>
                  <a:pt x="1266089" y="980991"/>
                  <a:pt x="1280160" y="969265"/>
                </a:cubicBezTo>
                <a:cubicBezTo>
                  <a:pt x="1296717" y="955467"/>
                  <a:pt x="1307167" y="934238"/>
                  <a:pt x="1325880" y="923545"/>
                </a:cubicBezTo>
                <a:cubicBezTo>
                  <a:pt x="1344066" y="913153"/>
                  <a:pt x="1366520" y="913385"/>
                  <a:pt x="1386840" y="908305"/>
                </a:cubicBezTo>
                <a:cubicBezTo>
                  <a:pt x="1417320" y="887985"/>
                  <a:pt x="1457960" y="877825"/>
                  <a:pt x="1478280" y="847345"/>
                </a:cubicBezTo>
                <a:cubicBezTo>
                  <a:pt x="1522849" y="780491"/>
                  <a:pt x="1497770" y="816278"/>
                  <a:pt x="1554480" y="740665"/>
                </a:cubicBezTo>
                <a:cubicBezTo>
                  <a:pt x="1559560" y="720345"/>
                  <a:pt x="1561469" y="698957"/>
                  <a:pt x="1569720" y="679705"/>
                </a:cubicBezTo>
                <a:cubicBezTo>
                  <a:pt x="1576935" y="662870"/>
                  <a:pt x="1593769" y="651135"/>
                  <a:pt x="1600200" y="633985"/>
                </a:cubicBezTo>
                <a:cubicBezTo>
                  <a:pt x="1609295" y="609731"/>
                  <a:pt x="1608624" y="582775"/>
                  <a:pt x="1615440" y="557785"/>
                </a:cubicBezTo>
                <a:cubicBezTo>
                  <a:pt x="1632210" y="496294"/>
                  <a:pt x="1653027" y="448578"/>
                  <a:pt x="1676400" y="390145"/>
                </a:cubicBezTo>
                <a:cubicBezTo>
                  <a:pt x="1689739" y="310110"/>
                  <a:pt x="1706916" y="260705"/>
                  <a:pt x="1676400" y="176785"/>
                </a:cubicBezTo>
                <a:cubicBezTo>
                  <a:pt x="1669035" y="156530"/>
                  <a:pt x="1644706" y="147429"/>
                  <a:pt x="1630680" y="131065"/>
                </a:cubicBezTo>
                <a:cubicBezTo>
                  <a:pt x="1564250" y="53563"/>
                  <a:pt x="1616059" y="80471"/>
                  <a:pt x="1539240" y="54865"/>
                </a:cubicBezTo>
                <a:cubicBezTo>
                  <a:pt x="1454007" y="-30368"/>
                  <a:pt x="1515073" y="9145"/>
                  <a:pt x="1371600" y="9145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6592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3.4 Combining the error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1800" dirty="0"/>
              <a:t>We run the optimization using </a:t>
            </a:r>
            <a:r>
              <a:rPr lang="en-US" altLang="ko-KR" sz="1800" b="1" dirty="0"/>
              <a:t>L-BFGS-B, a quasi-Newtonian solver</a:t>
            </a:r>
          </a:p>
          <a:p>
            <a:pPr fontAlgn="base"/>
            <a:r>
              <a:rPr lang="en-US" altLang="ko-KR" sz="1800" dirty="0"/>
              <a:t>Smoothness error is very </a:t>
            </a:r>
            <a:r>
              <a:rPr lang="en-US" altLang="ko-KR" sz="1800" b="1" dirty="0"/>
              <a:t>localized</a:t>
            </a:r>
            <a:r>
              <a:rPr lang="en-US" altLang="ko-KR" sz="1800" dirty="0"/>
              <a:t>; changes to the afﬁne transformation need to </a:t>
            </a:r>
            <a:r>
              <a:rPr lang="en-US" altLang="ko-KR" sz="1800" b="1" dirty="0"/>
              <a:t>diffuse through the mesh neighbor-by-neighbor with each iteration</a:t>
            </a:r>
            <a:r>
              <a:rPr lang="en-US" altLang="ko-KR" sz="1800" dirty="0"/>
              <a:t> of the solver. </a:t>
            </a:r>
          </a:p>
          <a:p>
            <a:pPr fontAlgn="base"/>
            <a:r>
              <a:rPr lang="en-US" altLang="ko-KR" sz="1800" dirty="0"/>
              <a:t>This locality leads to </a:t>
            </a:r>
            <a:r>
              <a:rPr lang="en-US" altLang="ko-KR" sz="1800" b="1" dirty="0"/>
              <a:t>slow convergence </a:t>
            </a:r>
            <a:r>
              <a:rPr lang="en-US" altLang="ko-KR" sz="1800" dirty="0"/>
              <a:t>and makes it easy to get </a:t>
            </a:r>
            <a:r>
              <a:rPr lang="en-US" altLang="ko-KR" sz="1800" b="1" dirty="0"/>
              <a:t>fall into local minima</a:t>
            </a:r>
            <a:r>
              <a:rPr lang="en-US" altLang="ko-KR" sz="1800" dirty="0"/>
              <a:t>. </a:t>
            </a:r>
          </a:p>
          <a:p>
            <a:pPr fontAlgn="base"/>
            <a:r>
              <a:rPr lang="en-US" altLang="ko-KR" sz="1800" dirty="0"/>
              <a:t>Avoid this problem by taking a </a:t>
            </a:r>
            <a:r>
              <a:rPr lang="en-US" altLang="ko-KR" sz="1800" b="1" dirty="0"/>
              <a:t>multiresolution approach</a:t>
            </a:r>
            <a:r>
              <a:rPr lang="en-US" altLang="ko-KR" sz="1800" dirty="0"/>
              <a:t>. </a:t>
            </a:r>
          </a:p>
          <a:p>
            <a:pPr fontAlgn="base"/>
            <a:r>
              <a:rPr lang="en-US" altLang="ko-KR" sz="1800" dirty="0"/>
              <a:t>Using the adaptive parameterization framework of Lee et al. [1998], we generate a </a:t>
            </a:r>
            <a:r>
              <a:rPr lang="en-US" altLang="ko-KR" sz="1800" b="1" dirty="0"/>
              <a:t>high and a low resolution version of our template mesh</a:t>
            </a:r>
            <a:r>
              <a:rPr lang="en-US" altLang="ko-KR" sz="1800" dirty="0"/>
              <a:t>, and the </a:t>
            </a:r>
            <a:r>
              <a:rPr lang="en-US" altLang="ko-KR" sz="1800" b="1" dirty="0"/>
              <a:t>relationship between the vertices of each</a:t>
            </a:r>
            <a:r>
              <a:rPr lang="en-US" altLang="ko-KR" sz="1800" dirty="0"/>
              <a:t>.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ED8377-4943-4FF6-BDB1-2B5F62F19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643" y="800210"/>
            <a:ext cx="2970887" cy="45539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6B454BD-B0D7-4036-B472-639C83A12729}"/>
              </a:ext>
            </a:extLst>
          </p:cNvPr>
          <p:cNvGrpSpPr/>
          <p:nvPr/>
        </p:nvGrpSpPr>
        <p:grpSpPr>
          <a:xfrm>
            <a:off x="4357709" y="4287894"/>
            <a:ext cx="2487010" cy="2098416"/>
            <a:chOff x="286641" y="4391261"/>
            <a:chExt cx="2487010" cy="209841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AAE6C97-646F-4AE1-8645-924CCC88D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641" y="5626371"/>
              <a:ext cx="2487010" cy="601696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3CD9D5D-461A-42F9-909A-9F56F399E3A9}"/>
                </a:ext>
              </a:extLst>
            </p:cNvPr>
            <p:cNvGrpSpPr/>
            <p:nvPr/>
          </p:nvGrpSpPr>
          <p:grpSpPr>
            <a:xfrm>
              <a:off x="425662" y="4391261"/>
              <a:ext cx="2208968" cy="1278122"/>
              <a:chOff x="7196323" y="3761421"/>
              <a:chExt cx="4720749" cy="2731454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CB372A46-CF8C-40B7-8000-13149C147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6323" y="3761421"/>
                <a:ext cx="4720749" cy="2731454"/>
              </a:xfrm>
              <a:prstGeom prst="rect">
                <a:avLst/>
              </a:prstGeom>
            </p:spPr>
          </p:pic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4119DCC0-4451-47D3-9403-8A4D706CB78B}"/>
                  </a:ext>
                </a:extLst>
              </p:cNvPr>
              <p:cNvSpPr/>
              <p:nvPr/>
            </p:nvSpPr>
            <p:spPr>
              <a:xfrm>
                <a:off x="7647709" y="4955376"/>
                <a:ext cx="3269972" cy="1085580"/>
              </a:xfrm>
              <a:custGeom>
                <a:avLst/>
                <a:gdLst>
                  <a:gd name="connsiteX0" fmla="*/ 1140031 w 3269972"/>
                  <a:gd name="connsiteY0" fmla="*/ 142504 h 1085580"/>
                  <a:gd name="connsiteX1" fmla="*/ 1140031 w 3269972"/>
                  <a:gd name="connsiteY1" fmla="*/ 142504 h 1085580"/>
                  <a:gd name="connsiteX2" fmla="*/ 938151 w 3269972"/>
                  <a:gd name="connsiteY2" fmla="*/ 71252 h 1085580"/>
                  <a:gd name="connsiteX3" fmla="*/ 819397 w 3269972"/>
                  <a:gd name="connsiteY3" fmla="*/ 35626 h 1085580"/>
                  <a:gd name="connsiteX4" fmla="*/ 688769 w 3269972"/>
                  <a:gd name="connsiteY4" fmla="*/ 23750 h 1085580"/>
                  <a:gd name="connsiteX5" fmla="*/ 558140 w 3269972"/>
                  <a:gd name="connsiteY5" fmla="*/ 0 h 1085580"/>
                  <a:gd name="connsiteX6" fmla="*/ 356260 w 3269972"/>
                  <a:gd name="connsiteY6" fmla="*/ 11875 h 1085580"/>
                  <a:gd name="connsiteX7" fmla="*/ 308759 w 3269972"/>
                  <a:gd name="connsiteY7" fmla="*/ 23750 h 1085580"/>
                  <a:gd name="connsiteX8" fmla="*/ 178130 w 3269972"/>
                  <a:gd name="connsiteY8" fmla="*/ 59376 h 1085580"/>
                  <a:gd name="connsiteX9" fmla="*/ 71252 w 3269972"/>
                  <a:gd name="connsiteY9" fmla="*/ 95002 h 1085580"/>
                  <a:gd name="connsiteX10" fmla="*/ 35626 w 3269972"/>
                  <a:gd name="connsiteY10" fmla="*/ 106878 h 1085580"/>
                  <a:gd name="connsiteX11" fmla="*/ 0 w 3269972"/>
                  <a:gd name="connsiteY11" fmla="*/ 178130 h 1085580"/>
                  <a:gd name="connsiteX12" fmla="*/ 23751 w 3269972"/>
                  <a:gd name="connsiteY12" fmla="*/ 356259 h 1085580"/>
                  <a:gd name="connsiteX13" fmla="*/ 71252 w 3269972"/>
                  <a:gd name="connsiteY13" fmla="*/ 439387 h 1085580"/>
                  <a:gd name="connsiteX14" fmla="*/ 118753 w 3269972"/>
                  <a:gd name="connsiteY14" fmla="*/ 510639 h 1085580"/>
                  <a:gd name="connsiteX15" fmla="*/ 142504 w 3269972"/>
                  <a:gd name="connsiteY15" fmla="*/ 546265 h 1085580"/>
                  <a:gd name="connsiteX16" fmla="*/ 237507 w 3269972"/>
                  <a:gd name="connsiteY16" fmla="*/ 570015 h 1085580"/>
                  <a:gd name="connsiteX17" fmla="*/ 273133 w 3269972"/>
                  <a:gd name="connsiteY17" fmla="*/ 581891 h 1085580"/>
                  <a:gd name="connsiteX18" fmla="*/ 938151 w 3269972"/>
                  <a:gd name="connsiteY18" fmla="*/ 593766 h 1085580"/>
                  <a:gd name="connsiteX19" fmla="*/ 1056904 w 3269972"/>
                  <a:gd name="connsiteY19" fmla="*/ 617517 h 1085580"/>
                  <a:gd name="connsiteX20" fmla="*/ 1187533 w 3269972"/>
                  <a:gd name="connsiteY20" fmla="*/ 653143 h 1085580"/>
                  <a:gd name="connsiteX21" fmla="*/ 1258785 w 3269972"/>
                  <a:gd name="connsiteY21" fmla="*/ 688769 h 1085580"/>
                  <a:gd name="connsiteX22" fmla="*/ 1294410 w 3269972"/>
                  <a:gd name="connsiteY22" fmla="*/ 712519 h 1085580"/>
                  <a:gd name="connsiteX23" fmla="*/ 1330036 w 3269972"/>
                  <a:gd name="connsiteY23" fmla="*/ 724395 h 1085580"/>
                  <a:gd name="connsiteX24" fmla="*/ 1436914 w 3269972"/>
                  <a:gd name="connsiteY24" fmla="*/ 783771 h 1085580"/>
                  <a:gd name="connsiteX25" fmla="*/ 1472540 w 3269972"/>
                  <a:gd name="connsiteY25" fmla="*/ 807522 h 1085580"/>
                  <a:gd name="connsiteX26" fmla="*/ 1520042 w 3269972"/>
                  <a:gd name="connsiteY26" fmla="*/ 831272 h 1085580"/>
                  <a:gd name="connsiteX27" fmla="*/ 1591294 w 3269972"/>
                  <a:gd name="connsiteY27" fmla="*/ 878774 h 1085580"/>
                  <a:gd name="connsiteX28" fmla="*/ 1626920 w 3269972"/>
                  <a:gd name="connsiteY28" fmla="*/ 902524 h 1085580"/>
                  <a:gd name="connsiteX29" fmla="*/ 1710047 w 3269972"/>
                  <a:gd name="connsiteY29" fmla="*/ 914400 h 1085580"/>
                  <a:gd name="connsiteX30" fmla="*/ 1781299 w 3269972"/>
                  <a:gd name="connsiteY30" fmla="*/ 926275 h 1085580"/>
                  <a:gd name="connsiteX31" fmla="*/ 1840675 w 3269972"/>
                  <a:gd name="connsiteY31" fmla="*/ 938150 h 1085580"/>
                  <a:gd name="connsiteX32" fmla="*/ 1923803 w 3269972"/>
                  <a:gd name="connsiteY32" fmla="*/ 961901 h 1085580"/>
                  <a:gd name="connsiteX33" fmla="*/ 2042556 w 3269972"/>
                  <a:gd name="connsiteY33" fmla="*/ 973776 h 1085580"/>
                  <a:gd name="connsiteX34" fmla="*/ 2090057 w 3269972"/>
                  <a:gd name="connsiteY34" fmla="*/ 985652 h 1085580"/>
                  <a:gd name="connsiteX35" fmla="*/ 2945081 w 3269972"/>
                  <a:gd name="connsiteY35" fmla="*/ 1021278 h 1085580"/>
                  <a:gd name="connsiteX36" fmla="*/ 3111335 w 3269972"/>
                  <a:gd name="connsiteY36" fmla="*/ 1068779 h 1085580"/>
                  <a:gd name="connsiteX37" fmla="*/ 3146961 w 3269972"/>
                  <a:gd name="connsiteY37" fmla="*/ 1080654 h 1085580"/>
                  <a:gd name="connsiteX38" fmla="*/ 3265714 w 3269972"/>
                  <a:gd name="connsiteY38" fmla="*/ 1068779 h 1085580"/>
                  <a:gd name="connsiteX39" fmla="*/ 3241964 w 3269972"/>
                  <a:gd name="connsiteY39" fmla="*/ 890649 h 1085580"/>
                  <a:gd name="connsiteX40" fmla="*/ 3230088 w 3269972"/>
                  <a:gd name="connsiteY40" fmla="*/ 855023 h 1085580"/>
                  <a:gd name="connsiteX41" fmla="*/ 3194462 w 3269972"/>
                  <a:gd name="connsiteY41" fmla="*/ 819397 h 1085580"/>
                  <a:gd name="connsiteX42" fmla="*/ 3146961 w 3269972"/>
                  <a:gd name="connsiteY42" fmla="*/ 748145 h 1085580"/>
                  <a:gd name="connsiteX43" fmla="*/ 3063834 w 3269972"/>
                  <a:gd name="connsiteY43" fmla="*/ 712519 h 1085580"/>
                  <a:gd name="connsiteX44" fmla="*/ 3028208 w 3269972"/>
                  <a:gd name="connsiteY44" fmla="*/ 700644 h 1085580"/>
                  <a:gd name="connsiteX45" fmla="*/ 2909455 w 3269972"/>
                  <a:gd name="connsiteY45" fmla="*/ 653143 h 1085580"/>
                  <a:gd name="connsiteX46" fmla="*/ 2861953 w 3269972"/>
                  <a:gd name="connsiteY46" fmla="*/ 641267 h 1085580"/>
                  <a:gd name="connsiteX47" fmla="*/ 2493818 w 3269972"/>
                  <a:gd name="connsiteY47" fmla="*/ 629392 h 1085580"/>
                  <a:gd name="connsiteX48" fmla="*/ 2232561 w 3269972"/>
                  <a:gd name="connsiteY48" fmla="*/ 617517 h 1085580"/>
                  <a:gd name="connsiteX49" fmla="*/ 2149434 w 3269972"/>
                  <a:gd name="connsiteY49" fmla="*/ 593766 h 1085580"/>
                  <a:gd name="connsiteX50" fmla="*/ 2078182 w 3269972"/>
                  <a:gd name="connsiteY50" fmla="*/ 570015 h 1085580"/>
                  <a:gd name="connsiteX51" fmla="*/ 1923803 w 3269972"/>
                  <a:gd name="connsiteY51" fmla="*/ 534389 h 1085580"/>
                  <a:gd name="connsiteX52" fmla="*/ 1888177 w 3269972"/>
                  <a:gd name="connsiteY52" fmla="*/ 522514 h 1085580"/>
                  <a:gd name="connsiteX53" fmla="*/ 1757548 w 3269972"/>
                  <a:gd name="connsiteY53" fmla="*/ 486888 h 1085580"/>
                  <a:gd name="connsiteX54" fmla="*/ 1721922 w 3269972"/>
                  <a:gd name="connsiteY54" fmla="*/ 475013 h 1085580"/>
                  <a:gd name="connsiteX55" fmla="*/ 1686296 w 3269972"/>
                  <a:gd name="connsiteY55" fmla="*/ 451262 h 1085580"/>
                  <a:gd name="connsiteX56" fmla="*/ 1591294 w 3269972"/>
                  <a:gd name="connsiteY56" fmla="*/ 415636 h 1085580"/>
                  <a:gd name="connsiteX57" fmla="*/ 1472540 w 3269972"/>
                  <a:gd name="connsiteY57" fmla="*/ 356259 h 1085580"/>
                  <a:gd name="connsiteX58" fmla="*/ 1401288 w 3269972"/>
                  <a:gd name="connsiteY58" fmla="*/ 296883 h 1085580"/>
                  <a:gd name="connsiteX59" fmla="*/ 1330036 w 3269972"/>
                  <a:gd name="connsiteY59" fmla="*/ 237506 h 1085580"/>
                  <a:gd name="connsiteX60" fmla="*/ 1258785 w 3269972"/>
                  <a:gd name="connsiteY60" fmla="*/ 213756 h 1085580"/>
                  <a:gd name="connsiteX61" fmla="*/ 1223159 w 3269972"/>
                  <a:gd name="connsiteY61" fmla="*/ 190005 h 1085580"/>
                  <a:gd name="connsiteX62" fmla="*/ 1140031 w 3269972"/>
                  <a:gd name="connsiteY62" fmla="*/ 142504 h 1085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3269972" h="1085580">
                    <a:moveTo>
                      <a:pt x="1140031" y="142504"/>
                    </a:moveTo>
                    <a:lnTo>
                      <a:pt x="1140031" y="142504"/>
                    </a:lnTo>
                    <a:cubicBezTo>
                      <a:pt x="1009853" y="93687"/>
                      <a:pt x="1077130" y="117579"/>
                      <a:pt x="938151" y="71252"/>
                    </a:cubicBezTo>
                    <a:cubicBezTo>
                      <a:pt x="904703" y="60103"/>
                      <a:pt x="846607" y="40161"/>
                      <a:pt x="819397" y="35626"/>
                    </a:cubicBezTo>
                    <a:cubicBezTo>
                      <a:pt x="776270" y="28438"/>
                      <a:pt x="732192" y="28859"/>
                      <a:pt x="688769" y="23750"/>
                    </a:cubicBezTo>
                    <a:cubicBezTo>
                      <a:pt x="651869" y="19409"/>
                      <a:pt x="595642" y="7500"/>
                      <a:pt x="558140" y="0"/>
                    </a:cubicBezTo>
                    <a:cubicBezTo>
                      <a:pt x="490847" y="3958"/>
                      <a:pt x="423366" y="5484"/>
                      <a:pt x="356260" y="11875"/>
                    </a:cubicBezTo>
                    <a:cubicBezTo>
                      <a:pt x="340013" y="13422"/>
                      <a:pt x="324691" y="20209"/>
                      <a:pt x="308759" y="23750"/>
                    </a:cubicBezTo>
                    <a:cubicBezTo>
                      <a:pt x="208059" y="46128"/>
                      <a:pt x="289336" y="22307"/>
                      <a:pt x="178130" y="59376"/>
                    </a:cubicBezTo>
                    <a:lnTo>
                      <a:pt x="71252" y="95002"/>
                    </a:lnTo>
                    <a:lnTo>
                      <a:pt x="35626" y="106878"/>
                    </a:lnTo>
                    <a:cubicBezTo>
                      <a:pt x="23617" y="124891"/>
                      <a:pt x="0" y="153546"/>
                      <a:pt x="0" y="178130"/>
                    </a:cubicBezTo>
                    <a:cubicBezTo>
                      <a:pt x="0" y="384084"/>
                      <a:pt x="193" y="262026"/>
                      <a:pt x="23751" y="356259"/>
                    </a:cubicBezTo>
                    <a:cubicBezTo>
                      <a:pt x="42828" y="432567"/>
                      <a:pt x="15718" y="402364"/>
                      <a:pt x="71252" y="439387"/>
                    </a:cubicBezTo>
                    <a:cubicBezTo>
                      <a:pt x="92121" y="501995"/>
                      <a:pt x="69334" y="451337"/>
                      <a:pt x="118753" y="510639"/>
                    </a:cubicBezTo>
                    <a:cubicBezTo>
                      <a:pt x="127890" y="521603"/>
                      <a:pt x="131359" y="537349"/>
                      <a:pt x="142504" y="546265"/>
                    </a:cubicBezTo>
                    <a:cubicBezTo>
                      <a:pt x="154843" y="556136"/>
                      <a:pt x="234282" y="569209"/>
                      <a:pt x="237507" y="570015"/>
                    </a:cubicBezTo>
                    <a:cubicBezTo>
                      <a:pt x="249651" y="573051"/>
                      <a:pt x="260622" y="581467"/>
                      <a:pt x="273133" y="581891"/>
                    </a:cubicBezTo>
                    <a:cubicBezTo>
                      <a:pt x="494714" y="589402"/>
                      <a:pt x="716478" y="589808"/>
                      <a:pt x="938151" y="593766"/>
                    </a:cubicBezTo>
                    <a:cubicBezTo>
                      <a:pt x="977735" y="601683"/>
                      <a:pt x="1018607" y="604752"/>
                      <a:pt x="1056904" y="617517"/>
                    </a:cubicBezTo>
                    <a:cubicBezTo>
                      <a:pt x="1147305" y="647650"/>
                      <a:pt x="1103607" y="636357"/>
                      <a:pt x="1187533" y="653143"/>
                    </a:cubicBezTo>
                    <a:cubicBezTo>
                      <a:pt x="1289636" y="721210"/>
                      <a:pt x="1160449" y="639600"/>
                      <a:pt x="1258785" y="688769"/>
                    </a:cubicBezTo>
                    <a:cubicBezTo>
                      <a:pt x="1271550" y="695152"/>
                      <a:pt x="1281645" y="706136"/>
                      <a:pt x="1294410" y="712519"/>
                    </a:cubicBezTo>
                    <a:cubicBezTo>
                      <a:pt x="1305606" y="718117"/>
                      <a:pt x="1319094" y="718316"/>
                      <a:pt x="1330036" y="724395"/>
                    </a:cubicBezTo>
                    <a:cubicBezTo>
                      <a:pt x="1452532" y="792449"/>
                      <a:pt x="1356304" y="756902"/>
                      <a:pt x="1436914" y="783771"/>
                    </a:cubicBezTo>
                    <a:cubicBezTo>
                      <a:pt x="1448789" y="791688"/>
                      <a:pt x="1460148" y="800441"/>
                      <a:pt x="1472540" y="807522"/>
                    </a:cubicBezTo>
                    <a:cubicBezTo>
                      <a:pt x="1487910" y="816305"/>
                      <a:pt x="1505637" y="820983"/>
                      <a:pt x="1520042" y="831272"/>
                    </a:cubicBezTo>
                    <a:cubicBezTo>
                      <a:pt x="1677627" y="943831"/>
                      <a:pt x="1455429" y="810842"/>
                      <a:pt x="1591294" y="878774"/>
                    </a:cubicBezTo>
                    <a:cubicBezTo>
                      <a:pt x="1604059" y="885157"/>
                      <a:pt x="1613250" y="898423"/>
                      <a:pt x="1626920" y="902524"/>
                    </a:cubicBezTo>
                    <a:cubicBezTo>
                      <a:pt x="1653730" y="910567"/>
                      <a:pt x="1682382" y="910144"/>
                      <a:pt x="1710047" y="914400"/>
                    </a:cubicBezTo>
                    <a:cubicBezTo>
                      <a:pt x="1733845" y="918061"/>
                      <a:pt x="1757609" y="921968"/>
                      <a:pt x="1781299" y="926275"/>
                    </a:cubicBezTo>
                    <a:cubicBezTo>
                      <a:pt x="1801157" y="929886"/>
                      <a:pt x="1821094" y="933255"/>
                      <a:pt x="1840675" y="938150"/>
                    </a:cubicBezTo>
                    <a:cubicBezTo>
                      <a:pt x="1868633" y="945139"/>
                      <a:pt x="1895423" y="956893"/>
                      <a:pt x="1923803" y="961901"/>
                    </a:cubicBezTo>
                    <a:cubicBezTo>
                      <a:pt x="1962979" y="968814"/>
                      <a:pt x="2002972" y="969818"/>
                      <a:pt x="2042556" y="973776"/>
                    </a:cubicBezTo>
                    <a:cubicBezTo>
                      <a:pt x="2058390" y="977735"/>
                      <a:pt x="2073823" y="983973"/>
                      <a:pt x="2090057" y="985652"/>
                    </a:cubicBezTo>
                    <a:cubicBezTo>
                      <a:pt x="2434771" y="1021312"/>
                      <a:pt x="2545732" y="1012781"/>
                      <a:pt x="2945081" y="1021278"/>
                    </a:cubicBezTo>
                    <a:cubicBezTo>
                      <a:pt x="3064378" y="1051102"/>
                      <a:pt x="3009110" y="1034704"/>
                      <a:pt x="3111335" y="1068779"/>
                    </a:cubicBezTo>
                    <a:lnTo>
                      <a:pt x="3146961" y="1080654"/>
                    </a:lnTo>
                    <a:cubicBezTo>
                      <a:pt x="3186545" y="1076696"/>
                      <a:pt x="3241845" y="1100604"/>
                      <a:pt x="3265714" y="1068779"/>
                    </a:cubicBezTo>
                    <a:cubicBezTo>
                      <a:pt x="3280203" y="1049460"/>
                      <a:pt x="3254050" y="932950"/>
                      <a:pt x="3241964" y="890649"/>
                    </a:cubicBezTo>
                    <a:cubicBezTo>
                      <a:pt x="3238525" y="878613"/>
                      <a:pt x="3237032" y="865438"/>
                      <a:pt x="3230088" y="855023"/>
                    </a:cubicBezTo>
                    <a:cubicBezTo>
                      <a:pt x="3220772" y="841049"/>
                      <a:pt x="3204773" y="832654"/>
                      <a:pt x="3194462" y="819397"/>
                    </a:cubicBezTo>
                    <a:cubicBezTo>
                      <a:pt x="3176937" y="796865"/>
                      <a:pt x="3174041" y="757171"/>
                      <a:pt x="3146961" y="748145"/>
                    </a:cubicBezTo>
                    <a:cubicBezTo>
                      <a:pt x="3063412" y="720296"/>
                      <a:pt x="3166554" y="756542"/>
                      <a:pt x="3063834" y="712519"/>
                    </a:cubicBezTo>
                    <a:cubicBezTo>
                      <a:pt x="3052328" y="707588"/>
                      <a:pt x="3039714" y="705575"/>
                      <a:pt x="3028208" y="700644"/>
                    </a:cubicBezTo>
                    <a:cubicBezTo>
                      <a:pt x="2959401" y="671155"/>
                      <a:pt x="2995965" y="674771"/>
                      <a:pt x="2909455" y="653143"/>
                    </a:cubicBezTo>
                    <a:cubicBezTo>
                      <a:pt x="2893621" y="649184"/>
                      <a:pt x="2878248" y="642198"/>
                      <a:pt x="2861953" y="641267"/>
                    </a:cubicBezTo>
                    <a:cubicBezTo>
                      <a:pt x="2739377" y="634263"/>
                      <a:pt x="2616506" y="634022"/>
                      <a:pt x="2493818" y="629392"/>
                    </a:cubicBezTo>
                    <a:lnTo>
                      <a:pt x="2232561" y="617517"/>
                    </a:lnTo>
                    <a:cubicBezTo>
                      <a:pt x="2112861" y="577615"/>
                      <a:pt x="2298510" y="638489"/>
                      <a:pt x="2149434" y="593766"/>
                    </a:cubicBezTo>
                    <a:cubicBezTo>
                      <a:pt x="2125454" y="586572"/>
                      <a:pt x="2102335" y="576602"/>
                      <a:pt x="2078182" y="570015"/>
                    </a:cubicBezTo>
                    <a:cubicBezTo>
                      <a:pt x="1974530" y="541746"/>
                      <a:pt x="2058225" y="579195"/>
                      <a:pt x="1923803" y="534389"/>
                    </a:cubicBezTo>
                    <a:cubicBezTo>
                      <a:pt x="1911928" y="530431"/>
                      <a:pt x="1900321" y="525550"/>
                      <a:pt x="1888177" y="522514"/>
                    </a:cubicBezTo>
                    <a:cubicBezTo>
                      <a:pt x="1753897" y="488945"/>
                      <a:pt x="1910405" y="537840"/>
                      <a:pt x="1757548" y="486888"/>
                    </a:cubicBezTo>
                    <a:lnTo>
                      <a:pt x="1721922" y="475013"/>
                    </a:lnTo>
                    <a:cubicBezTo>
                      <a:pt x="1710047" y="467096"/>
                      <a:pt x="1699062" y="457645"/>
                      <a:pt x="1686296" y="451262"/>
                    </a:cubicBezTo>
                    <a:cubicBezTo>
                      <a:pt x="1657892" y="437060"/>
                      <a:pt x="1622131" y="425915"/>
                      <a:pt x="1591294" y="415636"/>
                    </a:cubicBezTo>
                    <a:cubicBezTo>
                      <a:pt x="1506462" y="359082"/>
                      <a:pt x="1547734" y="375058"/>
                      <a:pt x="1472540" y="356259"/>
                    </a:cubicBezTo>
                    <a:cubicBezTo>
                      <a:pt x="1368458" y="252177"/>
                      <a:pt x="1500488" y="379548"/>
                      <a:pt x="1401288" y="296883"/>
                    </a:cubicBezTo>
                    <a:cubicBezTo>
                      <a:pt x="1369327" y="270249"/>
                      <a:pt x="1367944" y="254354"/>
                      <a:pt x="1330036" y="237506"/>
                    </a:cubicBezTo>
                    <a:cubicBezTo>
                      <a:pt x="1307159" y="227338"/>
                      <a:pt x="1258785" y="213756"/>
                      <a:pt x="1258785" y="213756"/>
                    </a:cubicBezTo>
                    <a:cubicBezTo>
                      <a:pt x="1246910" y="205839"/>
                      <a:pt x="1236699" y="194518"/>
                      <a:pt x="1223159" y="190005"/>
                    </a:cubicBezTo>
                    <a:cubicBezTo>
                      <a:pt x="1200316" y="182391"/>
                      <a:pt x="1153886" y="150421"/>
                      <a:pt x="1140031" y="142504"/>
                    </a:cubicBez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E0B3F5-B34A-45A8-95BB-3E4730753EEF}"/>
                </a:ext>
              </a:extLst>
            </p:cNvPr>
            <p:cNvSpPr txBox="1"/>
            <p:nvPr/>
          </p:nvSpPr>
          <p:spPr>
            <a:xfrm>
              <a:off x="844190" y="6228067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Smoothness error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431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3.4 Combining the error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1800" dirty="0"/>
              <a:t>First, run the optimization using the </a:t>
            </a:r>
            <a:r>
              <a:rPr lang="en-US" altLang="ko-KR" sz="1800" b="1" dirty="0"/>
              <a:t>low resolution version of T</a:t>
            </a:r>
            <a:r>
              <a:rPr lang="en-US" altLang="ko-KR" sz="1800" dirty="0"/>
              <a:t> and a </a:t>
            </a:r>
            <a:r>
              <a:rPr lang="en-US" altLang="ko-KR" sz="1800" b="1" dirty="0"/>
              <a:t>smoothed version of D</a:t>
            </a:r>
            <a:r>
              <a:rPr lang="en-US" altLang="ko-KR" sz="1800" dirty="0"/>
              <a:t>. </a:t>
            </a:r>
          </a:p>
          <a:p>
            <a:pPr fontAlgn="base"/>
            <a:r>
              <a:rPr lang="en-US" altLang="ko-KR" sz="1800" dirty="0"/>
              <a:t>Second, the transformation matrices are </a:t>
            </a:r>
            <a:r>
              <a:rPr lang="en-US" altLang="ko-KR" sz="1800" b="1" dirty="0"/>
              <a:t>up-sampled to the high-resolution version of T </a:t>
            </a:r>
            <a:r>
              <a:rPr lang="en-US" altLang="ko-KR" sz="1800" dirty="0"/>
              <a:t>,and </a:t>
            </a:r>
            <a:r>
              <a:rPr lang="en-US" altLang="ko-KR" sz="1800" b="1" dirty="0"/>
              <a:t>complete the optimization at full resolution</a:t>
            </a:r>
            <a:r>
              <a:rPr lang="en-US" altLang="ko-KR" sz="1800" dirty="0"/>
              <a:t>. </a:t>
            </a:r>
          </a:p>
          <a:p>
            <a:pPr fontAlgn="base"/>
            <a:r>
              <a:rPr lang="en-US" altLang="ko-KR" sz="1800" dirty="0"/>
              <a:t>Although the marker data is useful for global optimization, the </a:t>
            </a:r>
            <a:r>
              <a:rPr lang="en-US" altLang="ko-KR" sz="1800" b="1" dirty="0"/>
              <a:t>placement of the markers was somewhat unreliable</a:t>
            </a:r>
            <a:r>
              <a:rPr lang="en-US" altLang="ko-KR" sz="1800" dirty="0"/>
              <a:t>. </a:t>
            </a:r>
          </a:p>
          <a:p>
            <a:pPr fontAlgn="base"/>
            <a:r>
              <a:rPr lang="en-US" altLang="ko-KR" sz="1800" dirty="0"/>
              <a:t>To reduce the effect of variable marker placement, </a:t>
            </a:r>
            <a:r>
              <a:rPr lang="en-US" altLang="ko-KR" sz="1800" b="1" dirty="0"/>
              <a:t>reduce the weight of the marker term in the ﬁnal stages </a:t>
            </a:r>
            <a:r>
              <a:rPr lang="en-US" altLang="ko-KR" sz="1800" dirty="0"/>
              <a:t>of the optimization.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C5B14E-6BCC-460F-A1E3-9E107503D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643" y="800210"/>
            <a:ext cx="2970887" cy="4553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C460B2-F046-4B00-BAEA-0D1F7F0D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12650"/>
            <a:ext cx="6586844" cy="227249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552D172-C4CE-4DE8-9BAE-3BFE47959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643" y="4024450"/>
            <a:ext cx="2823522" cy="256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7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3.5 Hole-filling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84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000" dirty="0"/>
              <a:t>Suppose that the closest point on D to a transformed template point is </a:t>
            </a:r>
            <a:r>
              <a:rPr lang="en-US" altLang="ko-KR" sz="2000" b="1" dirty="0"/>
              <a:t>located on a boundary edge of D </a:t>
            </a:r>
            <a:r>
              <a:rPr lang="en-US" altLang="ko-KR" sz="2000" dirty="0"/>
              <a:t>(as shown by the dashed red lines in Figure). </a:t>
            </a:r>
          </a:p>
          <a:p>
            <a:pPr fontAlgn="base"/>
            <a:r>
              <a:rPr lang="en-US" altLang="ko-KR" sz="2000" dirty="0"/>
              <a:t>In this situation we </a:t>
            </a:r>
            <a:r>
              <a:rPr lang="en-US" altLang="ko-KR" sz="2000" b="1" dirty="0"/>
              <a:t>set the weight </a:t>
            </a:r>
            <a:r>
              <a:rPr lang="en-US" altLang="ko-KR" sz="2000" b="1" dirty="0" err="1"/>
              <a:t>w_i</a:t>
            </a:r>
            <a:r>
              <a:rPr lang="en-US" altLang="ko-KR" sz="2000" b="1" dirty="0"/>
              <a:t> in data error to zero</a:t>
            </a:r>
            <a:r>
              <a:rPr lang="en-US" altLang="ko-KR" sz="2000" dirty="0"/>
              <a:t>, so that the transformations matrix </a:t>
            </a:r>
            <a:r>
              <a:rPr lang="en-US" altLang="ko-KR" sz="2000" b="1" dirty="0"/>
              <a:t>only be affected by the smoothness error</a:t>
            </a:r>
            <a:r>
              <a:rPr lang="en-US" altLang="ko-KR" sz="2000" dirty="0"/>
              <a:t>. </a:t>
            </a:r>
          </a:p>
          <a:p>
            <a:pPr fontAlgn="base"/>
            <a:r>
              <a:rPr lang="en-US" altLang="ko-KR" sz="2000" dirty="0"/>
              <a:t>Set </a:t>
            </a:r>
            <a:r>
              <a:rPr lang="en-US" altLang="ko-KR" sz="2000" dirty="0" err="1"/>
              <a:t>w_i</a:t>
            </a:r>
            <a:r>
              <a:rPr lang="en-US" altLang="ko-KR" sz="2000" dirty="0"/>
              <a:t> to zero where </a:t>
            </a:r>
            <a:r>
              <a:rPr lang="en-US" altLang="ko-KR" sz="2000" b="1" dirty="0"/>
              <a:t>there is no data</a:t>
            </a:r>
          </a:p>
          <a:p>
            <a:pPr fontAlgn="base"/>
            <a:r>
              <a:rPr lang="en-US" altLang="ko-KR" sz="2000" dirty="0"/>
              <a:t>Down-weight the importance of poor data</a:t>
            </a:r>
            <a:br>
              <a:rPr lang="en-US" altLang="ko-KR" sz="2000" dirty="0"/>
            </a:b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CC4E41-096C-4950-80AA-EC50DF73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103" y="1690688"/>
            <a:ext cx="4457700" cy="27146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C386C6E-88A9-4FC5-896D-06824E286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90" y="4999532"/>
            <a:ext cx="3131820" cy="1058047"/>
          </a:xfrm>
          <a:prstGeom prst="rect">
            <a:avLst/>
          </a:pr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95BC0EA-60A5-451B-A31C-C56D826ADCFB}"/>
              </a:ext>
            </a:extLst>
          </p:cNvPr>
          <p:cNvSpPr/>
          <p:nvPr/>
        </p:nvSpPr>
        <p:spPr>
          <a:xfrm>
            <a:off x="9198900" y="2484120"/>
            <a:ext cx="1347180" cy="990600"/>
          </a:xfrm>
          <a:custGeom>
            <a:avLst/>
            <a:gdLst>
              <a:gd name="connsiteX0" fmla="*/ 950940 w 1347180"/>
              <a:gd name="connsiteY0" fmla="*/ 487680 h 990600"/>
              <a:gd name="connsiteX1" fmla="*/ 950940 w 1347180"/>
              <a:gd name="connsiteY1" fmla="*/ 487680 h 990600"/>
              <a:gd name="connsiteX2" fmla="*/ 829020 w 1347180"/>
              <a:gd name="connsiteY2" fmla="*/ 548640 h 990600"/>
              <a:gd name="connsiteX3" fmla="*/ 737580 w 1347180"/>
              <a:gd name="connsiteY3" fmla="*/ 609600 h 990600"/>
              <a:gd name="connsiteX4" fmla="*/ 661380 w 1347180"/>
              <a:gd name="connsiteY4" fmla="*/ 685800 h 990600"/>
              <a:gd name="connsiteX5" fmla="*/ 630900 w 1347180"/>
              <a:gd name="connsiteY5" fmla="*/ 731520 h 990600"/>
              <a:gd name="connsiteX6" fmla="*/ 585180 w 1347180"/>
              <a:gd name="connsiteY6" fmla="*/ 746760 h 990600"/>
              <a:gd name="connsiteX7" fmla="*/ 493740 w 1347180"/>
              <a:gd name="connsiteY7" fmla="*/ 807720 h 990600"/>
              <a:gd name="connsiteX8" fmla="*/ 448020 w 1347180"/>
              <a:gd name="connsiteY8" fmla="*/ 853440 h 990600"/>
              <a:gd name="connsiteX9" fmla="*/ 341340 w 1347180"/>
              <a:gd name="connsiteY9" fmla="*/ 914400 h 990600"/>
              <a:gd name="connsiteX10" fmla="*/ 295620 w 1347180"/>
              <a:gd name="connsiteY10" fmla="*/ 944880 h 990600"/>
              <a:gd name="connsiteX11" fmla="*/ 204180 w 1347180"/>
              <a:gd name="connsiteY11" fmla="*/ 960120 h 990600"/>
              <a:gd name="connsiteX12" fmla="*/ 82260 w 1347180"/>
              <a:gd name="connsiteY12" fmla="*/ 990600 h 990600"/>
              <a:gd name="connsiteX13" fmla="*/ 36540 w 1347180"/>
              <a:gd name="connsiteY13" fmla="*/ 975360 h 990600"/>
              <a:gd name="connsiteX14" fmla="*/ 6060 w 1347180"/>
              <a:gd name="connsiteY14" fmla="*/ 929640 h 990600"/>
              <a:gd name="connsiteX15" fmla="*/ 51780 w 1347180"/>
              <a:gd name="connsiteY15" fmla="*/ 640080 h 990600"/>
              <a:gd name="connsiteX16" fmla="*/ 97500 w 1347180"/>
              <a:gd name="connsiteY16" fmla="*/ 609600 h 990600"/>
              <a:gd name="connsiteX17" fmla="*/ 127980 w 1347180"/>
              <a:gd name="connsiteY17" fmla="*/ 563880 h 990600"/>
              <a:gd name="connsiteX18" fmla="*/ 265140 w 1347180"/>
              <a:gd name="connsiteY18" fmla="*/ 487680 h 990600"/>
              <a:gd name="connsiteX19" fmla="*/ 295620 w 1347180"/>
              <a:gd name="connsiteY19" fmla="*/ 441960 h 990600"/>
              <a:gd name="connsiteX20" fmla="*/ 387060 w 1347180"/>
              <a:gd name="connsiteY20" fmla="*/ 381000 h 990600"/>
              <a:gd name="connsiteX21" fmla="*/ 432780 w 1347180"/>
              <a:gd name="connsiteY21" fmla="*/ 350520 h 990600"/>
              <a:gd name="connsiteX22" fmla="*/ 478500 w 1347180"/>
              <a:gd name="connsiteY22" fmla="*/ 320040 h 990600"/>
              <a:gd name="connsiteX23" fmla="*/ 600420 w 1347180"/>
              <a:gd name="connsiteY23" fmla="*/ 259080 h 990600"/>
              <a:gd name="connsiteX24" fmla="*/ 691860 w 1347180"/>
              <a:gd name="connsiteY24" fmla="*/ 213360 h 990600"/>
              <a:gd name="connsiteX25" fmla="*/ 752820 w 1347180"/>
              <a:gd name="connsiteY25" fmla="*/ 182880 h 990600"/>
              <a:gd name="connsiteX26" fmla="*/ 844260 w 1347180"/>
              <a:gd name="connsiteY26" fmla="*/ 152400 h 990600"/>
              <a:gd name="connsiteX27" fmla="*/ 905220 w 1347180"/>
              <a:gd name="connsiteY27" fmla="*/ 121920 h 990600"/>
              <a:gd name="connsiteX28" fmla="*/ 950940 w 1347180"/>
              <a:gd name="connsiteY28" fmla="*/ 91440 h 990600"/>
              <a:gd name="connsiteX29" fmla="*/ 996660 w 1347180"/>
              <a:gd name="connsiteY29" fmla="*/ 76200 h 990600"/>
              <a:gd name="connsiteX30" fmla="*/ 1042380 w 1347180"/>
              <a:gd name="connsiteY30" fmla="*/ 45720 h 990600"/>
              <a:gd name="connsiteX31" fmla="*/ 1133820 w 1347180"/>
              <a:gd name="connsiteY31" fmla="*/ 15240 h 990600"/>
              <a:gd name="connsiteX32" fmla="*/ 1179540 w 1347180"/>
              <a:gd name="connsiteY32" fmla="*/ 0 h 990600"/>
              <a:gd name="connsiteX33" fmla="*/ 1286220 w 1347180"/>
              <a:gd name="connsiteY33" fmla="*/ 15240 h 990600"/>
              <a:gd name="connsiteX34" fmla="*/ 1347180 w 1347180"/>
              <a:gd name="connsiteY34" fmla="*/ 106680 h 990600"/>
              <a:gd name="connsiteX35" fmla="*/ 1331940 w 1347180"/>
              <a:gd name="connsiteY35" fmla="*/ 259080 h 990600"/>
              <a:gd name="connsiteX36" fmla="*/ 1286220 w 1347180"/>
              <a:gd name="connsiteY36" fmla="*/ 289560 h 990600"/>
              <a:gd name="connsiteX37" fmla="*/ 1255740 w 1347180"/>
              <a:gd name="connsiteY37" fmla="*/ 335280 h 990600"/>
              <a:gd name="connsiteX38" fmla="*/ 1164300 w 1347180"/>
              <a:gd name="connsiteY38" fmla="*/ 396240 h 990600"/>
              <a:gd name="connsiteX39" fmla="*/ 1118580 w 1347180"/>
              <a:gd name="connsiteY39" fmla="*/ 426720 h 990600"/>
              <a:gd name="connsiteX40" fmla="*/ 1027140 w 1347180"/>
              <a:gd name="connsiteY40" fmla="*/ 457200 h 990600"/>
              <a:gd name="connsiteX41" fmla="*/ 950940 w 1347180"/>
              <a:gd name="connsiteY41" fmla="*/ 48768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47180" h="990600">
                <a:moveTo>
                  <a:pt x="950940" y="487680"/>
                </a:moveTo>
                <a:lnTo>
                  <a:pt x="950940" y="487680"/>
                </a:lnTo>
                <a:cubicBezTo>
                  <a:pt x="910300" y="508000"/>
                  <a:pt x="867353" y="524246"/>
                  <a:pt x="829020" y="548640"/>
                </a:cubicBezTo>
                <a:cubicBezTo>
                  <a:pt x="703446" y="628551"/>
                  <a:pt x="854800" y="570527"/>
                  <a:pt x="737580" y="609600"/>
                </a:cubicBezTo>
                <a:cubicBezTo>
                  <a:pt x="656300" y="731520"/>
                  <a:pt x="762980" y="584200"/>
                  <a:pt x="661380" y="685800"/>
                </a:cubicBezTo>
                <a:cubicBezTo>
                  <a:pt x="648428" y="698752"/>
                  <a:pt x="645203" y="720078"/>
                  <a:pt x="630900" y="731520"/>
                </a:cubicBezTo>
                <a:cubicBezTo>
                  <a:pt x="618356" y="741555"/>
                  <a:pt x="599223" y="738958"/>
                  <a:pt x="585180" y="746760"/>
                </a:cubicBezTo>
                <a:cubicBezTo>
                  <a:pt x="553158" y="764550"/>
                  <a:pt x="519643" y="781817"/>
                  <a:pt x="493740" y="807720"/>
                </a:cubicBezTo>
                <a:cubicBezTo>
                  <a:pt x="478500" y="822960"/>
                  <a:pt x="464577" y="839642"/>
                  <a:pt x="448020" y="853440"/>
                </a:cubicBezTo>
                <a:cubicBezTo>
                  <a:pt x="407515" y="887194"/>
                  <a:pt x="388768" y="887298"/>
                  <a:pt x="341340" y="914400"/>
                </a:cubicBezTo>
                <a:cubicBezTo>
                  <a:pt x="325437" y="923487"/>
                  <a:pt x="312996" y="939088"/>
                  <a:pt x="295620" y="944880"/>
                </a:cubicBezTo>
                <a:cubicBezTo>
                  <a:pt x="266305" y="954652"/>
                  <a:pt x="234582" y="954592"/>
                  <a:pt x="204180" y="960120"/>
                </a:cubicBezTo>
                <a:cubicBezTo>
                  <a:pt x="123262" y="974832"/>
                  <a:pt x="145711" y="969450"/>
                  <a:pt x="82260" y="990600"/>
                </a:cubicBezTo>
                <a:cubicBezTo>
                  <a:pt x="67020" y="985520"/>
                  <a:pt x="49084" y="985395"/>
                  <a:pt x="36540" y="975360"/>
                </a:cubicBezTo>
                <a:cubicBezTo>
                  <a:pt x="22237" y="963918"/>
                  <a:pt x="7023" y="947931"/>
                  <a:pt x="6060" y="929640"/>
                </a:cubicBezTo>
                <a:cubicBezTo>
                  <a:pt x="2183" y="855968"/>
                  <a:pt x="-19317" y="711177"/>
                  <a:pt x="51780" y="640080"/>
                </a:cubicBezTo>
                <a:cubicBezTo>
                  <a:pt x="64732" y="627128"/>
                  <a:pt x="82260" y="619760"/>
                  <a:pt x="97500" y="609600"/>
                </a:cubicBezTo>
                <a:cubicBezTo>
                  <a:pt x="107660" y="594360"/>
                  <a:pt x="114196" y="575941"/>
                  <a:pt x="127980" y="563880"/>
                </a:cubicBezTo>
                <a:cubicBezTo>
                  <a:pt x="192476" y="507446"/>
                  <a:pt x="202345" y="508612"/>
                  <a:pt x="265140" y="487680"/>
                </a:cubicBezTo>
                <a:cubicBezTo>
                  <a:pt x="275300" y="472440"/>
                  <a:pt x="281836" y="454021"/>
                  <a:pt x="295620" y="441960"/>
                </a:cubicBezTo>
                <a:cubicBezTo>
                  <a:pt x="323189" y="417837"/>
                  <a:pt x="356580" y="401320"/>
                  <a:pt x="387060" y="381000"/>
                </a:cubicBezTo>
                <a:lnTo>
                  <a:pt x="432780" y="350520"/>
                </a:lnTo>
                <a:cubicBezTo>
                  <a:pt x="448020" y="340360"/>
                  <a:pt x="462117" y="328231"/>
                  <a:pt x="478500" y="320040"/>
                </a:cubicBezTo>
                <a:cubicBezTo>
                  <a:pt x="519140" y="299720"/>
                  <a:pt x="562614" y="284284"/>
                  <a:pt x="600420" y="259080"/>
                </a:cubicBezTo>
                <a:cubicBezTo>
                  <a:pt x="688283" y="200505"/>
                  <a:pt x="603525" y="251218"/>
                  <a:pt x="691860" y="213360"/>
                </a:cubicBezTo>
                <a:cubicBezTo>
                  <a:pt x="712742" y="204411"/>
                  <a:pt x="731726" y="191317"/>
                  <a:pt x="752820" y="182880"/>
                </a:cubicBezTo>
                <a:cubicBezTo>
                  <a:pt x="782651" y="170948"/>
                  <a:pt x="815523" y="166768"/>
                  <a:pt x="844260" y="152400"/>
                </a:cubicBezTo>
                <a:cubicBezTo>
                  <a:pt x="864580" y="142240"/>
                  <a:pt x="885495" y="133192"/>
                  <a:pt x="905220" y="121920"/>
                </a:cubicBezTo>
                <a:cubicBezTo>
                  <a:pt x="921123" y="112833"/>
                  <a:pt x="934557" y="99631"/>
                  <a:pt x="950940" y="91440"/>
                </a:cubicBezTo>
                <a:cubicBezTo>
                  <a:pt x="965308" y="84256"/>
                  <a:pt x="982292" y="83384"/>
                  <a:pt x="996660" y="76200"/>
                </a:cubicBezTo>
                <a:cubicBezTo>
                  <a:pt x="1013043" y="68009"/>
                  <a:pt x="1025642" y="53159"/>
                  <a:pt x="1042380" y="45720"/>
                </a:cubicBezTo>
                <a:cubicBezTo>
                  <a:pt x="1071740" y="32671"/>
                  <a:pt x="1103340" y="25400"/>
                  <a:pt x="1133820" y="15240"/>
                </a:cubicBezTo>
                <a:lnTo>
                  <a:pt x="1179540" y="0"/>
                </a:lnTo>
                <a:cubicBezTo>
                  <a:pt x="1215100" y="5080"/>
                  <a:pt x="1255915" y="-4045"/>
                  <a:pt x="1286220" y="15240"/>
                </a:cubicBezTo>
                <a:cubicBezTo>
                  <a:pt x="1317125" y="34907"/>
                  <a:pt x="1347180" y="106680"/>
                  <a:pt x="1347180" y="106680"/>
                </a:cubicBezTo>
                <a:cubicBezTo>
                  <a:pt x="1342100" y="157480"/>
                  <a:pt x="1348084" y="210647"/>
                  <a:pt x="1331940" y="259080"/>
                </a:cubicBezTo>
                <a:cubicBezTo>
                  <a:pt x="1326148" y="276456"/>
                  <a:pt x="1299172" y="276608"/>
                  <a:pt x="1286220" y="289560"/>
                </a:cubicBezTo>
                <a:cubicBezTo>
                  <a:pt x="1273268" y="302512"/>
                  <a:pt x="1269524" y="323219"/>
                  <a:pt x="1255740" y="335280"/>
                </a:cubicBezTo>
                <a:cubicBezTo>
                  <a:pt x="1228171" y="359403"/>
                  <a:pt x="1194780" y="375920"/>
                  <a:pt x="1164300" y="396240"/>
                </a:cubicBezTo>
                <a:cubicBezTo>
                  <a:pt x="1149060" y="406400"/>
                  <a:pt x="1135956" y="420928"/>
                  <a:pt x="1118580" y="426720"/>
                </a:cubicBezTo>
                <a:cubicBezTo>
                  <a:pt x="1088100" y="436880"/>
                  <a:pt x="1055877" y="442832"/>
                  <a:pt x="1027140" y="457200"/>
                </a:cubicBezTo>
                <a:cubicBezTo>
                  <a:pt x="961636" y="489952"/>
                  <a:pt x="963640" y="482600"/>
                  <a:pt x="950940" y="487680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E85705-FC8E-4F2D-8828-C46C9DADF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395" y="5167311"/>
            <a:ext cx="3550132" cy="54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55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3.5 Hole-filling </a:t>
            </a:r>
            <a:endParaRPr lang="ko-KR" altLang="en-US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30171B-C3A5-40CB-9754-1372630B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8400" cy="5442074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000" dirty="0"/>
              <a:t>In some areas, such as the ears and the ﬁngers, the </a:t>
            </a:r>
            <a:r>
              <a:rPr lang="en-US" altLang="ko-KR" sz="2000" b="1" dirty="0"/>
              <a:t>scanned data is particularly poor</a:t>
            </a:r>
          </a:p>
          <a:p>
            <a:pPr fontAlgn="base"/>
            <a:r>
              <a:rPr lang="en-US" altLang="ko-KR" sz="2000" dirty="0"/>
              <a:t>Matching these fragments to the detailed template surface is quite difﬁcult. </a:t>
            </a:r>
          </a:p>
          <a:p>
            <a:pPr fontAlgn="base"/>
            <a:r>
              <a:rPr lang="en-US" altLang="ko-KR" sz="2000" b="1" dirty="0"/>
              <a:t>Manually identifying areas on the template scanned poorly</a:t>
            </a:r>
            <a:r>
              <a:rPr lang="en-US" altLang="ko-KR" sz="2000" dirty="0"/>
              <a:t>, </a:t>
            </a:r>
            <a:r>
              <a:rPr lang="en-US" altLang="ko-KR" sz="2000" b="1" dirty="0"/>
              <a:t>prefer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 template surface</a:t>
            </a:r>
            <a:r>
              <a:rPr lang="en-US" altLang="ko-KR" sz="2000" dirty="0"/>
              <a:t> to the scanned surface when ﬁtting these areas.</a:t>
            </a:r>
          </a:p>
          <a:p>
            <a:pPr fontAlgn="base"/>
            <a:r>
              <a:rPr lang="en-US" altLang="ko-KR" sz="2000" dirty="0"/>
              <a:t>In the </a:t>
            </a:r>
            <a:r>
              <a:rPr lang="en-US" altLang="ko-KR" sz="2000" b="1" dirty="0"/>
              <a:t>marked areas</a:t>
            </a:r>
            <a:r>
              <a:rPr lang="en-US" altLang="ko-KR" sz="2000" dirty="0"/>
              <a:t>, we modify the data error’s </a:t>
            </a:r>
            <a:r>
              <a:rPr lang="en-US" altLang="ko-KR" sz="2000" dirty="0" err="1"/>
              <a:t>w_i</a:t>
            </a:r>
            <a:r>
              <a:rPr lang="en-US" altLang="ko-KR" sz="2000" dirty="0"/>
              <a:t> using a multiplicative factor of zero, </a:t>
            </a:r>
            <a:br>
              <a:rPr lang="en-US" altLang="ko-KR" sz="2000" dirty="0"/>
            </a:br>
            <a:r>
              <a:rPr lang="en-US" altLang="ko-KR" sz="2000" b="1" dirty="0"/>
              <a:t>tapering towards 1 at the boundary of the marked area.</a:t>
            </a:r>
            <a:r>
              <a:rPr lang="en-US" altLang="ko-KR" sz="2000" dirty="0"/>
              <a:t>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13CA30-6BAF-438D-86FB-0E301164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481" y="1509713"/>
            <a:ext cx="4835571" cy="31842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A7A20B-3937-459D-80D9-B082E568C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90" y="4999532"/>
            <a:ext cx="3131820" cy="105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4 Application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D3B2C9-D474-48C1-8B21-8136F926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8860"/>
            <a:ext cx="4592763" cy="25785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A98ACD-B8FD-4683-8E3D-7D257B002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179" y="620767"/>
            <a:ext cx="4592762" cy="38232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F6FA9F-404A-490F-A75F-7A73C8C4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597" y="4325586"/>
            <a:ext cx="9427199" cy="23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877</Words>
  <Application>Microsoft Office PowerPoint</Application>
  <PresentationFormat>와이드스크린</PresentationFormat>
  <Paragraphs>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The space of human body shapes:  reconstruction and parameterization from range scans </vt:lpstr>
      <vt:lpstr>1. Introduction</vt:lpstr>
      <vt:lpstr>Dataset</vt:lpstr>
      <vt:lpstr>1. Introduction</vt:lpstr>
      <vt:lpstr>2. Related work</vt:lpstr>
      <vt:lpstr>3. Algorithm</vt:lpstr>
      <vt:lpstr>3 Error </vt:lpstr>
      <vt:lpstr>3.1 Data error</vt:lpstr>
      <vt:lpstr>3.2 Smoothness error </vt:lpstr>
      <vt:lpstr>3.3 Marker error</vt:lpstr>
      <vt:lpstr>3.4 Combining the error </vt:lpstr>
      <vt:lpstr>3.4 Combining the error </vt:lpstr>
      <vt:lpstr>3.5 Hole-filling </vt:lpstr>
      <vt:lpstr>3.5 Hole-filling </vt:lpstr>
      <vt:lpstr>4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Rome in a Day</dc:title>
  <dc:creator>SE SONG KIM</dc:creator>
  <cp:lastModifiedBy>sesong</cp:lastModifiedBy>
  <cp:revision>91</cp:revision>
  <dcterms:created xsi:type="dcterms:W3CDTF">2017-11-29T12:10:53Z</dcterms:created>
  <dcterms:modified xsi:type="dcterms:W3CDTF">2018-05-03T06:56:52Z</dcterms:modified>
</cp:coreProperties>
</file>