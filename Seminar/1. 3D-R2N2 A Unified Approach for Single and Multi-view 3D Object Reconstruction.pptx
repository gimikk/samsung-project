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21"/>
  </p:notesMasterIdLst>
  <p:sldIdLst>
    <p:sldId id="257" r:id="rId2"/>
    <p:sldId id="258" r:id="rId3"/>
    <p:sldId id="276" r:id="rId4"/>
    <p:sldId id="288" r:id="rId5"/>
    <p:sldId id="279" r:id="rId6"/>
    <p:sldId id="278" r:id="rId7"/>
    <p:sldId id="297" r:id="rId8"/>
    <p:sldId id="280" r:id="rId9"/>
    <p:sldId id="282" r:id="rId10"/>
    <p:sldId id="285" r:id="rId11"/>
    <p:sldId id="293" r:id="rId12"/>
    <p:sldId id="294" r:id="rId13"/>
    <p:sldId id="281" r:id="rId14"/>
    <p:sldId id="289" r:id="rId15"/>
    <p:sldId id="290" r:id="rId16"/>
    <p:sldId id="298" r:id="rId17"/>
    <p:sldId id="296" r:id="rId18"/>
    <p:sldId id="295" r:id="rId19"/>
    <p:sldId id="263" r:id="rId20"/>
  </p:sldIdLst>
  <p:sldSz cx="9144000" cy="6858000" type="screen4x3"/>
  <p:notesSz cx="6858000" cy="9144000"/>
  <p:embeddedFontLst>
    <p:embeddedFont>
      <p:font typeface="나눔바른고딕" panose="020B0600000101010101" charset="-127"/>
      <p:regular r:id="rId22"/>
      <p:bold r:id="rId23"/>
    </p:embeddedFont>
    <p:embeddedFont>
      <p:font typeface="Calibri Light" panose="020F0302020204030204" pitchFamily="34" charset="0"/>
      <p:regular r:id="rId24"/>
      <p:italic r:id="rId25"/>
    </p:embeddedFont>
    <p:embeddedFont>
      <p:font typeface="-윤고딕330" panose="020B0600000101010101" charset="-127"/>
      <p:regular r:id="rId26"/>
    </p:embeddedFont>
    <p:embeddedFont>
      <p:font typeface="Calibri" panose="020F0502020204030204" pitchFamily="34" charset="0"/>
      <p:regular r:id="rId27"/>
      <p:bold r:id="rId28"/>
      <p:italic r:id="rId29"/>
      <p:boldItalic r:id="rId30"/>
    </p:embeddedFont>
    <p:embeddedFont>
      <p:font typeface="맑은 고딕" panose="020B0503020000020004" pitchFamily="50" charset="-127"/>
      <p:regular r:id="rId31"/>
      <p:bold r:id="rId32"/>
    </p:embeddedFont>
    <p:embeddedFont>
      <p:font typeface="Arial Black" panose="020B0A04020102020204" pitchFamily="34" charset="0"/>
      <p:bold r:id="rId33"/>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6" d="100"/>
          <a:sy n="86" d="100"/>
        </p:scale>
        <p:origin x="12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69368D-9F6A-4AE3-A5E5-E4B0195D3AD8}" type="datetimeFigureOut">
              <a:rPr lang="ko-KR" altLang="en-US" smtClean="0"/>
              <a:t>2018-04-25</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1C1E3-BAED-4452-AB9F-1FEE8B518447}" type="slidenum">
              <a:rPr lang="ko-KR" altLang="en-US" smtClean="0"/>
              <a:t>‹#›</a:t>
            </a:fld>
            <a:endParaRPr lang="ko-KR" altLang="en-US"/>
          </a:p>
        </p:txBody>
      </p:sp>
    </p:spTree>
    <p:extLst>
      <p:ext uri="{BB962C8B-B14F-4D97-AF65-F5344CB8AC3E}">
        <p14:creationId xmlns:p14="http://schemas.microsoft.com/office/powerpoint/2010/main" val="212620480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baseline="0"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1</a:t>
            </a:fld>
            <a:endParaRPr lang="ko-KR" altLang="en-US"/>
          </a:p>
        </p:txBody>
      </p:sp>
    </p:spTree>
    <p:extLst>
      <p:ext uri="{BB962C8B-B14F-4D97-AF65-F5344CB8AC3E}">
        <p14:creationId xmlns:p14="http://schemas.microsoft.com/office/powerpoint/2010/main" val="3648391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2</a:t>
            </a:fld>
            <a:endParaRPr lang="ko-KR" altLang="en-US"/>
          </a:p>
        </p:txBody>
      </p:sp>
    </p:spTree>
    <p:extLst>
      <p:ext uri="{BB962C8B-B14F-4D97-AF65-F5344CB8AC3E}">
        <p14:creationId xmlns:p14="http://schemas.microsoft.com/office/powerpoint/2010/main" val="140497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3</a:t>
            </a:fld>
            <a:endParaRPr lang="ko-KR" altLang="en-US"/>
          </a:p>
        </p:txBody>
      </p:sp>
    </p:spTree>
    <p:extLst>
      <p:ext uri="{BB962C8B-B14F-4D97-AF65-F5344CB8AC3E}">
        <p14:creationId xmlns:p14="http://schemas.microsoft.com/office/powerpoint/2010/main" val="3426241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4</a:t>
            </a:fld>
            <a:endParaRPr lang="ko-KR" altLang="en-US"/>
          </a:p>
        </p:txBody>
      </p:sp>
    </p:spTree>
    <p:extLst>
      <p:ext uri="{BB962C8B-B14F-4D97-AF65-F5344CB8AC3E}">
        <p14:creationId xmlns:p14="http://schemas.microsoft.com/office/powerpoint/2010/main" val="1579716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5</a:t>
            </a:fld>
            <a:endParaRPr lang="ko-KR" altLang="en-US"/>
          </a:p>
        </p:txBody>
      </p:sp>
    </p:spTree>
    <p:extLst>
      <p:ext uri="{BB962C8B-B14F-4D97-AF65-F5344CB8AC3E}">
        <p14:creationId xmlns:p14="http://schemas.microsoft.com/office/powerpoint/2010/main" val="2409830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6</a:t>
            </a:fld>
            <a:endParaRPr lang="ko-KR" altLang="en-US"/>
          </a:p>
        </p:txBody>
      </p:sp>
    </p:spTree>
    <p:extLst>
      <p:ext uri="{BB962C8B-B14F-4D97-AF65-F5344CB8AC3E}">
        <p14:creationId xmlns:p14="http://schemas.microsoft.com/office/powerpoint/2010/main" val="760202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7</a:t>
            </a:fld>
            <a:endParaRPr lang="ko-KR" altLang="en-US"/>
          </a:p>
        </p:txBody>
      </p:sp>
    </p:spTree>
    <p:extLst>
      <p:ext uri="{BB962C8B-B14F-4D97-AF65-F5344CB8AC3E}">
        <p14:creationId xmlns:p14="http://schemas.microsoft.com/office/powerpoint/2010/main" val="2986026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8</a:t>
            </a:fld>
            <a:endParaRPr lang="ko-KR" altLang="en-US"/>
          </a:p>
        </p:txBody>
      </p:sp>
    </p:spTree>
    <p:extLst>
      <p:ext uri="{BB962C8B-B14F-4D97-AF65-F5344CB8AC3E}">
        <p14:creationId xmlns:p14="http://schemas.microsoft.com/office/powerpoint/2010/main" val="23927197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9</a:t>
            </a:fld>
            <a:endParaRPr lang="ko-KR" altLang="en-US"/>
          </a:p>
        </p:txBody>
      </p:sp>
    </p:spTree>
    <p:extLst>
      <p:ext uri="{BB962C8B-B14F-4D97-AF65-F5344CB8AC3E}">
        <p14:creationId xmlns:p14="http://schemas.microsoft.com/office/powerpoint/2010/main" val="3811060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10</a:t>
            </a:fld>
            <a:endParaRPr lang="ko-KR" altLang="en-US"/>
          </a:p>
        </p:txBody>
      </p:sp>
    </p:spTree>
    <p:extLst>
      <p:ext uri="{BB962C8B-B14F-4D97-AF65-F5344CB8AC3E}">
        <p14:creationId xmlns:p14="http://schemas.microsoft.com/office/powerpoint/2010/main" val="26639248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11</a:t>
            </a:fld>
            <a:endParaRPr lang="ko-KR" altLang="en-US"/>
          </a:p>
        </p:txBody>
      </p:sp>
    </p:spTree>
    <p:extLst>
      <p:ext uri="{BB962C8B-B14F-4D97-AF65-F5344CB8AC3E}">
        <p14:creationId xmlns:p14="http://schemas.microsoft.com/office/powerpoint/2010/main" val="3821744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12</a:t>
            </a:fld>
            <a:endParaRPr lang="ko-KR" altLang="en-US"/>
          </a:p>
        </p:txBody>
      </p:sp>
    </p:spTree>
    <p:extLst>
      <p:ext uri="{BB962C8B-B14F-4D97-AF65-F5344CB8AC3E}">
        <p14:creationId xmlns:p14="http://schemas.microsoft.com/office/powerpoint/2010/main" val="1692922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13</a:t>
            </a:fld>
            <a:endParaRPr lang="ko-KR" altLang="en-US"/>
          </a:p>
        </p:txBody>
      </p:sp>
    </p:spTree>
    <p:extLst>
      <p:ext uri="{BB962C8B-B14F-4D97-AF65-F5344CB8AC3E}">
        <p14:creationId xmlns:p14="http://schemas.microsoft.com/office/powerpoint/2010/main" val="32814960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14</a:t>
            </a:fld>
            <a:endParaRPr lang="ko-KR" altLang="en-US"/>
          </a:p>
        </p:txBody>
      </p:sp>
    </p:spTree>
    <p:extLst>
      <p:ext uri="{BB962C8B-B14F-4D97-AF65-F5344CB8AC3E}">
        <p14:creationId xmlns:p14="http://schemas.microsoft.com/office/powerpoint/2010/main" val="32423574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15</a:t>
            </a:fld>
            <a:endParaRPr lang="ko-KR" altLang="en-US"/>
          </a:p>
        </p:txBody>
      </p:sp>
    </p:spTree>
    <p:extLst>
      <p:ext uri="{BB962C8B-B14F-4D97-AF65-F5344CB8AC3E}">
        <p14:creationId xmlns:p14="http://schemas.microsoft.com/office/powerpoint/2010/main" val="18364846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16</a:t>
            </a:fld>
            <a:endParaRPr lang="ko-KR" altLang="en-US"/>
          </a:p>
        </p:txBody>
      </p:sp>
    </p:spTree>
    <p:extLst>
      <p:ext uri="{BB962C8B-B14F-4D97-AF65-F5344CB8AC3E}">
        <p14:creationId xmlns:p14="http://schemas.microsoft.com/office/powerpoint/2010/main" val="31528022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17</a:t>
            </a:fld>
            <a:endParaRPr lang="ko-KR" altLang="en-US"/>
          </a:p>
        </p:txBody>
      </p:sp>
    </p:spTree>
    <p:extLst>
      <p:ext uri="{BB962C8B-B14F-4D97-AF65-F5344CB8AC3E}">
        <p14:creationId xmlns:p14="http://schemas.microsoft.com/office/powerpoint/2010/main" val="35437081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10"/>
          </p:nvPr>
        </p:nvSpPr>
        <p:spPr/>
        <p:txBody>
          <a:bodyPr/>
          <a:lstStyle/>
          <a:p>
            <a:fld id="{09FCE7DC-96D5-4EB1-842E-EA35C7641EA3}" type="slidenum">
              <a:rPr lang="ko-KR" altLang="en-US" smtClean="0"/>
              <a:t>18</a:t>
            </a:fld>
            <a:endParaRPr lang="ko-KR" altLang="en-US"/>
          </a:p>
        </p:txBody>
      </p:sp>
    </p:spTree>
    <p:extLst>
      <p:ext uri="{BB962C8B-B14F-4D97-AF65-F5344CB8AC3E}">
        <p14:creationId xmlns:p14="http://schemas.microsoft.com/office/powerpoint/2010/main" val="2293164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endParaRPr lang="en-US" dirty="0"/>
          </a:p>
        </p:txBody>
      </p:sp>
      <p:sp>
        <p:nvSpPr>
          <p:cNvPr id="4" name="Date Placeholder 3"/>
          <p:cNvSpPr>
            <a:spLocks noGrp="1"/>
          </p:cNvSpPr>
          <p:nvPr>
            <p:ph type="dt" sz="half" idx="10"/>
          </p:nvPr>
        </p:nvSpPr>
        <p:spPr/>
        <p:txBody>
          <a:bodyPr/>
          <a:lstStyle/>
          <a:p>
            <a:fld id="{FF54B933-3EF7-4CC7-AA26-D78F941C1A1E}" type="datetimeFigureOut">
              <a:rPr lang="ko-KR" altLang="en-US" smtClean="0"/>
              <a:t>2018-04-25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9DD27A7-0E1A-432F-AD88-21407B787185}" type="slidenum">
              <a:rPr lang="ko-KR" altLang="en-US" smtClean="0"/>
              <a:t>‹#›</a:t>
            </a:fld>
            <a:endParaRPr lang="ko-KR" altLang="en-US"/>
          </a:p>
        </p:txBody>
      </p:sp>
    </p:spTree>
    <p:extLst>
      <p:ext uri="{BB962C8B-B14F-4D97-AF65-F5344CB8AC3E}">
        <p14:creationId xmlns:p14="http://schemas.microsoft.com/office/powerpoint/2010/main" val="626877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FF54B933-3EF7-4CC7-AA26-D78F941C1A1E}" type="datetimeFigureOut">
              <a:rPr lang="ko-KR" altLang="en-US" smtClean="0"/>
              <a:t>2018-04-25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9DD27A7-0E1A-432F-AD88-21407B787185}" type="slidenum">
              <a:rPr lang="ko-KR" altLang="en-US" smtClean="0"/>
              <a:t>‹#›</a:t>
            </a:fld>
            <a:endParaRPr lang="ko-KR" altLang="en-US"/>
          </a:p>
        </p:txBody>
      </p:sp>
    </p:spTree>
    <p:extLst>
      <p:ext uri="{BB962C8B-B14F-4D97-AF65-F5344CB8AC3E}">
        <p14:creationId xmlns:p14="http://schemas.microsoft.com/office/powerpoint/2010/main" val="1004211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Date Placeholder 3"/>
          <p:cNvSpPr>
            <a:spLocks noGrp="1"/>
          </p:cNvSpPr>
          <p:nvPr>
            <p:ph type="dt" sz="half" idx="10"/>
          </p:nvPr>
        </p:nvSpPr>
        <p:spPr/>
        <p:txBody>
          <a:bodyPr/>
          <a:lstStyle/>
          <a:p>
            <a:fld id="{FF54B933-3EF7-4CC7-AA26-D78F941C1A1E}" type="datetimeFigureOut">
              <a:rPr lang="ko-KR" altLang="en-US" smtClean="0"/>
              <a:t>2018-04-25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9DD27A7-0E1A-432F-AD88-21407B787185}" type="slidenum">
              <a:rPr lang="ko-KR" altLang="en-US" smtClean="0"/>
              <a:t>‹#›</a:t>
            </a:fld>
            <a:endParaRPr lang="ko-KR" altLang="en-US"/>
          </a:p>
        </p:txBody>
      </p:sp>
    </p:spTree>
    <p:extLst>
      <p:ext uri="{BB962C8B-B14F-4D97-AF65-F5344CB8AC3E}">
        <p14:creationId xmlns:p14="http://schemas.microsoft.com/office/powerpoint/2010/main" val="1919952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FF54B933-3EF7-4CC7-AA26-D78F941C1A1E}" type="datetimeFigureOut">
              <a:rPr lang="ko-KR" altLang="en-US" smtClean="0"/>
              <a:t>2018-04-25</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9DD27A7-0E1A-432F-AD88-21407B787185}" type="slidenum">
              <a:rPr lang="ko-KR" altLang="en-US" smtClean="0"/>
              <a:t>‹#›</a:t>
            </a:fld>
            <a:endParaRPr lang="ko-KR" altLang="en-US"/>
          </a:p>
        </p:txBody>
      </p:sp>
    </p:spTree>
    <p:extLst>
      <p:ext uri="{BB962C8B-B14F-4D97-AF65-F5344CB8AC3E}">
        <p14:creationId xmlns:p14="http://schemas.microsoft.com/office/powerpoint/2010/main" val="1599545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Content Placeholder 3"/>
          <p:cNvSpPr>
            <a:spLocks noGrp="1"/>
          </p:cNvSpPr>
          <p:nvPr>
            <p:ph sz="half" idx="2"/>
          </p:nvPr>
        </p:nvSpPr>
        <p:spPr>
          <a:xfrm>
            <a:off x="629842" y="2505075"/>
            <a:ext cx="3868340"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Content Placeholder 5"/>
          <p:cNvSpPr>
            <a:spLocks noGrp="1"/>
          </p:cNvSpPr>
          <p:nvPr>
            <p:ph sz="quarter" idx="4"/>
          </p:nvPr>
        </p:nvSpPr>
        <p:spPr>
          <a:xfrm>
            <a:off x="4629150" y="2505075"/>
            <a:ext cx="3887391"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FF54B933-3EF7-4CC7-AA26-D78F941C1A1E}" type="datetimeFigureOut">
              <a:rPr lang="ko-KR" altLang="en-US" smtClean="0"/>
              <a:t>2018-04-25</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69DD27A7-0E1A-432F-AD88-21407B787185}" type="slidenum">
              <a:rPr lang="ko-KR" altLang="en-US" smtClean="0"/>
              <a:t>‹#›</a:t>
            </a:fld>
            <a:endParaRPr lang="ko-KR" altLang="en-US"/>
          </a:p>
        </p:txBody>
      </p:sp>
    </p:spTree>
    <p:extLst>
      <p:ext uri="{BB962C8B-B14F-4D97-AF65-F5344CB8AC3E}">
        <p14:creationId xmlns:p14="http://schemas.microsoft.com/office/powerpoint/2010/main" val="2078970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FF54B933-3EF7-4CC7-AA26-D78F941C1A1E}" type="datetimeFigureOut">
              <a:rPr lang="ko-KR" altLang="en-US" smtClean="0"/>
              <a:t>2018-04-25</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69DD27A7-0E1A-432F-AD88-21407B787185}" type="slidenum">
              <a:rPr lang="ko-KR" altLang="en-US" smtClean="0"/>
              <a:t>‹#›</a:t>
            </a:fld>
            <a:endParaRPr lang="ko-KR" altLang="en-US"/>
          </a:p>
        </p:txBody>
      </p:sp>
    </p:spTree>
    <p:extLst>
      <p:ext uri="{BB962C8B-B14F-4D97-AF65-F5344CB8AC3E}">
        <p14:creationId xmlns:p14="http://schemas.microsoft.com/office/powerpoint/2010/main" val="854076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54B933-3EF7-4CC7-AA26-D78F941C1A1E}" type="datetimeFigureOut">
              <a:rPr lang="ko-KR" altLang="en-US" smtClean="0"/>
              <a:t>2018-04-25</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69DD27A7-0E1A-432F-AD88-21407B787185}" type="slidenum">
              <a:rPr lang="ko-KR" altLang="en-US" smtClean="0"/>
              <a:t>‹#›</a:t>
            </a:fld>
            <a:endParaRPr lang="ko-KR" altLang="en-US"/>
          </a:p>
        </p:txBody>
      </p:sp>
    </p:spTree>
    <p:extLst>
      <p:ext uri="{BB962C8B-B14F-4D97-AF65-F5344CB8AC3E}">
        <p14:creationId xmlns:p14="http://schemas.microsoft.com/office/powerpoint/2010/main" val="348466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Date Placeholder 4"/>
          <p:cNvSpPr>
            <a:spLocks noGrp="1"/>
          </p:cNvSpPr>
          <p:nvPr>
            <p:ph type="dt" sz="half" idx="10"/>
          </p:nvPr>
        </p:nvSpPr>
        <p:spPr/>
        <p:txBody>
          <a:bodyPr/>
          <a:lstStyle/>
          <a:p>
            <a:fld id="{FF54B933-3EF7-4CC7-AA26-D78F941C1A1E}" type="datetimeFigureOut">
              <a:rPr lang="ko-KR" altLang="en-US" smtClean="0"/>
              <a:t>2018-04-25</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9DD27A7-0E1A-432F-AD88-21407B787185}" type="slidenum">
              <a:rPr lang="ko-KR" altLang="en-US" smtClean="0"/>
              <a:t>‹#›</a:t>
            </a:fld>
            <a:endParaRPr lang="ko-KR" altLang="en-US"/>
          </a:p>
        </p:txBody>
      </p:sp>
    </p:spTree>
    <p:extLst>
      <p:ext uri="{BB962C8B-B14F-4D97-AF65-F5344CB8AC3E}">
        <p14:creationId xmlns:p14="http://schemas.microsoft.com/office/powerpoint/2010/main" val="1399211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Date Placeholder 4"/>
          <p:cNvSpPr>
            <a:spLocks noGrp="1"/>
          </p:cNvSpPr>
          <p:nvPr>
            <p:ph type="dt" sz="half" idx="10"/>
          </p:nvPr>
        </p:nvSpPr>
        <p:spPr/>
        <p:txBody>
          <a:bodyPr/>
          <a:lstStyle/>
          <a:p>
            <a:fld id="{FF54B933-3EF7-4CC7-AA26-D78F941C1A1E}" type="datetimeFigureOut">
              <a:rPr lang="ko-KR" altLang="en-US" smtClean="0"/>
              <a:t>2018-04-25</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69DD27A7-0E1A-432F-AD88-21407B787185}" type="slidenum">
              <a:rPr lang="ko-KR" altLang="en-US" smtClean="0"/>
              <a:t>‹#›</a:t>
            </a:fld>
            <a:endParaRPr lang="ko-KR" altLang="en-US"/>
          </a:p>
        </p:txBody>
      </p:sp>
    </p:spTree>
    <p:extLst>
      <p:ext uri="{BB962C8B-B14F-4D97-AF65-F5344CB8AC3E}">
        <p14:creationId xmlns:p14="http://schemas.microsoft.com/office/powerpoint/2010/main" val="2922472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FF54B933-3EF7-4CC7-AA26-D78F941C1A1E}" type="datetimeFigureOut">
              <a:rPr lang="ko-KR" altLang="en-US" smtClean="0"/>
              <a:t>2018-04-25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9DD27A7-0E1A-432F-AD88-21407B787185}" type="slidenum">
              <a:rPr lang="ko-KR" altLang="en-US" smtClean="0"/>
              <a:t>‹#›</a:t>
            </a:fld>
            <a:endParaRPr lang="ko-KR" altLang="en-US"/>
          </a:p>
        </p:txBody>
      </p:sp>
    </p:spTree>
    <p:extLst>
      <p:ext uri="{BB962C8B-B14F-4D97-AF65-F5344CB8AC3E}">
        <p14:creationId xmlns:p14="http://schemas.microsoft.com/office/powerpoint/2010/main" val="2784551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FF54B933-3EF7-4CC7-AA26-D78F941C1A1E}" type="datetimeFigureOut">
              <a:rPr lang="ko-KR" altLang="en-US" smtClean="0"/>
              <a:t>2018-04-25</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69DD27A7-0E1A-432F-AD88-21407B787185}" type="slidenum">
              <a:rPr lang="ko-KR" altLang="en-US" smtClean="0"/>
              <a:t>‹#›</a:t>
            </a:fld>
            <a:endParaRPr lang="ko-KR" altLang="en-US"/>
          </a:p>
        </p:txBody>
      </p:sp>
    </p:spTree>
    <p:extLst>
      <p:ext uri="{BB962C8B-B14F-4D97-AF65-F5344CB8AC3E}">
        <p14:creationId xmlns:p14="http://schemas.microsoft.com/office/powerpoint/2010/main" val="496838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54B933-3EF7-4CC7-AA26-D78F941C1A1E}" type="datetimeFigureOut">
              <a:rPr lang="ko-KR" altLang="en-US" smtClean="0"/>
              <a:t>2018-04-25</a:t>
            </a:fld>
            <a:endParaRPr lang="ko-KR"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DD27A7-0E1A-432F-AD88-21407B787185}" type="slidenum">
              <a:rPr lang="ko-KR" altLang="en-US" smtClean="0"/>
              <a:t>‹#›</a:t>
            </a:fld>
            <a:endParaRPr lang="ko-KR" altLang="en-US"/>
          </a:p>
        </p:txBody>
      </p:sp>
    </p:spTree>
    <p:extLst>
      <p:ext uri="{BB962C8B-B14F-4D97-AF65-F5344CB8AC3E}">
        <p14:creationId xmlns:p14="http://schemas.microsoft.com/office/powerpoint/2010/main" val="1922356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   </a:t>
            </a:r>
            <a:endParaRPr lang="ko-KR" altLang="en-US" dirty="0"/>
          </a:p>
        </p:txBody>
      </p:sp>
      <p:sp>
        <p:nvSpPr>
          <p:cNvPr id="13" name="자유형 12"/>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13"/>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부제목 2"/>
          <p:cNvSpPr txBox="1">
            <a:spLocks/>
          </p:cNvSpPr>
          <p:nvPr/>
        </p:nvSpPr>
        <p:spPr>
          <a:xfrm>
            <a:off x="5500694" y="4000504"/>
            <a:ext cx="2843210" cy="2020784"/>
          </a:xfrm>
          <a:prstGeom prst="rect">
            <a:avLst/>
          </a:prstGeom>
        </p:spPr>
        <p:txBody>
          <a:bodyPr vert="horz" lIns="91440" tIns="45720" rIns="91440" bIns="45720" rtlCol="0">
            <a:normAutofit/>
          </a:bodyPr>
          <a:lstStyle/>
          <a:p>
            <a:pPr marL="0" marR="0" lvl="0" indent="0" algn="r" defTabSz="914400" rtl="0" eaLnBrk="1" fontAlgn="auto" latinLnBrk="1" hangingPunct="1">
              <a:lnSpc>
                <a:spcPct val="100000"/>
              </a:lnSpc>
              <a:spcBef>
                <a:spcPct val="20000"/>
              </a:spcBef>
              <a:spcAft>
                <a:spcPts val="0"/>
              </a:spcAft>
              <a:buClrTx/>
              <a:buSzTx/>
              <a:buFont typeface="Arial" pitchFamily="34" charset="0"/>
              <a:buNone/>
              <a:tabLst/>
              <a:defRPr/>
            </a:pPr>
            <a:endParaRPr lang="en-US" altLang="ko-KR" sz="1100" noProof="0" dirty="0">
              <a:ln>
                <a:solidFill>
                  <a:schemeClr val="bg1">
                    <a:alpha val="0"/>
                  </a:schemeClr>
                </a:solidFill>
              </a:ln>
              <a:solidFill>
                <a:schemeClr val="bg1">
                  <a:lumMod val="65000"/>
                </a:schemeClr>
              </a:solidFill>
              <a:latin typeface="-윤고딕330" panose="02030504000101010101" pitchFamily="18" charset="-127"/>
              <a:ea typeface="-윤고딕330" panose="02030504000101010101" pitchFamily="18" charset="-127"/>
            </a:endParaRPr>
          </a:p>
        </p:txBody>
      </p:sp>
      <p:grpSp>
        <p:nvGrpSpPr>
          <p:cNvPr id="9" name="그룹 8">
            <a:extLst>
              <a:ext uri="{FF2B5EF4-FFF2-40B4-BE49-F238E27FC236}">
                <a16:creationId xmlns:a16="http://schemas.microsoft.com/office/drawing/2014/main" id="{8B9092AC-05EA-4A19-AC5E-9A4D6D53C3EB}"/>
              </a:ext>
            </a:extLst>
          </p:cNvPr>
          <p:cNvGrpSpPr/>
          <p:nvPr/>
        </p:nvGrpSpPr>
        <p:grpSpPr>
          <a:xfrm>
            <a:off x="3317705" y="2301148"/>
            <a:ext cx="6316662" cy="2155603"/>
            <a:chOff x="3650373" y="1620919"/>
            <a:chExt cx="6316662" cy="2155603"/>
          </a:xfrm>
        </p:grpSpPr>
        <p:sp>
          <p:nvSpPr>
            <p:cNvPr id="18" name="텍스트 개체 틀 1">
              <a:extLst>
                <a:ext uri="{FF2B5EF4-FFF2-40B4-BE49-F238E27FC236}">
                  <a16:creationId xmlns:a16="http://schemas.microsoft.com/office/drawing/2014/main" id="{C5F28EA0-9CC6-4EA9-81F4-BCB37BC87B8A}"/>
                </a:ext>
              </a:extLst>
            </p:cNvPr>
            <p:cNvSpPr txBox="1">
              <a:spLocks/>
            </p:cNvSpPr>
            <p:nvPr/>
          </p:nvSpPr>
          <p:spPr>
            <a:xfrm>
              <a:off x="3844155" y="1620919"/>
              <a:ext cx="5540375" cy="503238"/>
            </a:xfrm>
            <a:prstGeom prst="rect">
              <a:avLst/>
            </a:prstGeom>
          </p:spPr>
          <p:txBody>
            <a:bodyPr vert="horz" lIns="91440" tIns="45720" rIns="91440" bIns="45720" rtlCol="0">
              <a:normAutofit fontScale="92500" lnSpcReduction="10000"/>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ko-KR" sz="3500" b="1" dirty="0">
                  <a:solidFill>
                    <a:srgbClr val="EC745B"/>
                  </a:solidFill>
                  <a:latin typeface="맑은 고딕" panose="020B0503020000020004" pitchFamily="50" charset="-127"/>
                  <a:ea typeface="맑은 고딕" panose="020B0503020000020004" pitchFamily="50" charset="-127"/>
                </a:rPr>
                <a:t>Seminar</a:t>
              </a:r>
              <a:endParaRPr lang="ko-KR" altLang="en-US" sz="3500" b="1" dirty="0">
                <a:solidFill>
                  <a:srgbClr val="EC745B"/>
                </a:solidFill>
                <a:latin typeface="맑은 고딕" panose="020B0503020000020004" pitchFamily="50" charset="-127"/>
                <a:ea typeface="맑은 고딕" panose="020B0503020000020004" pitchFamily="50" charset="-127"/>
              </a:endParaRPr>
            </a:p>
          </p:txBody>
        </p:sp>
        <p:sp>
          <p:nvSpPr>
            <p:cNvPr id="19" name="텍스트 개체 틀 2">
              <a:extLst>
                <a:ext uri="{FF2B5EF4-FFF2-40B4-BE49-F238E27FC236}">
                  <a16:creationId xmlns:a16="http://schemas.microsoft.com/office/drawing/2014/main" id="{580C22AA-F772-4DD9-8BD8-43D3EFEAE11E}"/>
                </a:ext>
              </a:extLst>
            </p:cNvPr>
            <p:cNvSpPr txBox="1">
              <a:spLocks/>
            </p:cNvSpPr>
            <p:nvPr/>
          </p:nvSpPr>
          <p:spPr>
            <a:xfrm>
              <a:off x="3650373" y="2181276"/>
              <a:ext cx="6316662" cy="803275"/>
            </a:xfrm>
            <a:prstGeom prst="rect">
              <a:avLst/>
            </a:prstGeom>
          </p:spPr>
          <p:txBody>
            <a:bodyPr vert="horz" lIns="91440" tIns="45720" rIns="91440" bIns="45720" rtlCol="0">
              <a:normAutofit lnSpcReduction="10000"/>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ko-KR" sz="5400" b="1" dirty="0">
                  <a:solidFill>
                    <a:srgbClr val="496F74"/>
                  </a:solidFill>
                  <a:latin typeface="맑은 고딕" panose="020B0503020000020004" pitchFamily="50" charset="-127"/>
                  <a:ea typeface="맑은 고딕" panose="020B0503020000020004" pitchFamily="50" charset="-127"/>
                </a:rPr>
                <a:t>3D-R2N2</a:t>
              </a:r>
              <a:endParaRPr lang="ko-KR" altLang="en-US" sz="5400" b="1" dirty="0">
                <a:solidFill>
                  <a:srgbClr val="496F74"/>
                </a:solidFill>
                <a:latin typeface="맑은 고딕" panose="020B0503020000020004" pitchFamily="50" charset="-127"/>
                <a:ea typeface="맑은 고딕" panose="020B0503020000020004" pitchFamily="50" charset="-127"/>
              </a:endParaRPr>
            </a:p>
          </p:txBody>
        </p:sp>
        <p:sp>
          <p:nvSpPr>
            <p:cNvPr id="21" name="텍스트 개체 틀 2">
              <a:extLst>
                <a:ext uri="{FF2B5EF4-FFF2-40B4-BE49-F238E27FC236}">
                  <a16:creationId xmlns:a16="http://schemas.microsoft.com/office/drawing/2014/main" id="{B5C65629-7CD9-4257-A4E4-F4D191B1B58D}"/>
                </a:ext>
              </a:extLst>
            </p:cNvPr>
            <p:cNvSpPr txBox="1">
              <a:spLocks/>
            </p:cNvSpPr>
            <p:nvPr/>
          </p:nvSpPr>
          <p:spPr>
            <a:xfrm>
              <a:off x="3936147" y="2908061"/>
              <a:ext cx="4458926" cy="868461"/>
            </a:xfrm>
            <a:prstGeom prst="rect">
              <a:avLst/>
            </a:prstGeom>
          </p:spPr>
          <p:txBody>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ko-KR" sz="2500" dirty="0">
                  <a:solidFill>
                    <a:schemeClr val="tx1">
                      <a:lumMod val="75000"/>
                      <a:lumOff val="25000"/>
                    </a:schemeClr>
                  </a:solidFill>
                  <a:latin typeface="맑은 고딕" panose="020B0503020000020004" pitchFamily="50" charset="-127"/>
                  <a:ea typeface="맑은 고딕" panose="020B0503020000020004" pitchFamily="50" charset="-127"/>
                </a:rPr>
                <a:t>Cha </a:t>
              </a:r>
              <a:r>
                <a:rPr lang="en-US" altLang="ko-KR" sz="2500" dirty="0" err="1">
                  <a:solidFill>
                    <a:schemeClr val="tx1">
                      <a:lumMod val="75000"/>
                      <a:lumOff val="25000"/>
                    </a:schemeClr>
                  </a:solidFill>
                  <a:latin typeface="맑은 고딕" panose="020B0503020000020004" pitchFamily="50" charset="-127"/>
                  <a:ea typeface="맑은 고딕" panose="020B0503020000020004" pitchFamily="50" charset="-127"/>
                </a:rPr>
                <a:t>Jin</a:t>
              </a:r>
              <a:r>
                <a:rPr lang="en-US" altLang="ko-KR" sz="2500" dirty="0">
                  <a:solidFill>
                    <a:schemeClr val="tx1">
                      <a:lumMod val="75000"/>
                      <a:lumOff val="25000"/>
                    </a:schemeClr>
                  </a:solidFill>
                  <a:latin typeface="맑은 고딕" panose="020B0503020000020004" pitchFamily="50" charset="-127"/>
                  <a:ea typeface="맑은 고딕" panose="020B0503020000020004" pitchFamily="50" charset="-127"/>
                </a:rPr>
                <a:t> </a:t>
              </a:r>
              <a:r>
                <a:rPr lang="en-US" altLang="ko-KR" sz="2500" dirty="0" err="1">
                  <a:solidFill>
                    <a:schemeClr val="tx1">
                      <a:lumMod val="75000"/>
                      <a:lumOff val="25000"/>
                    </a:schemeClr>
                  </a:solidFill>
                  <a:latin typeface="맑은 고딕" panose="020B0503020000020004" pitchFamily="50" charset="-127"/>
                  <a:ea typeface="맑은 고딕" panose="020B0503020000020004" pitchFamily="50" charset="-127"/>
                </a:rPr>
                <a:t>Hyuck</a:t>
              </a:r>
              <a:endParaRPr lang="ko-KR" altLang="en-US" sz="250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grpSp>
        <p:nvGrpSpPr>
          <p:cNvPr id="23" name="그룹 22">
            <a:extLst>
              <a:ext uri="{FF2B5EF4-FFF2-40B4-BE49-F238E27FC236}">
                <a16:creationId xmlns:a16="http://schemas.microsoft.com/office/drawing/2014/main" id="{F79F1A52-0418-424A-A8DC-8A98BFB0C4E4}"/>
              </a:ext>
            </a:extLst>
          </p:cNvPr>
          <p:cNvGrpSpPr/>
          <p:nvPr/>
        </p:nvGrpSpPr>
        <p:grpSpPr>
          <a:xfrm>
            <a:off x="1953799" y="1976173"/>
            <a:ext cx="6169732" cy="2150043"/>
            <a:chOff x="2382375" y="1657234"/>
            <a:chExt cx="6169732" cy="2150043"/>
          </a:xfrm>
        </p:grpSpPr>
        <p:cxnSp>
          <p:nvCxnSpPr>
            <p:cNvPr id="25" name="구부러진 연결선 23"/>
            <p:cNvCxnSpPr>
              <a:cxnSpLocks/>
            </p:cNvCxnSpPr>
            <p:nvPr/>
          </p:nvCxnSpPr>
          <p:spPr>
            <a:xfrm>
              <a:off x="2382375" y="3787184"/>
              <a:ext cx="6169732" cy="20093"/>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22" name="구부러진 연결선 23">
              <a:extLst>
                <a:ext uri="{FF2B5EF4-FFF2-40B4-BE49-F238E27FC236}">
                  <a16:creationId xmlns:a16="http://schemas.microsoft.com/office/drawing/2014/main" id="{CE1459A0-CF39-40C0-AB95-2134CF05C72C}"/>
                </a:ext>
              </a:extLst>
            </p:cNvPr>
            <p:cNvCxnSpPr>
              <a:cxnSpLocks/>
            </p:cNvCxnSpPr>
            <p:nvPr/>
          </p:nvCxnSpPr>
          <p:spPr>
            <a:xfrm>
              <a:off x="2382375" y="1657234"/>
              <a:ext cx="5919070"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540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27384"/>
            <a:ext cx="9144000" cy="6858000"/>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b="1" dirty="0">
              <a:solidFill>
                <a:schemeClr val="bg1">
                  <a:lumMod val="85000"/>
                </a:schemeClr>
              </a:solidFill>
            </a:endParaRPr>
          </a:p>
        </p:txBody>
      </p:sp>
      <p:sp>
        <p:nvSpPr>
          <p:cNvPr id="2" name="제목 1"/>
          <p:cNvSpPr>
            <a:spLocks noGrp="1"/>
          </p:cNvSpPr>
          <p:nvPr>
            <p:ph type="title"/>
          </p:nvPr>
        </p:nvSpPr>
        <p:spPr/>
        <p:txBody>
          <a:bodyPr/>
          <a:lstStyle/>
          <a:p>
            <a:pPr algn="l"/>
            <a:r>
              <a:rPr lang="en-US" altLang="ko-KR" dirty="0">
                <a:ln>
                  <a:solidFill>
                    <a:schemeClr val="bg1">
                      <a:alpha val="0"/>
                    </a:schemeClr>
                  </a:solidFill>
                </a:ln>
                <a:solidFill>
                  <a:schemeClr val="tx1">
                    <a:lumMod val="75000"/>
                    <a:lumOff val="25000"/>
                  </a:schemeClr>
                </a:solidFill>
                <a:latin typeface="나눔바른고딕" panose="020B0603020101020101" pitchFamily="50" charset="-127"/>
                <a:ea typeface="나눔바른고딕" panose="020B0603020101020101" pitchFamily="50" charset="-127"/>
              </a:rPr>
              <a:t>Index</a:t>
            </a:r>
            <a:endParaRPr lang="ko-KR" altLang="en-US" dirty="0">
              <a:ln>
                <a:solidFill>
                  <a:schemeClr val="bg1">
                    <a:alpha val="0"/>
                  </a:schemeClr>
                </a:solidFill>
              </a:ln>
              <a:solidFill>
                <a:schemeClr val="tx1">
                  <a:lumMod val="75000"/>
                  <a:lumOff val="25000"/>
                </a:schemeClr>
              </a:solidFill>
              <a:latin typeface="나눔바른고딕" panose="020B0603020101020101" pitchFamily="50" charset="-127"/>
              <a:ea typeface="나눔바른고딕" panose="020B0603020101020101" pitchFamily="50" charset="-127"/>
            </a:endParaRPr>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구부러진 연결선 23"/>
          <p:cNvCxnSpPr/>
          <p:nvPr/>
        </p:nvCxnSpPr>
        <p:spPr>
          <a:xfrm>
            <a:off x="428596" y="1285860"/>
            <a:ext cx="8286808" cy="2632"/>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nvGrpSpPr>
          <p:cNvPr id="15" name="그룹 14"/>
          <p:cNvGrpSpPr/>
          <p:nvPr/>
        </p:nvGrpSpPr>
        <p:grpSpPr>
          <a:xfrm>
            <a:off x="2002150" y="2421702"/>
            <a:ext cx="1757172" cy="2014596"/>
            <a:chOff x="1042665" y="2524798"/>
            <a:chExt cx="1757172" cy="2014596"/>
          </a:xfrm>
        </p:grpSpPr>
        <p:sp>
          <p:nvSpPr>
            <p:cNvPr id="9" name="타원 8"/>
            <p:cNvSpPr/>
            <p:nvPr/>
          </p:nvSpPr>
          <p:spPr>
            <a:xfrm>
              <a:off x="1042665" y="2770341"/>
              <a:ext cx="1757172" cy="1769053"/>
            </a:xfrm>
            <a:prstGeom prst="ellipse">
              <a:avLst/>
            </a:prstGeom>
            <a:solidFill>
              <a:schemeClr val="accent6">
                <a:lumMod val="40000"/>
                <a:lumOff val="60000"/>
                <a:alpha val="5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13" name="TextBox 12"/>
            <p:cNvSpPr txBox="1"/>
            <p:nvPr/>
          </p:nvSpPr>
          <p:spPr>
            <a:xfrm>
              <a:off x="1632207" y="2524798"/>
              <a:ext cx="571504" cy="707886"/>
            </a:xfrm>
            <a:prstGeom prst="rect">
              <a:avLst/>
            </a:prstGeom>
            <a:noFill/>
          </p:spPr>
          <p:txBody>
            <a:bodyPr wrap="square" rtlCol="0">
              <a:spAutoFit/>
            </a:bodyPr>
            <a:lstStyle/>
            <a:p>
              <a:r>
                <a:rPr lang="en-US" altLang="ko-KR" sz="4000" b="1" dirty="0">
                  <a:ln>
                    <a:solidFill>
                      <a:schemeClr val="bg1">
                        <a:alpha val="0"/>
                      </a:schemeClr>
                    </a:solidFill>
                  </a:ln>
                  <a:solidFill>
                    <a:schemeClr val="tx1">
                      <a:lumMod val="65000"/>
                      <a:lumOff val="35000"/>
                    </a:schemeClr>
                  </a:solidFill>
                  <a:latin typeface="나눔바른고딕" panose="020B0603020101020101" pitchFamily="50" charset="-127"/>
                  <a:ea typeface="나눔바른고딕" panose="020B0603020101020101" pitchFamily="50" charset="-127"/>
                </a:rPr>
                <a:t>1</a:t>
              </a:r>
              <a:endParaRPr lang="ko-KR" altLang="en-US" sz="4000" b="1" dirty="0">
                <a:ln>
                  <a:solidFill>
                    <a:schemeClr val="bg1">
                      <a:alpha val="0"/>
                    </a:schemeClr>
                  </a:solidFill>
                </a:ln>
                <a:solidFill>
                  <a:schemeClr val="tx1">
                    <a:lumMod val="65000"/>
                    <a:lumOff val="35000"/>
                  </a:schemeClr>
                </a:solidFill>
                <a:latin typeface="나눔바른고딕" panose="020B0603020101020101" pitchFamily="50" charset="-127"/>
                <a:ea typeface="나눔바른고딕" panose="020B0603020101020101" pitchFamily="50" charset="-127"/>
              </a:endParaRPr>
            </a:p>
          </p:txBody>
        </p:sp>
        <p:sp>
          <p:nvSpPr>
            <p:cNvPr id="17" name="TextBox 16"/>
            <p:cNvSpPr txBox="1"/>
            <p:nvPr/>
          </p:nvSpPr>
          <p:spPr>
            <a:xfrm>
              <a:off x="1126662" y="3305039"/>
              <a:ext cx="1588736" cy="646331"/>
            </a:xfrm>
            <a:prstGeom prst="rect">
              <a:avLst/>
            </a:prstGeom>
            <a:noFill/>
          </p:spPr>
          <p:txBody>
            <a:bodyPr wrap="square" rtlCol="0">
              <a:spAutoFit/>
            </a:bodyPr>
            <a:lstStyle/>
            <a:p>
              <a:pPr algn="ctr"/>
              <a:r>
                <a:rPr lang="en-US" altLang="ko-KR" dirty="0">
                  <a:ln>
                    <a:solidFill>
                      <a:schemeClr val="bg1">
                        <a:alpha val="0"/>
                      </a:schemeClr>
                    </a:solidFill>
                  </a:ln>
                  <a:latin typeface="나눔바른고딕" panose="020B0603020101020101" pitchFamily="50" charset="-127"/>
                  <a:ea typeface="나눔바른고딕" panose="020B0603020101020101" pitchFamily="50" charset="-127"/>
                </a:rPr>
                <a:t>3D-R2N2</a:t>
              </a:r>
            </a:p>
            <a:p>
              <a:pPr algn="ctr"/>
              <a:r>
                <a:rPr lang="en-US" altLang="ko-KR" dirty="0">
                  <a:ln>
                    <a:solidFill>
                      <a:schemeClr val="bg1">
                        <a:alpha val="0"/>
                      </a:schemeClr>
                    </a:solidFill>
                  </a:ln>
                  <a:latin typeface="나눔바른고딕" panose="020B0603020101020101" pitchFamily="50" charset="-127"/>
                  <a:ea typeface="나눔바른고딕" panose="020B0603020101020101" pitchFamily="50" charset="-127"/>
                </a:rPr>
                <a:t>Introduction</a:t>
              </a:r>
            </a:p>
          </p:txBody>
        </p:sp>
      </p:grpSp>
      <p:grpSp>
        <p:nvGrpSpPr>
          <p:cNvPr id="10" name="그룹 9"/>
          <p:cNvGrpSpPr/>
          <p:nvPr/>
        </p:nvGrpSpPr>
        <p:grpSpPr>
          <a:xfrm>
            <a:off x="5772065" y="2416507"/>
            <a:ext cx="1878357" cy="2024987"/>
            <a:chOff x="4811255" y="2514407"/>
            <a:chExt cx="1878357" cy="2024987"/>
          </a:xfrm>
        </p:grpSpPr>
        <p:sp>
          <p:nvSpPr>
            <p:cNvPr id="11" name="타원 10"/>
            <p:cNvSpPr/>
            <p:nvPr/>
          </p:nvSpPr>
          <p:spPr>
            <a:xfrm>
              <a:off x="4811255" y="2770341"/>
              <a:ext cx="1760649" cy="1769053"/>
            </a:xfrm>
            <a:prstGeom prst="ellipse">
              <a:avLst/>
            </a:prstGeom>
            <a:solidFill>
              <a:schemeClr val="accent6">
                <a:lumMod val="50000"/>
                <a:alpha val="4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14" name="TextBox 13"/>
            <p:cNvSpPr txBox="1"/>
            <p:nvPr/>
          </p:nvSpPr>
          <p:spPr>
            <a:xfrm>
              <a:off x="5465751" y="2514407"/>
              <a:ext cx="571504" cy="707886"/>
            </a:xfrm>
            <a:prstGeom prst="rect">
              <a:avLst/>
            </a:prstGeom>
            <a:noFill/>
          </p:spPr>
          <p:txBody>
            <a:bodyPr wrap="square" rtlCol="0">
              <a:spAutoFit/>
            </a:bodyPr>
            <a:lstStyle/>
            <a:p>
              <a:r>
                <a:rPr lang="en-US" altLang="ko-KR" sz="4000" b="1" dirty="0">
                  <a:ln>
                    <a:solidFill>
                      <a:schemeClr val="bg1">
                        <a:alpha val="0"/>
                      </a:schemeClr>
                    </a:solidFill>
                  </a:ln>
                  <a:solidFill>
                    <a:schemeClr val="tx1">
                      <a:lumMod val="65000"/>
                      <a:lumOff val="35000"/>
                    </a:schemeClr>
                  </a:solidFill>
                  <a:latin typeface="나눔바른고딕" panose="020B0603020101020101" pitchFamily="50" charset="-127"/>
                  <a:ea typeface="나눔바른고딕" panose="020B0603020101020101" pitchFamily="50" charset="-127"/>
                </a:rPr>
                <a:t>3</a:t>
              </a:r>
              <a:endParaRPr lang="ko-KR" altLang="en-US" sz="4000" b="1" dirty="0">
                <a:ln>
                  <a:solidFill>
                    <a:schemeClr val="bg1">
                      <a:alpha val="0"/>
                    </a:schemeClr>
                  </a:solidFill>
                </a:ln>
                <a:solidFill>
                  <a:schemeClr val="tx1">
                    <a:lumMod val="65000"/>
                    <a:lumOff val="35000"/>
                  </a:schemeClr>
                </a:solidFill>
                <a:latin typeface="나눔바른고딕" panose="020B0603020101020101" pitchFamily="50" charset="-127"/>
                <a:ea typeface="나눔바른고딕" panose="020B0603020101020101" pitchFamily="50" charset="-127"/>
              </a:endParaRPr>
            </a:p>
          </p:txBody>
        </p:sp>
        <p:sp>
          <p:nvSpPr>
            <p:cNvPr id="18" name="TextBox 17"/>
            <p:cNvSpPr txBox="1"/>
            <p:nvPr/>
          </p:nvSpPr>
          <p:spPr>
            <a:xfrm>
              <a:off x="4826511" y="3316258"/>
              <a:ext cx="1863101" cy="646331"/>
            </a:xfrm>
            <a:prstGeom prst="rect">
              <a:avLst/>
            </a:prstGeom>
            <a:noFill/>
          </p:spPr>
          <p:txBody>
            <a:bodyPr wrap="square" rtlCol="0">
              <a:spAutoFit/>
            </a:bodyPr>
            <a:lstStyle/>
            <a:p>
              <a:pPr algn="ctr"/>
              <a:r>
                <a:rPr lang="en-US" altLang="ko-KR" dirty="0">
                  <a:ln>
                    <a:solidFill>
                      <a:schemeClr val="bg1">
                        <a:alpha val="0"/>
                      </a:schemeClr>
                    </a:solidFill>
                  </a:ln>
                  <a:latin typeface="나눔바른고딕" panose="020B0603020101020101" pitchFamily="50" charset="-127"/>
                  <a:ea typeface="나눔바른고딕" panose="020B0603020101020101" pitchFamily="50" charset="-127"/>
                </a:rPr>
                <a:t>3D-R2N2</a:t>
              </a:r>
            </a:p>
            <a:p>
              <a:pPr algn="ctr"/>
              <a:r>
                <a:rPr lang="en-US" altLang="ko-KR" dirty="0">
                  <a:ln>
                    <a:solidFill>
                      <a:schemeClr val="bg1">
                        <a:alpha val="0"/>
                      </a:schemeClr>
                    </a:solidFill>
                  </a:ln>
                  <a:latin typeface="나눔바른고딕" panose="020B0603020101020101" pitchFamily="50" charset="-127"/>
                  <a:ea typeface="나눔바른고딕" panose="020B0603020101020101" pitchFamily="50" charset="-127"/>
                </a:rPr>
                <a:t>Detail</a:t>
              </a:r>
              <a:r>
                <a:rPr lang="ko-KR" altLang="en-US" dirty="0">
                  <a:ln>
                    <a:solidFill>
                      <a:schemeClr val="bg1">
                        <a:alpha val="0"/>
                      </a:schemeClr>
                    </a:solidFill>
                  </a:ln>
                  <a:latin typeface="나눔바른고딕" panose="020B0603020101020101" pitchFamily="50" charset="-127"/>
                  <a:ea typeface="나눔바른고딕" panose="020B0603020101020101" pitchFamily="50" charset="-127"/>
                </a:rPr>
                <a:t> </a:t>
              </a:r>
              <a:endParaRPr lang="en-US" altLang="ko-KR" dirty="0">
                <a:ln>
                  <a:solidFill>
                    <a:schemeClr val="bg1">
                      <a:alpha val="0"/>
                    </a:schemeClr>
                  </a:solidFill>
                </a:ln>
                <a:latin typeface="나눔바른고딕" panose="020B0603020101020101" pitchFamily="50" charset="-127"/>
                <a:ea typeface="나눔바른고딕" panose="020B0603020101020101" pitchFamily="50" charset="-127"/>
              </a:endParaRPr>
            </a:p>
          </p:txBody>
        </p:sp>
      </p:grpSp>
      <p:sp>
        <p:nvSpPr>
          <p:cNvPr id="26" name="자유형 25"/>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p:cNvGrpSpPr/>
          <p:nvPr/>
        </p:nvGrpSpPr>
        <p:grpSpPr>
          <a:xfrm>
            <a:off x="3873229" y="2421702"/>
            <a:ext cx="1863101" cy="2014596"/>
            <a:chOff x="2913744" y="2524798"/>
            <a:chExt cx="1863101" cy="2014596"/>
          </a:xfrm>
        </p:grpSpPr>
        <p:sp>
          <p:nvSpPr>
            <p:cNvPr id="23" name="타원 22"/>
            <p:cNvSpPr/>
            <p:nvPr/>
          </p:nvSpPr>
          <p:spPr>
            <a:xfrm>
              <a:off x="2917545" y="2770341"/>
              <a:ext cx="1760649" cy="1769053"/>
            </a:xfrm>
            <a:prstGeom prst="ellipse">
              <a:avLst/>
            </a:prstGeom>
            <a:solidFill>
              <a:schemeClr val="accent6">
                <a:lumMod val="75000"/>
                <a:alpha val="4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24" name="TextBox 23"/>
            <p:cNvSpPr txBox="1"/>
            <p:nvPr/>
          </p:nvSpPr>
          <p:spPr>
            <a:xfrm>
              <a:off x="3596823" y="2524798"/>
              <a:ext cx="571504" cy="707886"/>
            </a:xfrm>
            <a:prstGeom prst="rect">
              <a:avLst/>
            </a:prstGeom>
            <a:noFill/>
          </p:spPr>
          <p:txBody>
            <a:bodyPr wrap="square" rtlCol="0">
              <a:spAutoFit/>
            </a:bodyPr>
            <a:lstStyle/>
            <a:p>
              <a:r>
                <a:rPr lang="en-US" altLang="ko-KR" sz="4000" b="1" dirty="0">
                  <a:ln>
                    <a:solidFill>
                      <a:schemeClr val="bg1">
                        <a:alpha val="0"/>
                      </a:schemeClr>
                    </a:solidFill>
                  </a:ln>
                  <a:solidFill>
                    <a:schemeClr val="tx1">
                      <a:lumMod val="65000"/>
                      <a:lumOff val="35000"/>
                    </a:schemeClr>
                  </a:solidFill>
                  <a:latin typeface="나눔바른고딕" panose="020B0603020101020101" pitchFamily="50" charset="-127"/>
                  <a:ea typeface="나눔바른고딕" panose="020B0603020101020101" pitchFamily="50" charset="-127"/>
                </a:rPr>
                <a:t>2</a:t>
              </a:r>
              <a:endParaRPr lang="ko-KR" altLang="en-US" sz="4000" b="1" dirty="0">
                <a:ln>
                  <a:solidFill>
                    <a:schemeClr val="bg1">
                      <a:alpha val="0"/>
                    </a:schemeClr>
                  </a:solidFill>
                </a:ln>
                <a:solidFill>
                  <a:schemeClr val="tx1">
                    <a:lumMod val="65000"/>
                    <a:lumOff val="35000"/>
                  </a:schemeClr>
                </a:solidFill>
                <a:latin typeface="나눔바른고딕" panose="020B0603020101020101" pitchFamily="50" charset="-127"/>
                <a:ea typeface="나눔바른고딕" panose="020B0603020101020101" pitchFamily="50" charset="-127"/>
              </a:endParaRPr>
            </a:p>
          </p:txBody>
        </p:sp>
        <p:sp>
          <p:nvSpPr>
            <p:cNvPr id="25" name="TextBox 24"/>
            <p:cNvSpPr txBox="1"/>
            <p:nvPr/>
          </p:nvSpPr>
          <p:spPr>
            <a:xfrm>
              <a:off x="2913744" y="3305038"/>
              <a:ext cx="1863101" cy="646331"/>
            </a:xfrm>
            <a:prstGeom prst="rect">
              <a:avLst/>
            </a:prstGeom>
            <a:noFill/>
          </p:spPr>
          <p:txBody>
            <a:bodyPr wrap="square" rtlCol="0">
              <a:spAutoFit/>
            </a:bodyPr>
            <a:lstStyle/>
            <a:p>
              <a:pPr algn="ctr"/>
              <a:r>
                <a:rPr lang="en-US" altLang="ko-KR" dirty="0">
                  <a:ln>
                    <a:solidFill>
                      <a:schemeClr val="bg1">
                        <a:alpha val="0"/>
                      </a:schemeClr>
                    </a:solidFill>
                  </a:ln>
                  <a:latin typeface="나눔바른고딕" panose="020B0603020101020101" pitchFamily="50" charset="-127"/>
                  <a:ea typeface="나눔바른고딕" panose="020B0603020101020101" pitchFamily="50" charset="-127"/>
                </a:rPr>
                <a:t>3D-R2N2</a:t>
              </a:r>
            </a:p>
            <a:p>
              <a:pPr algn="ctr"/>
              <a:r>
                <a:rPr lang="en-US" altLang="ko-KR" dirty="0">
                  <a:ln>
                    <a:solidFill>
                      <a:schemeClr val="bg1">
                        <a:alpha val="0"/>
                      </a:schemeClr>
                    </a:solidFill>
                  </a:ln>
                  <a:latin typeface="나눔바른고딕" panose="020B0603020101020101" pitchFamily="50" charset="-127"/>
                  <a:ea typeface="나눔바른고딕" panose="020B0603020101020101" pitchFamily="50" charset="-127"/>
                </a:rPr>
                <a:t>Structure</a:t>
              </a:r>
            </a:p>
          </p:txBody>
        </p:sp>
      </p:grpSp>
    </p:spTree>
    <p:extLst>
      <p:ext uri="{BB962C8B-B14F-4D97-AF65-F5344CB8AC3E}">
        <p14:creationId xmlns:p14="http://schemas.microsoft.com/office/powerpoint/2010/main" val="2658599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1</a:t>
            </a:r>
            <a:endParaRPr lang="ko-KR" altLang="en-US" sz="3600" dirty="0"/>
          </a:p>
        </p:txBody>
      </p:sp>
      <p:pic>
        <p:nvPicPr>
          <p:cNvPr id="2" name="그림 1">
            <a:extLst>
              <a:ext uri="{FF2B5EF4-FFF2-40B4-BE49-F238E27FC236}">
                <a16:creationId xmlns:a16="http://schemas.microsoft.com/office/drawing/2014/main" id="{B6FBB4B8-887E-45D4-B946-FA41D3D51438}"/>
              </a:ext>
            </a:extLst>
          </p:cNvPr>
          <p:cNvPicPr>
            <a:picLocks noChangeAspect="1"/>
          </p:cNvPicPr>
          <p:nvPr/>
        </p:nvPicPr>
        <p:blipFill>
          <a:blip r:embed="rId3"/>
          <a:stretch>
            <a:fillRect/>
          </a:stretch>
        </p:blipFill>
        <p:spPr>
          <a:xfrm>
            <a:off x="288379" y="1246294"/>
            <a:ext cx="8085953" cy="3159687"/>
          </a:xfrm>
          <a:prstGeom prst="rect">
            <a:avLst/>
          </a:prstGeom>
        </p:spPr>
      </p:pic>
      <p:sp>
        <p:nvSpPr>
          <p:cNvPr id="3" name="TextBox 2">
            <a:extLst>
              <a:ext uri="{FF2B5EF4-FFF2-40B4-BE49-F238E27FC236}">
                <a16:creationId xmlns:a16="http://schemas.microsoft.com/office/drawing/2014/main" id="{B8937E01-0B2B-4B1D-B3CE-06CDC543A03E}"/>
              </a:ext>
            </a:extLst>
          </p:cNvPr>
          <p:cNvSpPr txBox="1"/>
          <p:nvPr/>
        </p:nvSpPr>
        <p:spPr>
          <a:xfrm>
            <a:off x="457200" y="4482962"/>
            <a:ext cx="8601281" cy="1200329"/>
          </a:xfrm>
          <a:prstGeom prst="rect">
            <a:avLst/>
          </a:prstGeom>
          <a:noFill/>
        </p:spPr>
        <p:txBody>
          <a:bodyPr wrap="square" rtlCol="0">
            <a:spAutoFit/>
          </a:bodyPr>
          <a:lstStyle/>
          <a:p>
            <a:r>
              <a:rPr lang="en-US" altLang="ko-KR" dirty="0"/>
              <a:t>An overview of our proposed 3D-R2N2: The network takes a sequence of images from arbitrary (uncalibrated) viewpoints as input and generates </a:t>
            </a:r>
            <a:r>
              <a:rPr lang="en-US" altLang="ko-KR" dirty="0" err="1"/>
              <a:t>voxelized</a:t>
            </a:r>
            <a:r>
              <a:rPr lang="en-US" altLang="ko-KR" dirty="0"/>
              <a:t> 3D reconstruction as an output. </a:t>
            </a:r>
          </a:p>
          <a:p>
            <a:r>
              <a:rPr lang="en-US" altLang="ko-KR" dirty="0"/>
              <a:t>The reconstruction is incrementally refined as the network sees more views of the object</a:t>
            </a:r>
            <a:endParaRPr lang="ko-KR" altLang="en-US" dirty="0"/>
          </a:p>
        </p:txBody>
      </p:sp>
    </p:spTree>
    <p:extLst>
      <p:ext uri="{BB962C8B-B14F-4D97-AF65-F5344CB8AC3E}">
        <p14:creationId xmlns:p14="http://schemas.microsoft.com/office/powerpoint/2010/main" val="799891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1</a:t>
            </a:r>
            <a:endParaRPr lang="ko-KR" altLang="en-US" sz="3600" dirty="0"/>
          </a:p>
        </p:txBody>
      </p:sp>
      <p:sp>
        <p:nvSpPr>
          <p:cNvPr id="2" name="직사각형 1">
            <a:extLst>
              <a:ext uri="{FF2B5EF4-FFF2-40B4-BE49-F238E27FC236}">
                <a16:creationId xmlns:a16="http://schemas.microsoft.com/office/drawing/2014/main" id="{C67ACFB0-434D-4662-AF48-9F9F376ED51B}"/>
              </a:ext>
            </a:extLst>
          </p:cNvPr>
          <p:cNvSpPr/>
          <p:nvPr/>
        </p:nvSpPr>
        <p:spPr>
          <a:xfrm>
            <a:off x="290911" y="1076800"/>
            <a:ext cx="3352071" cy="369332"/>
          </a:xfrm>
          <a:prstGeom prst="rect">
            <a:avLst/>
          </a:prstGeom>
        </p:spPr>
        <p:txBody>
          <a:bodyPr wrap="none">
            <a:spAutoFit/>
          </a:bodyPr>
          <a:lstStyle/>
          <a:p>
            <a:r>
              <a:rPr lang="en-US" altLang="ko-KR" dirty="0"/>
              <a:t>Long Short-Term Memory (LSTM) </a:t>
            </a:r>
            <a:endParaRPr lang="ko-KR" altLang="en-US" dirty="0"/>
          </a:p>
        </p:txBody>
      </p:sp>
      <p:pic>
        <p:nvPicPr>
          <p:cNvPr id="1026" name="Picture 2" descr="LSTMì ëí ì´ë¯¸ì§ ê²ìê²°ê³¼">
            <a:extLst>
              <a:ext uri="{FF2B5EF4-FFF2-40B4-BE49-F238E27FC236}">
                <a16:creationId xmlns:a16="http://schemas.microsoft.com/office/drawing/2014/main" id="{AB7B561B-7696-4B59-94DE-1C47C6CF54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291" y="1630457"/>
            <a:ext cx="6328826" cy="40368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A03F1D6-01A2-4EFC-960A-292B70123E97}"/>
              </a:ext>
            </a:extLst>
          </p:cNvPr>
          <p:cNvSpPr txBox="1"/>
          <p:nvPr/>
        </p:nvSpPr>
        <p:spPr>
          <a:xfrm>
            <a:off x="7102136" y="2121763"/>
            <a:ext cx="1331650" cy="646331"/>
          </a:xfrm>
          <a:prstGeom prst="rect">
            <a:avLst/>
          </a:prstGeom>
          <a:noFill/>
        </p:spPr>
        <p:txBody>
          <a:bodyPr wrap="square" rtlCol="0">
            <a:spAutoFit/>
          </a:bodyPr>
          <a:lstStyle/>
          <a:p>
            <a:r>
              <a:rPr lang="en-US" altLang="ko-KR" dirty="0"/>
              <a:t>Why we call the Gate?</a:t>
            </a:r>
            <a:endParaRPr lang="ko-KR" altLang="en-US" dirty="0"/>
          </a:p>
        </p:txBody>
      </p:sp>
      <p:sp>
        <p:nvSpPr>
          <p:cNvPr id="13" name="TextBox 12">
            <a:extLst>
              <a:ext uri="{FF2B5EF4-FFF2-40B4-BE49-F238E27FC236}">
                <a16:creationId xmlns:a16="http://schemas.microsoft.com/office/drawing/2014/main" id="{BAB1CE6B-3044-4375-96EB-21458F550FB7}"/>
              </a:ext>
            </a:extLst>
          </p:cNvPr>
          <p:cNvSpPr txBox="1"/>
          <p:nvPr/>
        </p:nvSpPr>
        <p:spPr>
          <a:xfrm>
            <a:off x="7110510" y="2847993"/>
            <a:ext cx="1649199" cy="923330"/>
          </a:xfrm>
          <a:prstGeom prst="rect">
            <a:avLst/>
          </a:prstGeom>
          <a:noFill/>
        </p:spPr>
        <p:txBody>
          <a:bodyPr wrap="square" rtlCol="0">
            <a:spAutoFit/>
          </a:bodyPr>
          <a:lstStyle/>
          <a:p>
            <a:r>
              <a:rPr lang="en-US" altLang="ko-KR" dirty="0"/>
              <a:t>Sigmoid control the output vector of Gate</a:t>
            </a:r>
            <a:endParaRPr lang="ko-KR" altLang="en-US" dirty="0"/>
          </a:p>
        </p:txBody>
      </p:sp>
    </p:spTree>
    <p:extLst>
      <p:ext uri="{BB962C8B-B14F-4D97-AF65-F5344CB8AC3E}">
        <p14:creationId xmlns:p14="http://schemas.microsoft.com/office/powerpoint/2010/main" val="224077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3156"/>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1</a:t>
            </a:r>
            <a:endParaRPr lang="ko-KR" altLang="en-US" sz="3600" dirty="0"/>
          </a:p>
        </p:txBody>
      </p:sp>
      <p:sp>
        <p:nvSpPr>
          <p:cNvPr id="2" name="직사각형 1">
            <a:extLst>
              <a:ext uri="{FF2B5EF4-FFF2-40B4-BE49-F238E27FC236}">
                <a16:creationId xmlns:a16="http://schemas.microsoft.com/office/drawing/2014/main" id="{C67ACFB0-434D-4662-AF48-9F9F376ED51B}"/>
              </a:ext>
            </a:extLst>
          </p:cNvPr>
          <p:cNvSpPr/>
          <p:nvPr/>
        </p:nvSpPr>
        <p:spPr>
          <a:xfrm>
            <a:off x="290911" y="1076800"/>
            <a:ext cx="3352071" cy="369332"/>
          </a:xfrm>
          <a:prstGeom prst="rect">
            <a:avLst/>
          </a:prstGeom>
        </p:spPr>
        <p:txBody>
          <a:bodyPr wrap="none">
            <a:spAutoFit/>
          </a:bodyPr>
          <a:lstStyle/>
          <a:p>
            <a:r>
              <a:rPr lang="en-US" altLang="ko-KR" dirty="0"/>
              <a:t>Long Short-Term Memory (LSTM) </a:t>
            </a:r>
            <a:endParaRPr lang="ko-KR" altLang="en-US" dirty="0"/>
          </a:p>
        </p:txBody>
      </p:sp>
      <p:pic>
        <p:nvPicPr>
          <p:cNvPr id="3" name="그림 2">
            <a:extLst>
              <a:ext uri="{FF2B5EF4-FFF2-40B4-BE49-F238E27FC236}">
                <a16:creationId xmlns:a16="http://schemas.microsoft.com/office/drawing/2014/main" id="{90856131-76E4-4FC6-91B1-6DA41B96D0D0}"/>
              </a:ext>
            </a:extLst>
          </p:cNvPr>
          <p:cNvPicPr>
            <a:picLocks noChangeAspect="1"/>
          </p:cNvPicPr>
          <p:nvPr/>
        </p:nvPicPr>
        <p:blipFill>
          <a:blip r:embed="rId3"/>
          <a:stretch>
            <a:fillRect/>
          </a:stretch>
        </p:blipFill>
        <p:spPr>
          <a:xfrm>
            <a:off x="384291" y="1601963"/>
            <a:ext cx="5972175" cy="2295525"/>
          </a:xfrm>
          <a:prstGeom prst="rect">
            <a:avLst/>
          </a:prstGeom>
        </p:spPr>
      </p:pic>
      <p:sp>
        <p:nvSpPr>
          <p:cNvPr id="9" name="직사각형 8">
            <a:extLst>
              <a:ext uri="{FF2B5EF4-FFF2-40B4-BE49-F238E27FC236}">
                <a16:creationId xmlns:a16="http://schemas.microsoft.com/office/drawing/2014/main" id="{21CB3C0E-3E48-450B-AC04-6A336D31370B}"/>
              </a:ext>
            </a:extLst>
          </p:cNvPr>
          <p:cNvSpPr/>
          <p:nvPr/>
        </p:nvSpPr>
        <p:spPr>
          <a:xfrm>
            <a:off x="457200" y="3927673"/>
            <a:ext cx="8229600" cy="2031325"/>
          </a:xfrm>
          <a:prstGeom prst="rect">
            <a:avLst/>
          </a:prstGeom>
        </p:spPr>
        <p:txBody>
          <a:bodyPr wrap="square">
            <a:spAutoFit/>
          </a:bodyPr>
          <a:lstStyle/>
          <a:p>
            <a:r>
              <a:rPr lang="en-US" altLang="ko-KR" dirty="0"/>
              <a:t>LSTM overcome the vanishing gradient problem</a:t>
            </a:r>
          </a:p>
          <a:p>
            <a:r>
              <a:rPr lang="en-US" altLang="ko-KR" dirty="0"/>
              <a:t>Specifically, an LSTM unit consists of four components: </a:t>
            </a:r>
          </a:p>
          <a:p>
            <a:r>
              <a:rPr lang="en-US" altLang="ko-KR" dirty="0"/>
              <a:t>memory units (a memory cell and a hidden state)</a:t>
            </a:r>
          </a:p>
          <a:p>
            <a:r>
              <a:rPr lang="en-US" altLang="ko-KR" dirty="0"/>
              <a:t>three gates which control the flow of information from the input to the hidden state (input gate), </a:t>
            </a:r>
          </a:p>
          <a:p>
            <a:r>
              <a:rPr lang="en-US" altLang="ko-KR" dirty="0"/>
              <a:t>from the hidden state to the output (output gate), </a:t>
            </a:r>
          </a:p>
          <a:p>
            <a:r>
              <a:rPr lang="en-US" altLang="ko-KR" dirty="0"/>
              <a:t>from the previous hidden state to the current hidden state (forget gate) </a:t>
            </a:r>
            <a:endParaRPr lang="ko-KR" altLang="en-US" dirty="0"/>
          </a:p>
        </p:txBody>
      </p:sp>
    </p:spTree>
    <p:extLst>
      <p:ext uri="{BB962C8B-B14F-4D97-AF65-F5344CB8AC3E}">
        <p14:creationId xmlns:p14="http://schemas.microsoft.com/office/powerpoint/2010/main" val="4067573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1</a:t>
            </a:r>
            <a:endParaRPr lang="ko-KR" altLang="en-US" sz="3600" dirty="0"/>
          </a:p>
        </p:txBody>
      </p:sp>
      <p:sp>
        <p:nvSpPr>
          <p:cNvPr id="3" name="직사각형 2">
            <a:extLst>
              <a:ext uri="{FF2B5EF4-FFF2-40B4-BE49-F238E27FC236}">
                <a16:creationId xmlns:a16="http://schemas.microsoft.com/office/drawing/2014/main" id="{A2ACD275-CA04-4E76-8710-3E54667AF8AF}"/>
              </a:ext>
            </a:extLst>
          </p:cNvPr>
          <p:cNvSpPr/>
          <p:nvPr/>
        </p:nvSpPr>
        <p:spPr>
          <a:xfrm>
            <a:off x="317259" y="1119085"/>
            <a:ext cx="2181046" cy="369332"/>
          </a:xfrm>
          <a:prstGeom prst="rect">
            <a:avLst/>
          </a:prstGeom>
        </p:spPr>
        <p:txBody>
          <a:bodyPr wrap="none">
            <a:spAutoFit/>
          </a:bodyPr>
          <a:lstStyle/>
          <a:p>
            <a:r>
              <a:rPr lang="en-US" altLang="ko-KR" dirty="0"/>
              <a:t>Gated Recurrent Unit</a:t>
            </a:r>
            <a:endParaRPr lang="ko-KR" altLang="en-US" dirty="0"/>
          </a:p>
        </p:txBody>
      </p:sp>
      <p:pic>
        <p:nvPicPr>
          <p:cNvPr id="2050" name="Picture 2" descr="Gated Recurrent Unitì ëí ì´ë¯¸ì§ ê²ìê²°ê³¼">
            <a:extLst>
              <a:ext uri="{FF2B5EF4-FFF2-40B4-BE49-F238E27FC236}">
                <a16:creationId xmlns:a16="http://schemas.microsoft.com/office/drawing/2014/main" id="{43151FEE-7E1B-4A53-A5B2-FF84E16BE8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2110" y="1575765"/>
            <a:ext cx="4870658" cy="3350188"/>
          </a:xfrm>
          <a:prstGeom prst="rect">
            <a:avLst/>
          </a:prstGeom>
          <a:noFill/>
          <a:extLst>
            <a:ext uri="{909E8E84-426E-40DD-AFC4-6F175D3DCCD1}">
              <a14:hiddenFill xmlns:a14="http://schemas.microsoft.com/office/drawing/2010/main">
                <a:solidFill>
                  <a:srgbClr val="FFFFFF"/>
                </a:solidFill>
              </a14:hiddenFill>
            </a:ext>
          </a:extLst>
        </p:spPr>
      </p:pic>
      <p:sp>
        <p:nvSpPr>
          <p:cNvPr id="8" name="직사각형 7">
            <a:extLst>
              <a:ext uri="{FF2B5EF4-FFF2-40B4-BE49-F238E27FC236}">
                <a16:creationId xmlns:a16="http://schemas.microsoft.com/office/drawing/2014/main" id="{D011802C-E562-4AA2-B81B-9281B070ED9C}"/>
              </a:ext>
            </a:extLst>
          </p:cNvPr>
          <p:cNvSpPr/>
          <p:nvPr/>
        </p:nvSpPr>
        <p:spPr>
          <a:xfrm>
            <a:off x="1880767" y="5065285"/>
            <a:ext cx="4816061" cy="646331"/>
          </a:xfrm>
          <a:prstGeom prst="rect">
            <a:avLst/>
          </a:prstGeom>
        </p:spPr>
        <p:txBody>
          <a:bodyPr wrap="square">
            <a:spAutoFit/>
          </a:bodyPr>
          <a:lstStyle/>
          <a:p>
            <a:r>
              <a:rPr lang="en-US" altLang="ko-KR" dirty="0"/>
              <a:t>An advantage of the GRU is that there are fewer computations compared to the standard LSTM</a:t>
            </a:r>
            <a:endParaRPr lang="ko-KR" altLang="en-US" dirty="0"/>
          </a:p>
        </p:txBody>
      </p:sp>
    </p:spTree>
    <p:extLst>
      <p:ext uri="{BB962C8B-B14F-4D97-AF65-F5344CB8AC3E}">
        <p14:creationId xmlns:p14="http://schemas.microsoft.com/office/powerpoint/2010/main" val="1379023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2057"/>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1</a:t>
            </a:r>
            <a:endParaRPr lang="ko-KR" altLang="en-US" sz="3600" dirty="0"/>
          </a:p>
        </p:txBody>
      </p:sp>
      <p:sp>
        <p:nvSpPr>
          <p:cNvPr id="3" name="직사각형 2">
            <a:extLst>
              <a:ext uri="{FF2B5EF4-FFF2-40B4-BE49-F238E27FC236}">
                <a16:creationId xmlns:a16="http://schemas.microsoft.com/office/drawing/2014/main" id="{A2ACD275-CA04-4E76-8710-3E54667AF8AF}"/>
              </a:ext>
            </a:extLst>
          </p:cNvPr>
          <p:cNvSpPr/>
          <p:nvPr/>
        </p:nvSpPr>
        <p:spPr>
          <a:xfrm>
            <a:off x="317259" y="1119085"/>
            <a:ext cx="2181046" cy="369332"/>
          </a:xfrm>
          <a:prstGeom prst="rect">
            <a:avLst/>
          </a:prstGeom>
        </p:spPr>
        <p:txBody>
          <a:bodyPr wrap="none">
            <a:spAutoFit/>
          </a:bodyPr>
          <a:lstStyle/>
          <a:p>
            <a:r>
              <a:rPr lang="en-US" altLang="ko-KR" dirty="0"/>
              <a:t>Gated Recurrent Unit</a:t>
            </a:r>
            <a:endParaRPr lang="ko-KR" altLang="en-US" dirty="0"/>
          </a:p>
        </p:txBody>
      </p:sp>
      <p:sp>
        <p:nvSpPr>
          <p:cNvPr id="8" name="직사각형 7">
            <a:extLst>
              <a:ext uri="{FF2B5EF4-FFF2-40B4-BE49-F238E27FC236}">
                <a16:creationId xmlns:a16="http://schemas.microsoft.com/office/drawing/2014/main" id="{D011802C-E562-4AA2-B81B-9281B070ED9C}"/>
              </a:ext>
            </a:extLst>
          </p:cNvPr>
          <p:cNvSpPr/>
          <p:nvPr/>
        </p:nvSpPr>
        <p:spPr>
          <a:xfrm>
            <a:off x="1880767" y="5065285"/>
            <a:ext cx="4816061" cy="369332"/>
          </a:xfrm>
          <a:prstGeom prst="rect">
            <a:avLst/>
          </a:prstGeom>
        </p:spPr>
        <p:txBody>
          <a:bodyPr wrap="square">
            <a:spAutoFit/>
          </a:bodyPr>
          <a:lstStyle/>
          <a:p>
            <a:r>
              <a:rPr lang="en-US" altLang="ko-KR" dirty="0"/>
              <a:t>Do not think hard, just black box module</a:t>
            </a:r>
            <a:endParaRPr lang="ko-KR" altLang="en-US" dirty="0"/>
          </a:p>
        </p:txBody>
      </p:sp>
      <p:pic>
        <p:nvPicPr>
          <p:cNvPr id="2" name="그림 1">
            <a:extLst>
              <a:ext uri="{FF2B5EF4-FFF2-40B4-BE49-F238E27FC236}">
                <a16:creationId xmlns:a16="http://schemas.microsoft.com/office/drawing/2014/main" id="{46372BB2-26F2-4B3D-B9DD-3DA3285C3E41}"/>
              </a:ext>
            </a:extLst>
          </p:cNvPr>
          <p:cNvPicPr>
            <a:picLocks noChangeAspect="1"/>
          </p:cNvPicPr>
          <p:nvPr/>
        </p:nvPicPr>
        <p:blipFill>
          <a:blip r:embed="rId3"/>
          <a:stretch>
            <a:fillRect/>
          </a:stretch>
        </p:blipFill>
        <p:spPr>
          <a:xfrm>
            <a:off x="1401637" y="1644248"/>
            <a:ext cx="5774320" cy="3317777"/>
          </a:xfrm>
          <a:prstGeom prst="rect">
            <a:avLst/>
          </a:prstGeom>
        </p:spPr>
      </p:pic>
    </p:spTree>
    <p:extLst>
      <p:ext uri="{BB962C8B-B14F-4D97-AF65-F5344CB8AC3E}">
        <p14:creationId xmlns:p14="http://schemas.microsoft.com/office/powerpoint/2010/main" val="3994050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2</a:t>
            </a:r>
            <a:endParaRPr lang="ko-KR" altLang="en-US" sz="3600" dirty="0"/>
          </a:p>
        </p:txBody>
      </p:sp>
      <p:pic>
        <p:nvPicPr>
          <p:cNvPr id="2" name="그림 1">
            <a:extLst>
              <a:ext uri="{FF2B5EF4-FFF2-40B4-BE49-F238E27FC236}">
                <a16:creationId xmlns:a16="http://schemas.microsoft.com/office/drawing/2014/main" id="{C447BA63-5024-45CF-9BAA-F3EAC5B2694C}"/>
              </a:ext>
            </a:extLst>
          </p:cNvPr>
          <p:cNvPicPr>
            <a:picLocks noChangeAspect="1"/>
          </p:cNvPicPr>
          <p:nvPr/>
        </p:nvPicPr>
        <p:blipFill>
          <a:blip r:embed="rId3"/>
          <a:stretch>
            <a:fillRect/>
          </a:stretch>
        </p:blipFill>
        <p:spPr>
          <a:xfrm>
            <a:off x="367513" y="1352791"/>
            <a:ext cx="8528702" cy="3377090"/>
          </a:xfrm>
          <a:prstGeom prst="rect">
            <a:avLst/>
          </a:prstGeom>
        </p:spPr>
      </p:pic>
      <p:sp>
        <p:nvSpPr>
          <p:cNvPr id="3" name="TextBox 2">
            <a:extLst>
              <a:ext uri="{FF2B5EF4-FFF2-40B4-BE49-F238E27FC236}">
                <a16:creationId xmlns:a16="http://schemas.microsoft.com/office/drawing/2014/main" id="{9D6A65D6-7DD3-4BAA-B7CC-6D0D0CF6E2B1}"/>
              </a:ext>
            </a:extLst>
          </p:cNvPr>
          <p:cNvSpPr txBox="1"/>
          <p:nvPr/>
        </p:nvSpPr>
        <p:spPr>
          <a:xfrm>
            <a:off x="3251933" y="4900921"/>
            <a:ext cx="5644282" cy="369332"/>
          </a:xfrm>
          <a:prstGeom prst="rect">
            <a:avLst/>
          </a:prstGeom>
          <a:noFill/>
        </p:spPr>
        <p:txBody>
          <a:bodyPr wrap="square" rtlCol="0">
            <a:spAutoFit/>
          </a:bodyPr>
          <a:lstStyle/>
          <a:p>
            <a:r>
              <a:rPr lang="en-US" altLang="ko-KR" dirty="0"/>
              <a:t>Entire structure of 3DR2N2</a:t>
            </a:r>
            <a:endParaRPr lang="ko-KR" altLang="en-US" dirty="0"/>
          </a:p>
        </p:txBody>
      </p:sp>
    </p:spTree>
    <p:extLst>
      <p:ext uri="{BB962C8B-B14F-4D97-AF65-F5344CB8AC3E}">
        <p14:creationId xmlns:p14="http://schemas.microsoft.com/office/powerpoint/2010/main" val="3782129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2</a:t>
            </a:r>
            <a:endParaRPr lang="ko-KR" altLang="en-US" sz="3600" dirty="0"/>
          </a:p>
        </p:txBody>
      </p:sp>
      <p:sp>
        <p:nvSpPr>
          <p:cNvPr id="2" name="TextBox 1">
            <a:extLst>
              <a:ext uri="{FF2B5EF4-FFF2-40B4-BE49-F238E27FC236}">
                <a16:creationId xmlns:a16="http://schemas.microsoft.com/office/drawing/2014/main" id="{CF195C4F-2315-4010-A603-7F12612131A4}"/>
              </a:ext>
            </a:extLst>
          </p:cNvPr>
          <p:cNvSpPr txBox="1"/>
          <p:nvPr/>
        </p:nvSpPr>
        <p:spPr>
          <a:xfrm>
            <a:off x="384291" y="996719"/>
            <a:ext cx="2365696" cy="369332"/>
          </a:xfrm>
          <a:prstGeom prst="rect">
            <a:avLst/>
          </a:prstGeom>
          <a:noFill/>
        </p:spPr>
        <p:txBody>
          <a:bodyPr wrap="square" rtlCol="0">
            <a:spAutoFit/>
          </a:bodyPr>
          <a:lstStyle/>
          <a:p>
            <a:r>
              <a:rPr lang="en-US" altLang="ko-KR" dirty="0"/>
              <a:t>Encoder: 2D-CNN</a:t>
            </a:r>
            <a:endParaRPr lang="ko-KR" altLang="en-US" dirty="0"/>
          </a:p>
        </p:txBody>
      </p:sp>
      <p:sp>
        <p:nvSpPr>
          <p:cNvPr id="3" name="직사각형 2">
            <a:extLst>
              <a:ext uri="{FF2B5EF4-FFF2-40B4-BE49-F238E27FC236}">
                <a16:creationId xmlns:a16="http://schemas.microsoft.com/office/drawing/2014/main" id="{117581AF-051A-4DE0-AB3F-A8CA2A1785B2}"/>
              </a:ext>
            </a:extLst>
          </p:cNvPr>
          <p:cNvSpPr/>
          <p:nvPr/>
        </p:nvSpPr>
        <p:spPr>
          <a:xfrm>
            <a:off x="1025975" y="3948695"/>
            <a:ext cx="7595329" cy="646331"/>
          </a:xfrm>
          <a:prstGeom prst="rect">
            <a:avLst/>
          </a:prstGeom>
        </p:spPr>
        <p:txBody>
          <a:bodyPr wrap="square">
            <a:spAutoFit/>
          </a:bodyPr>
          <a:lstStyle/>
          <a:p>
            <a:r>
              <a:rPr lang="en-US" altLang="ko-KR" dirty="0"/>
              <a:t>The encoder output is then flattened and passed to a fully connected layer which compresses the output into a 1024 dimensional feature vector</a:t>
            </a:r>
            <a:endParaRPr lang="ko-KR" altLang="en-US" dirty="0"/>
          </a:p>
        </p:txBody>
      </p:sp>
      <p:pic>
        <p:nvPicPr>
          <p:cNvPr id="9" name="그림 8">
            <a:extLst>
              <a:ext uri="{FF2B5EF4-FFF2-40B4-BE49-F238E27FC236}">
                <a16:creationId xmlns:a16="http://schemas.microsoft.com/office/drawing/2014/main" id="{D1CFB3FC-BED7-4652-82BB-EA7B7ED3A3DB}"/>
              </a:ext>
            </a:extLst>
          </p:cNvPr>
          <p:cNvPicPr>
            <a:picLocks noChangeAspect="1"/>
          </p:cNvPicPr>
          <p:nvPr/>
        </p:nvPicPr>
        <p:blipFill>
          <a:blip r:embed="rId3"/>
          <a:stretch>
            <a:fillRect/>
          </a:stretch>
        </p:blipFill>
        <p:spPr>
          <a:xfrm>
            <a:off x="1567139" y="2242555"/>
            <a:ext cx="5267325" cy="1333500"/>
          </a:xfrm>
          <a:prstGeom prst="rect">
            <a:avLst/>
          </a:prstGeom>
        </p:spPr>
      </p:pic>
    </p:spTree>
    <p:extLst>
      <p:ext uri="{BB962C8B-B14F-4D97-AF65-F5344CB8AC3E}">
        <p14:creationId xmlns:p14="http://schemas.microsoft.com/office/powerpoint/2010/main" val="1419520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2</a:t>
            </a:r>
            <a:endParaRPr lang="ko-KR" altLang="en-US" sz="3600" dirty="0"/>
          </a:p>
        </p:txBody>
      </p:sp>
      <p:sp>
        <p:nvSpPr>
          <p:cNvPr id="8" name="TextBox 7">
            <a:extLst>
              <a:ext uri="{FF2B5EF4-FFF2-40B4-BE49-F238E27FC236}">
                <a16:creationId xmlns:a16="http://schemas.microsoft.com/office/drawing/2014/main" id="{E903B4BD-CD7F-4841-B0C3-314A60F2AB84}"/>
              </a:ext>
            </a:extLst>
          </p:cNvPr>
          <p:cNvSpPr txBox="1"/>
          <p:nvPr/>
        </p:nvSpPr>
        <p:spPr>
          <a:xfrm>
            <a:off x="384291" y="970289"/>
            <a:ext cx="2365696" cy="369332"/>
          </a:xfrm>
          <a:prstGeom prst="rect">
            <a:avLst/>
          </a:prstGeom>
          <a:noFill/>
        </p:spPr>
        <p:txBody>
          <a:bodyPr wrap="square" rtlCol="0">
            <a:spAutoFit/>
          </a:bodyPr>
          <a:lstStyle/>
          <a:p>
            <a:r>
              <a:rPr lang="en-US" altLang="ko-KR" dirty="0"/>
              <a:t>3D convolutional LSTM</a:t>
            </a:r>
            <a:endParaRPr lang="ko-KR" altLang="en-US" dirty="0"/>
          </a:p>
        </p:txBody>
      </p:sp>
      <p:pic>
        <p:nvPicPr>
          <p:cNvPr id="2" name="그림 1">
            <a:extLst>
              <a:ext uri="{FF2B5EF4-FFF2-40B4-BE49-F238E27FC236}">
                <a16:creationId xmlns:a16="http://schemas.microsoft.com/office/drawing/2014/main" id="{BA2843E2-ABE5-42C5-AC8E-747881BFB942}"/>
              </a:ext>
            </a:extLst>
          </p:cNvPr>
          <p:cNvPicPr>
            <a:picLocks noChangeAspect="1"/>
          </p:cNvPicPr>
          <p:nvPr/>
        </p:nvPicPr>
        <p:blipFill>
          <a:blip r:embed="rId3"/>
          <a:stretch>
            <a:fillRect/>
          </a:stretch>
        </p:blipFill>
        <p:spPr>
          <a:xfrm>
            <a:off x="457200" y="1361001"/>
            <a:ext cx="8229600" cy="2597011"/>
          </a:xfrm>
          <a:prstGeom prst="rect">
            <a:avLst/>
          </a:prstGeom>
        </p:spPr>
      </p:pic>
      <p:sp>
        <p:nvSpPr>
          <p:cNvPr id="10" name="직사각형 9">
            <a:extLst>
              <a:ext uri="{FF2B5EF4-FFF2-40B4-BE49-F238E27FC236}">
                <a16:creationId xmlns:a16="http://schemas.microsoft.com/office/drawing/2014/main" id="{19248234-6099-48A3-8C87-7A1AB02590E4}"/>
              </a:ext>
            </a:extLst>
          </p:cNvPr>
          <p:cNvSpPr/>
          <p:nvPr/>
        </p:nvSpPr>
        <p:spPr>
          <a:xfrm>
            <a:off x="594736" y="4154003"/>
            <a:ext cx="8092064" cy="923330"/>
          </a:xfrm>
          <a:prstGeom prst="rect">
            <a:avLst/>
          </a:prstGeom>
        </p:spPr>
        <p:txBody>
          <a:bodyPr wrap="square">
            <a:spAutoFit/>
          </a:bodyPr>
          <a:lstStyle/>
          <a:p>
            <a:r>
              <a:rPr lang="en-US" altLang="ko-KR" dirty="0"/>
              <a:t>The network is made up of a set of structured LSTM units with restricted connections. The 3D-LSTM units are spatially distributed in a 3D grid structure, with each unit responsible for reconstructing a particular part of the final output </a:t>
            </a:r>
            <a:endParaRPr lang="ko-KR" altLang="en-US" dirty="0"/>
          </a:p>
        </p:txBody>
      </p:sp>
    </p:spTree>
    <p:extLst>
      <p:ext uri="{BB962C8B-B14F-4D97-AF65-F5344CB8AC3E}">
        <p14:creationId xmlns:p14="http://schemas.microsoft.com/office/powerpoint/2010/main" val="3557736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2</a:t>
            </a:r>
            <a:endParaRPr lang="ko-KR" altLang="en-US" sz="3600" dirty="0"/>
          </a:p>
        </p:txBody>
      </p:sp>
      <p:sp>
        <p:nvSpPr>
          <p:cNvPr id="8" name="TextBox 7">
            <a:extLst>
              <a:ext uri="{FF2B5EF4-FFF2-40B4-BE49-F238E27FC236}">
                <a16:creationId xmlns:a16="http://schemas.microsoft.com/office/drawing/2014/main" id="{E903B4BD-CD7F-4841-B0C3-314A60F2AB84}"/>
              </a:ext>
            </a:extLst>
          </p:cNvPr>
          <p:cNvSpPr txBox="1"/>
          <p:nvPr/>
        </p:nvSpPr>
        <p:spPr>
          <a:xfrm>
            <a:off x="384291" y="970289"/>
            <a:ext cx="2365696" cy="369332"/>
          </a:xfrm>
          <a:prstGeom prst="rect">
            <a:avLst/>
          </a:prstGeom>
          <a:noFill/>
        </p:spPr>
        <p:txBody>
          <a:bodyPr wrap="square" rtlCol="0">
            <a:spAutoFit/>
          </a:bodyPr>
          <a:lstStyle/>
          <a:p>
            <a:r>
              <a:rPr lang="en-US" altLang="ko-KR" dirty="0"/>
              <a:t>3D convolutional LSTM</a:t>
            </a:r>
            <a:endParaRPr lang="ko-KR" altLang="en-US" dirty="0"/>
          </a:p>
        </p:txBody>
      </p:sp>
      <p:pic>
        <p:nvPicPr>
          <p:cNvPr id="2" name="그림 1">
            <a:extLst>
              <a:ext uri="{FF2B5EF4-FFF2-40B4-BE49-F238E27FC236}">
                <a16:creationId xmlns:a16="http://schemas.microsoft.com/office/drawing/2014/main" id="{A8AC0665-FC60-478C-A387-D98EB3F27736}"/>
              </a:ext>
            </a:extLst>
          </p:cNvPr>
          <p:cNvPicPr>
            <a:picLocks noChangeAspect="1"/>
          </p:cNvPicPr>
          <p:nvPr/>
        </p:nvPicPr>
        <p:blipFill>
          <a:blip r:embed="rId3"/>
          <a:stretch>
            <a:fillRect/>
          </a:stretch>
        </p:blipFill>
        <p:spPr>
          <a:xfrm>
            <a:off x="384291" y="1813493"/>
            <a:ext cx="6800850" cy="1724025"/>
          </a:xfrm>
          <a:prstGeom prst="rect">
            <a:avLst/>
          </a:prstGeom>
        </p:spPr>
      </p:pic>
      <p:sp>
        <p:nvSpPr>
          <p:cNvPr id="9" name="직사각형 8">
            <a:extLst>
              <a:ext uri="{FF2B5EF4-FFF2-40B4-BE49-F238E27FC236}">
                <a16:creationId xmlns:a16="http://schemas.microsoft.com/office/drawing/2014/main" id="{6FD9413C-6896-42B1-B164-18F36C30CFE9}"/>
              </a:ext>
            </a:extLst>
          </p:cNvPr>
          <p:cNvSpPr/>
          <p:nvPr/>
        </p:nvSpPr>
        <p:spPr>
          <a:xfrm>
            <a:off x="7367336" y="1876024"/>
            <a:ext cx="671979" cy="369332"/>
          </a:xfrm>
          <a:prstGeom prst="rect">
            <a:avLst/>
          </a:prstGeom>
        </p:spPr>
        <p:txBody>
          <a:bodyPr wrap="none">
            <a:spAutoFit/>
          </a:bodyPr>
          <a:lstStyle/>
          <a:p>
            <a:r>
              <a:rPr lang="en-US" altLang="ko-KR" dirty="0"/>
              <a:t>N = 4</a:t>
            </a:r>
            <a:endParaRPr lang="ko-KR" altLang="en-US" dirty="0"/>
          </a:p>
        </p:txBody>
      </p:sp>
      <p:sp>
        <p:nvSpPr>
          <p:cNvPr id="12" name="직사각형 11">
            <a:extLst>
              <a:ext uri="{FF2B5EF4-FFF2-40B4-BE49-F238E27FC236}">
                <a16:creationId xmlns:a16="http://schemas.microsoft.com/office/drawing/2014/main" id="{D7ED1A96-0EC8-4EA4-B850-7E422BD8C6E8}"/>
              </a:ext>
            </a:extLst>
          </p:cNvPr>
          <p:cNvSpPr/>
          <p:nvPr/>
        </p:nvSpPr>
        <p:spPr>
          <a:xfrm>
            <a:off x="384291" y="4102818"/>
            <a:ext cx="8302509" cy="923330"/>
          </a:xfrm>
          <a:prstGeom prst="rect">
            <a:avLst/>
          </a:prstGeom>
        </p:spPr>
        <p:txBody>
          <a:bodyPr wrap="square">
            <a:spAutoFit/>
          </a:bodyPr>
          <a:lstStyle/>
          <a:p>
            <a:r>
              <a:rPr lang="en-US" altLang="ko-KR" dirty="0"/>
              <a:t>For vanilla LSTMs, all elements in the hidden layer ht−1 affect the current hidden state </a:t>
            </a:r>
            <a:r>
              <a:rPr lang="en-US" altLang="ko-KR" dirty="0" err="1"/>
              <a:t>ht</a:t>
            </a:r>
            <a:r>
              <a:rPr lang="en-US" altLang="ko-KR" dirty="0"/>
              <a:t>, whereas a spatially structured 3D Convolutional LSTM only allows its hidden states </a:t>
            </a:r>
            <a:r>
              <a:rPr lang="en-US" altLang="ko-KR" dirty="0" err="1"/>
              <a:t>ht</a:t>
            </a:r>
            <a:r>
              <a:rPr lang="en-US" altLang="ko-KR" dirty="0"/>
              <a:t>,(</a:t>
            </a:r>
            <a:r>
              <a:rPr lang="en-US" altLang="ko-KR" dirty="0" err="1"/>
              <a:t>i,j,k</a:t>
            </a:r>
            <a:r>
              <a:rPr lang="en-US" altLang="ko-KR" dirty="0"/>
              <a:t>) to be affected by its neighboring 3D-LSTM units for all </a:t>
            </a:r>
            <a:r>
              <a:rPr lang="en-US" altLang="ko-KR" dirty="0" err="1"/>
              <a:t>i</a:t>
            </a:r>
            <a:r>
              <a:rPr lang="en-US" altLang="ko-KR" dirty="0"/>
              <a:t>, j, and k.</a:t>
            </a:r>
            <a:endParaRPr lang="ko-KR" altLang="en-US" dirty="0"/>
          </a:p>
        </p:txBody>
      </p:sp>
    </p:spTree>
    <p:extLst>
      <p:ext uri="{BB962C8B-B14F-4D97-AF65-F5344CB8AC3E}">
        <p14:creationId xmlns:p14="http://schemas.microsoft.com/office/powerpoint/2010/main" val="1327530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1"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2</a:t>
            </a:r>
            <a:endParaRPr lang="ko-KR" altLang="en-US" sz="3600" dirty="0"/>
          </a:p>
        </p:txBody>
      </p:sp>
      <p:sp>
        <p:nvSpPr>
          <p:cNvPr id="8" name="TextBox 7">
            <a:extLst>
              <a:ext uri="{FF2B5EF4-FFF2-40B4-BE49-F238E27FC236}">
                <a16:creationId xmlns:a16="http://schemas.microsoft.com/office/drawing/2014/main" id="{E903B4BD-CD7F-4841-B0C3-314A60F2AB84}"/>
              </a:ext>
            </a:extLst>
          </p:cNvPr>
          <p:cNvSpPr txBox="1"/>
          <p:nvPr/>
        </p:nvSpPr>
        <p:spPr>
          <a:xfrm>
            <a:off x="384291" y="970289"/>
            <a:ext cx="2365696" cy="369332"/>
          </a:xfrm>
          <a:prstGeom prst="rect">
            <a:avLst/>
          </a:prstGeom>
          <a:noFill/>
        </p:spPr>
        <p:txBody>
          <a:bodyPr wrap="square" rtlCol="0">
            <a:spAutoFit/>
          </a:bodyPr>
          <a:lstStyle/>
          <a:p>
            <a:r>
              <a:rPr lang="en-US" altLang="ko-KR" dirty="0"/>
              <a:t>3D convolutional LSTM</a:t>
            </a:r>
            <a:endParaRPr lang="ko-KR" altLang="en-US" dirty="0"/>
          </a:p>
        </p:txBody>
      </p:sp>
      <p:pic>
        <p:nvPicPr>
          <p:cNvPr id="10" name="그림 9">
            <a:extLst>
              <a:ext uri="{FF2B5EF4-FFF2-40B4-BE49-F238E27FC236}">
                <a16:creationId xmlns:a16="http://schemas.microsoft.com/office/drawing/2014/main" id="{8910E80B-2FD0-4EBB-A6DF-FAA4E51EB967}"/>
              </a:ext>
            </a:extLst>
          </p:cNvPr>
          <p:cNvPicPr>
            <a:picLocks noChangeAspect="1"/>
          </p:cNvPicPr>
          <p:nvPr/>
        </p:nvPicPr>
        <p:blipFill>
          <a:blip r:embed="rId3"/>
          <a:stretch>
            <a:fillRect/>
          </a:stretch>
        </p:blipFill>
        <p:spPr>
          <a:xfrm>
            <a:off x="490537" y="1799221"/>
            <a:ext cx="8162925" cy="1390650"/>
          </a:xfrm>
          <a:prstGeom prst="rect">
            <a:avLst/>
          </a:prstGeom>
        </p:spPr>
      </p:pic>
      <p:sp>
        <p:nvSpPr>
          <p:cNvPr id="11" name="직사각형 10">
            <a:extLst>
              <a:ext uri="{FF2B5EF4-FFF2-40B4-BE49-F238E27FC236}">
                <a16:creationId xmlns:a16="http://schemas.microsoft.com/office/drawing/2014/main" id="{822737B1-5E69-45EE-B2FB-B35425C34A25}"/>
              </a:ext>
            </a:extLst>
          </p:cNvPr>
          <p:cNvSpPr/>
          <p:nvPr/>
        </p:nvSpPr>
        <p:spPr>
          <a:xfrm>
            <a:off x="384291" y="3344335"/>
            <a:ext cx="4572000" cy="369332"/>
          </a:xfrm>
          <a:prstGeom prst="rect">
            <a:avLst/>
          </a:prstGeom>
        </p:spPr>
        <p:txBody>
          <a:bodyPr>
            <a:spAutoFit/>
          </a:bodyPr>
          <a:lstStyle/>
          <a:p>
            <a:r>
              <a:rPr lang="en-US" altLang="ko-KR" dirty="0"/>
              <a:t>GRU based</a:t>
            </a:r>
            <a:endParaRPr lang="ko-KR" altLang="en-US" dirty="0"/>
          </a:p>
        </p:txBody>
      </p:sp>
    </p:spTree>
    <p:extLst>
      <p:ext uri="{BB962C8B-B14F-4D97-AF65-F5344CB8AC3E}">
        <p14:creationId xmlns:p14="http://schemas.microsoft.com/office/powerpoint/2010/main" val="2457931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2</a:t>
            </a:r>
            <a:endParaRPr lang="ko-KR" altLang="en-US" sz="3600" dirty="0"/>
          </a:p>
        </p:txBody>
      </p:sp>
      <p:sp>
        <p:nvSpPr>
          <p:cNvPr id="8" name="TextBox 7">
            <a:extLst>
              <a:ext uri="{FF2B5EF4-FFF2-40B4-BE49-F238E27FC236}">
                <a16:creationId xmlns:a16="http://schemas.microsoft.com/office/drawing/2014/main" id="{4EB2DA5E-B413-4217-94D9-69C31C11CED2}"/>
              </a:ext>
            </a:extLst>
          </p:cNvPr>
          <p:cNvSpPr txBox="1"/>
          <p:nvPr/>
        </p:nvSpPr>
        <p:spPr>
          <a:xfrm>
            <a:off x="384291" y="970289"/>
            <a:ext cx="2365696" cy="369332"/>
          </a:xfrm>
          <a:prstGeom prst="rect">
            <a:avLst/>
          </a:prstGeom>
          <a:noFill/>
        </p:spPr>
        <p:txBody>
          <a:bodyPr wrap="square" rtlCol="0">
            <a:spAutoFit/>
          </a:bodyPr>
          <a:lstStyle/>
          <a:p>
            <a:r>
              <a:rPr lang="en-US" altLang="ko-KR" dirty="0"/>
              <a:t>Decoder</a:t>
            </a:r>
            <a:endParaRPr lang="ko-KR" altLang="en-US" dirty="0"/>
          </a:p>
        </p:txBody>
      </p:sp>
      <p:pic>
        <p:nvPicPr>
          <p:cNvPr id="2" name="그림 1">
            <a:extLst>
              <a:ext uri="{FF2B5EF4-FFF2-40B4-BE49-F238E27FC236}">
                <a16:creationId xmlns:a16="http://schemas.microsoft.com/office/drawing/2014/main" id="{ADBE370A-CA6C-417D-8903-4C25D773C74F}"/>
              </a:ext>
            </a:extLst>
          </p:cNvPr>
          <p:cNvPicPr>
            <a:picLocks noChangeAspect="1"/>
          </p:cNvPicPr>
          <p:nvPr/>
        </p:nvPicPr>
        <p:blipFill>
          <a:blip r:embed="rId3"/>
          <a:stretch>
            <a:fillRect/>
          </a:stretch>
        </p:blipFill>
        <p:spPr>
          <a:xfrm>
            <a:off x="778042" y="1948192"/>
            <a:ext cx="7411440" cy="2242260"/>
          </a:xfrm>
          <a:prstGeom prst="rect">
            <a:avLst/>
          </a:prstGeom>
        </p:spPr>
      </p:pic>
    </p:spTree>
    <p:extLst>
      <p:ext uri="{BB962C8B-B14F-4D97-AF65-F5344CB8AC3E}">
        <p14:creationId xmlns:p14="http://schemas.microsoft.com/office/powerpoint/2010/main" val="1725337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2</a:t>
            </a:r>
            <a:endParaRPr lang="ko-KR" altLang="en-US" sz="3600" dirty="0"/>
          </a:p>
        </p:txBody>
      </p:sp>
      <p:sp>
        <p:nvSpPr>
          <p:cNvPr id="8" name="TextBox 7">
            <a:extLst>
              <a:ext uri="{FF2B5EF4-FFF2-40B4-BE49-F238E27FC236}">
                <a16:creationId xmlns:a16="http://schemas.microsoft.com/office/drawing/2014/main" id="{4EB2DA5E-B413-4217-94D9-69C31C11CED2}"/>
              </a:ext>
            </a:extLst>
          </p:cNvPr>
          <p:cNvSpPr txBox="1"/>
          <p:nvPr/>
        </p:nvSpPr>
        <p:spPr>
          <a:xfrm>
            <a:off x="384290" y="970289"/>
            <a:ext cx="3115427" cy="369332"/>
          </a:xfrm>
          <a:prstGeom prst="rect">
            <a:avLst/>
          </a:prstGeom>
          <a:noFill/>
        </p:spPr>
        <p:txBody>
          <a:bodyPr wrap="square" rtlCol="0">
            <a:spAutoFit/>
          </a:bodyPr>
          <a:lstStyle/>
          <a:p>
            <a:r>
              <a:rPr lang="en-US" altLang="ko-KR" dirty="0"/>
              <a:t>Loss: 3D Voxel-wise </a:t>
            </a:r>
            <a:r>
              <a:rPr lang="en-US" altLang="ko-KR" dirty="0" err="1"/>
              <a:t>Softmax</a:t>
            </a:r>
            <a:r>
              <a:rPr lang="en-US" altLang="ko-KR" dirty="0"/>
              <a:t> </a:t>
            </a:r>
            <a:endParaRPr lang="ko-KR" altLang="en-US" dirty="0"/>
          </a:p>
        </p:txBody>
      </p:sp>
      <p:pic>
        <p:nvPicPr>
          <p:cNvPr id="2" name="그림 1">
            <a:extLst>
              <a:ext uri="{FF2B5EF4-FFF2-40B4-BE49-F238E27FC236}">
                <a16:creationId xmlns:a16="http://schemas.microsoft.com/office/drawing/2014/main" id="{968C8394-E6FB-477D-9D8B-B27829CABBD0}"/>
              </a:ext>
            </a:extLst>
          </p:cNvPr>
          <p:cNvPicPr>
            <a:picLocks noChangeAspect="1"/>
          </p:cNvPicPr>
          <p:nvPr/>
        </p:nvPicPr>
        <p:blipFill>
          <a:blip r:embed="rId3"/>
          <a:stretch>
            <a:fillRect/>
          </a:stretch>
        </p:blipFill>
        <p:spPr>
          <a:xfrm>
            <a:off x="592137" y="2190856"/>
            <a:ext cx="7553325" cy="904875"/>
          </a:xfrm>
          <a:prstGeom prst="rect">
            <a:avLst/>
          </a:prstGeom>
        </p:spPr>
      </p:pic>
      <p:sp>
        <p:nvSpPr>
          <p:cNvPr id="3" name="직사각형 2">
            <a:extLst>
              <a:ext uri="{FF2B5EF4-FFF2-40B4-BE49-F238E27FC236}">
                <a16:creationId xmlns:a16="http://schemas.microsoft.com/office/drawing/2014/main" id="{0978F57A-5840-491C-B844-7B3407050E09}"/>
              </a:ext>
            </a:extLst>
          </p:cNvPr>
          <p:cNvSpPr/>
          <p:nvPr/>
        </p:nvSpPr>
        <p:spPr>
          <a:xfrm>
            <a:off x="536140" y="3459562"/>
            <a:ext cx="8449977" cy="369332"/>
          </a:xfrm>
          <a:prstGeom prst="rect">
            <a:avLst/>
          </a:prstGeom>
        </p:spPr>
        <p:txBody>
          <a:bodyPr wrap="square">
            <a:spAutoFit/>
          </a:bodyPr>
          <a:lstStyle/>
          <a:p>
            <a:r>
              <a:rPr lang="en-US" altLang="ko-KR" dirty="0"/>
              <a:t>The loss function of the network is defined as the sum of voxel-wise cross-entropy</a:t>
            </a:r>
            <a:endParaRPr lang="ko-KR" altLang="en-US" dirty="0"/>
          </a:p>
        </p:txBody>
      </p:sp>
    </p:spTree>
    <p:extLst>
      <p:ext uri="{BB962C8B-B14F-4D97-AF65-F5344CB8AC3E}">
        <p14:creationId xmlns:p14="http://schemas.microsoft.com/office/powerpoint/2010/main" val="2972332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3</a:t>
            </a:r>
            <a:endParaRPr lang="ko-KR" altLang="en-US" sz="3600" dirty="0"/>
          </a:p>
        </p:txBody>
      </p:sp>
      <p:pic>
        <p:nvPicPr>
          <p:cNvPr id="3" name="그림 2">
            <a:extLst>
              <a:ext uri="{FF2B5EF4-FFF2-40B4-BE49-F238E27FC236}">
                <a16:creationId xmlns:a16="http://schemas.microsoft.com/office/drawing/2014/main" id="{0587FEDF-90DC-4F1F-9ABB-F9C770D1EC7A}"/>
              </a:ext>
            </a:extLst>
          </p:cNvPr>
          <p:cNvPicPr>
            <a:picLocks noChangeAspect="1"/>
          </p:cNvPicPr>
          <p:nvPr/>
        </p:nvPicPr>
        <p:blipFill>
          <a:blip r:embed="rId3"/>
          <a:stretch>
            <a:fillRect/>
          </a:stretch>
        </p:blipFill>
        <p:spPr>
          <a:xfrm>
            <a:off x="1297592" y="1074788"/>
            <a:ext cx="6548815" cy="4451903"/>
          </a:xfrm>
          <a:prstGeom prst="rect">
            <a:avLst/>
          </a:prstGeom>
        </p:spPr>
      </p:pic>
      <p:sp>
        <p:nvSpPr>
          <p:cNvPr id="10" name="직사각형 9">
            <a:extLst>
              <a:ext uri="{FF2B5EF4-FFF2-40B4-BE49-F238E27FC236}">
                <a16:creationId xmlns:a16="http://schemas.microsoft.com/office/drawing/2014/main" id="{BA71D6B0-CC7F-4600-BCDD-D6643889F043}"/>
              </a:ext>
            </a:extLst>
          </p:cNvPr>
          <p:cNvSpPr/>
          <p:nvPr/>
        </p:nvSpPr>
        <p:spPr>
          <a:xfrm>
            <a:off x="1585542" y="5595360"/>
            <a:ext cx="6548815" cy="646331"/>
          </a:xfrm>
          <a:prstGeom prst="rect">
            <a:avLst/>
          </a:prstGeom>
        </p:spPr>
        <p:txBody>
          <a:bodyPr wrap="square">
            <a:spAutoFit/>
          </a:bodyPr>
          <a:lstStyle/>
          <a:p>
            <a:r>
              <a:rPr lang="en-US" altLang="ko-KR" dirty="0"/>
              <a:t>The input image size was set to 127 × 127. The output </a:t>
            </a:r>
            <a:r>
              <a:rPr lang="en-US" altLang="ko-KR" dirty="0" err="1"/>
              <a:t>voxelized</a:t>
            </a:r>
            <a:r>
              <a:rPr lang="en-US" altLang="ko-KR" dirty="0"/>
              <a:t> reconstruction was of size 32 × 32 × 32</a:t>
            </a:r>
            <a:endParaRPr lang="ko-KR" altLang="en-US" dirty="0"/>
          </a:p>
        </p:txBody>
      </p:sp>
      <p:sp>
        <p:nvSpPr>
          <p:cNvPr id="11" name="직사각형 10">
            <a:extLst>
              <a:ext uri="{FF2B5EF4-FFF2-40B4-BE49-F238E27FC236}">
                <a16:creationId xmlns:a16="http://schemas.microsoft.com/office/drawing/2014/main" id="{0BDA0BF7-1105-4775-899A-861A9734C31F}"/>
              </a:ext>
            </a:extLst>
          </p:cNvPr>
          <p:cNvSpPr/>
          <p:nvPr/>
        </p:nvSpPr>
        <p:spPr>
          <a:xfrm>
            <a:off x="3221311" y="540255"/>
            <a:ext cx="6548815" cy="369332"/>
          </a:xfrm>
          <a:prstGeom prst="rect">
            <a:avLst/>
          </a:prstGeom>
        </p:spPr>
        <p:txBody>
          <a:bodyPr wrap="square">
            <a:spAutoFit/>
          </a:bodyPr>
          <a:lstStyle/>
          <a:p>
            <a:r>
              <a:rPr lang="en-US" altLang="ko-KR" dirty="0"/>
              <a:t>Single view reconstruction</a:t>
            </a:r>
            <a:endParaRPr lang="ko-KR" altLang="en-US" dirty="0"/>
          </a:p>
        </p:txBody>
      </p:sp>
    </p:spTree>
    <p:extLst>
      <p:ext uri="{BB962C8B-B14F-4D97-AF65-F5344CB8AC3E}">
        <p14:creationId xmlns:p14="http://schemas.microsoft.com/office/powerpoint/2010/main" val="2777039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3</a:t>
            </a:r>
            <a:endParaRPr lang="ko-KR" altLang="en-US" sz="3600" dirty="0"/>
          </a:p>
        </p:txBody>
      </p:sp>
      <p:sp>
        <p:nvSpPr>
          <p:cNvPr id="2" name="직사각형 1">
            <a:extLst>
              <a:ext uri="{FF2B5EF4-FFF2-40B4-BE49-F238E27FC236}">
                <a16:creationId xmlns:a16="http://schemas.microsoft.com/office/drawing/2014/main" id="{DE543B13-E24F-4E10-A366-55C1377D8B47}"/>
              </a:ext>
            </a:extLst>
          </p:cNvPr>
          <p:cNvSpPr/>
          <p:nvPr/>
        </p:nvSpPr>
        <p:spPr>
          <a:xfrm>
            <a:off x="384291" y="1076800"/>
            <a:ext cx="1850227" cy="369332"/>
          </a:xfrm>
          <a:prstGeom prst="rect">
            <a:avLst/>
          </a:prstGeom>
        </p:spPr>
        <p:txBody>
          <a:bodyPr wrap="square">
            <a:spAutoFit/>
          </a:bodyPr>
          <a:lstStyle/>
          <a:p>
            <a:r>
              <a:rPr lang="en-US" altLang="ko-KR" dirty="0"/>
              <a:t>Experiment</a:t>
            </a:r>
            <a:endParaRPr lang="ko-KR" altLang="en-US" dirty="0"/>
          </a:p>
        </p:txBody>
      </p:sp>
      <p:pic>
        <p:nvPicPr>
          <p:cNvPr id="3" name="그림 2">
            <a:extLst>
              <a:ext uri="{FF2B5EF4-FFF2-40B4-BE49-F238E27FC236}">
                <a16:creationId xmlns:a16="http://schemas.microsoft.com/office/drawing/2014/main" id="{6676A49E-FBA1-44AC-AE66-AB9D11CA6809}"/>
              </a:ext>
            </a:extLst>
          </p:cNvPr>
          <p:cNvPicPr>
            <a:picLocks noChangeAspect="1"/>
          </p:cNvPicPr>
          <p:nvPr/>
        </p:nvPicPr>
        <p:blipFill>
          <a:blip r:embed="rId3"/>
          <a:stretch>
            <a:fillRect/>
          </a:stretch>
        </p:blipFill>
        <p:spPr>
          <a:xfrm>
            <a:off x="384291" y="3525643"/>
            <a:ext cx="5210175" cy="1409700"/>
          </a:xfrm>
          <a:prstGeom prst="rect">
            <a:avLst/>
          </a:prstGeom>
        </p:spPr>
      </p:pic>
      <p:pic>
        <p:nvPicPr>
          <p:cNvPr id="8" name="그림 7">
            <a:extLst>
              <a:ext uri="{FF2B5EF4-FFF2-40B4-BE49-F238E27FC236}">
                <a16:creationId xmlns:a16="http://schemas.microsoft.com/office/drawing/2014/main" id="{EEF58B91-0E25-4ACC-AB47-D5272281D4C0}"/>
              </a:ext>
            </a:extLst>
          </p:cNvPr>
          <p:cNvPicPr>
            <a:picLocks noChangeAspect="1"/>
          </p:cNvPicPr>
          <p:nvPr/>
        </p:nvPicPr>
        <p:blipFill>
          <a:blip r:embed="rId4"/>
          <a:stretch>
            <a:fillRect/>
          </a:stretch>
        </p:blipFill>
        <p:spPr>
          <a:xfrm>
            <a:off x="384291" y="1813493"/>
            <a:ext cx="8601075" cy="1076325"/>
          </a:xfrm>
          <a:prstGeom prst="rect">
            <a:avLst/>
          </a:prstGeom>
        </p:spPr>
      </p:pic>
      <p:sp>
        <p:nvSpPr>
          <p:cNvPr id="9" name="TextBox 8">
            <a:extLst>
              <a:ext uri="{FF2B5EF4-FFF2-40B4-BE49-F238E27FC236}">
                <a16:creationId xmlns:a16="http://schemas.microsoft.com/office/drawing/2014/main" id="{6662885E-2BDE-490E-8496-AF2200C2298B}"/>
              </a:ext>
            </a:extLst>
          </p:cNvPr>
          <p:cNvSpPr txBox="1"/>
          <p:nvPr/>
        </p:nvSpPr>
        <p:spPr>
          <a:xfrm>
            <a:off x="3746376" y="2949972"/>
            <a:ext cx="2823099" cy="369332"/>
          </a:xfrm>
          <a:prstGeom prst="rect">
            <a:avLst/>
          </a:prstGeom>
          <a:noFill/>
        </p:spPr>
        <p:txBody>
          <a:bodyPr wrap="square" rtlCol="0">
            <a:spAutoFit/>
          </a:bodyPr>
          <a:lstStyle/>
          <a:p>
            <a:r>
              <a:rPr lang="en-US" altLang="ko-KR" dirty="0"/>
              <a:t>Single View</a:t>
            </a:r>
            <a:endParaRPr lang="ko-KR" altLang="en-US" dirty="0"/>
          </a:p>
        </p:txBody>
      </p:sp>
      <p:pic>
        <p:nvPicPr>
          <p:cNvPr id="10" name="그림 9">
            <a:extLst>
              <a:ext uri="{FF2B5EF4-FFF2-40B4-BE49-F238E27FC236}">
                <a16:creationId xmlns:a16="http://schemas.microsoft.com/office/drawing/2014/main" id="{C9D819BB-57F3-4162-9C18-ADB6B9E74717}"/>
              </a:ext>
            </a:extLst>
          </p:cNvPr>
          <p:cNvPicPr>
            <a:picLocks noChangeAspect="1"/>
          </p:cNvPicPr>
          <p:nvPr/>
        </p:nvPicPr>
        <p:blipFill>
          <a:blip r:embed="rId5"/>
          <a:stretch>
            <a:fillRect/>
          </a:stretch>
        </p:blipFill>
        <p:spPr>
          <a:xfrm>
            <a:off x="384291" y="5242555"/>
            <a:ext cx="7667625" cy="657225"/>
          </a:xfrm>
          <a:prstGeom prst="rect">
            <a:avLst/>
          </a:prstGeom>
        </p:spPr>
      </p:pic>
    </p:spTree>
    <p:extLst>
      <p:ext uri="{BB962C8B-B14F-4D97-AF65-F5344CB8AC3E}">
        <p14:creationId xmlns:p14="http://schemas.microsoft.com/office/powerpoint/2010/main" val="3270566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t>Intersection-over-Union (IoU)</a:t>
            </a: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3</a:t>
            </a:r>
            <a:endParaRPr lang="ko-KR" altLang="en-US" sz="3600" dirty="0"/>
          </a:p>
        </p:txBody>
      </p:sp>
      <p:pic>
        <p:nvPicPr>
          <p:cNvPr id="3" name="그림 2">
            <a:extLst>
              <a:ext uri="{FF2B5EF4-FFF2-40B4-BE49-F238E27FC236}">
                <a16:creationId xmlns:a16="http://schemas.microsoft.com/office/drawing/2014/main" id="{B8C45F2D-2598-4E71-80D0-B5224AF28BCA}"/>
              </a:ext>
            </a:extLst>
          </p:cNvPr>
          <p:cNvPicPr>
            <a:picLocks noChangeAspect="1"/>
          </p:cNvPicPr>
          <p:nvPr/>
        </p:nvPicPr>
        <p:blipFill>
          <a:blip r:embed="rId3"/>
          <a:stretch>
            <a:fillRect/>
          </a:stretch>
        </p:blipFill>
        <p:spPr>
          <a:xfrm>
            <a:off x="334854" y="1360737"/>
            <a:ext cx="7921379" cy="4252621"/>
          </a:xfrm>
          <a:prstGeom prst="rect">
            <a:avLst/>
          </a:prstGeom>
        </p:spPr>
      </p:pic>
    </p:spTree>
    <p:extLst>
      <p:ext uri="{BB962C8B-B14F-4D97-AF65-F5344CB8AC3E}">
        <p14:creationId xmlns:p14="http://schemas.microsoft.com/office/powerpoint/2010/main" val="3771462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sp>
        <p:nvSpPr>
          <p:cNvPr id="7" name="제목 1"/>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endParaRPr kumimoji="0" lang="ko-KR" altLang="en-US" sz="3000" b="1" i="0" u="none" strike="noStrike" kern="1200" cap="none" spc="0" normalizeH="0" baseline="0" noProof="0" dirty="0">
              <a:ln>
                <a:solidFill>
                  <a:schemeClr val="bg1">
                    <a:alpha val="0"/>
                  </a:schemeClr>
                </a:solidFill>
              </a:ln>
              <a:solidFill>
                <a:schemeClr val="tx1">
                  <a:lumMod val="75000"/>
                  <a:lumOff val="25000"/>
                </a:schemeClr>
              </a:solidFill>
              <a:effectLst/>
              <a:uLnTx/>
              <a:uFillTx/>
              <a:latin typeface="나눔바른고딕" panose="020B0603020101020101" pitchFamily="50" charset="-127"/>
              <a:ea typeface="나눔바른고딕" panose="020B0603020101020101" pitchFamily="50" charset="-127"/>
              <a:cs typeface="+mj-cs"/>
            </a:endParaRPr>
          </a:p>
        </p:txBody>
      </p:sp>
      <p:sp>
        <p:nvSpPr>
          <p:cNvPr id="22" name="자유형 21"/>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바른고딕" panose="020B0603020101020101" pitchFamily="50" charset="-127"/>
              <a:ea typeface="나눔바른고딕" panose="020B0603020101020101" pitchFamily="50" charset="-127"/>
            </a:endParaRPr>
          </a:p>
        </p:txBody>
      </p:sp>
      <p:cxnSp>
        <p:nvCxnSpPr>
          <p:cNvPr id="23" name="구부러진 연결선 23"/>
          <p:cNvCxnSpPr>
            <a:cxnSpLocks/>
          </p:cNvCxnSpPr>
          <p:nvPr/>
        </p:nvCxnSpPr>
        <p:spPr>
          <a:xfrm>
            <a:off x="384291" y="906746"/>
            <a:ext cx="641684" cy="0"/>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C518B5E-D133-4DBC-B22C-EE542CBA3AB0}"/>
              </a:ext>
            </a:extLst>
          </p:cNvPr>
          <p:cNvSpPr txBox="1"/>
          <p:nvPr/>
        </p:nvSpPr>
        <p:spPr>
          <a:xfrm>
            <a:off x="457200" y="246144"/>
            <a:ext cx="641684" cy="646331"/>
          </a:xfrm>
          <a:prstGeom prst="rect">
            <a:avLst/>
          </a:prstGeom>
          <a:noFill/>
        </p:spPr>
        <p:txBody>
          <a:bodyPr wrap="square" rtlCol="0">
            <a:spAutoFit/>
          </a:bodyPr>
          <a:lstStyle/>
          <a:p>
            <a:r>
              <a:rPr lang="en-US" altLang="ko-KR" sz="3600" dirty="0"/>
              <a:t>3</a:t>
            </a:r>
            <a:endParaRPr lang="ko-KR" altLang="en-US" sz="3600" dirty="0"/>
          </a:p>
        </p:txBody>
      </p:sp>
      <p:sp>
        <p:nvSpPr>
          <p:cNvPr id="2" name="직사각형 1">
            <a:extLst>
              <a:ext uri="{FF2B5EF4-FFF2-40B4-BE49-F238E27FC236}">
                <a16:creationId xmlns:a16="http://schemas.microsoft.com/office/drawing/2014/main" id="{DE543B13-E24F-4E10-A366-55C1377D8B47}"/>
              </a:ext>
            </a:extLst>
          </p:cNvPr>
          <p:cNvSpPr/>
          <p:nvPr/>
        </p:nvSpPr>
        <p:spPr>
          <a:xfrm>
            <a:off x="778042" y="3056872"/>
            <a:ext cx="6739588" cy="1200329"/>
          </a:xfrm>
          <a:prstGeom prst="rect">
            <a:avLst/>
          </a:prstGeom>
        </p:spPr>
        <p:txBody>
          <a:bodyPr wrap="square">
            <a:spAutoFit/>
          </a:bodyPr>
          <a:lstStyle/>
          <a:p>
            <a:r>
              <a:rPr lang="en-US" altLang="ko-KR" dirty="0"/>
              <a:t>First, we do not need to train and test per-category. Our network 3D-R2N2 11 trains and reconstructs without knowing the object category. Second, our network does not require object segmentation masks and </a:t>
            </a:r>
            <a:r>
              <a:rPr lang="en-US" altLang="ko-KR" dirty="0" err="1"/>
              <a:t>keypoint</a:t>
            </a:r>
            <a:r>
              <a:rPr lang="en-US" altLang="ko-KR" dirty="0"/>
              <a:t> labels as additional inputs</a:t>
            </a:r>
            <a:endParaRPr lang="ko-KR" altLang="en-US" dirty="0"/>
          </a:p>
        </p:txBody>
      </p:sp>
      <p:sp>
        <p:nvSpPr>
          <p:cNvPr id="3" name="직사각형 2">
            <a:extLst>
              <a:ext uri="{FF2B5EF4-FFF2-40B4-BE49-F238E27FC236}">
                <a16:creationId xmlns:a16="http://schemas.microsoft.com/office/drawing/2014/main" id="{37DEF259-0F6D-440D-801C-93A0F00002E7}"/>
              </a:ext>
            </a:extLst>
          </p:cNvPr>
          <p:cNvSpPr/>
          <p:nvPr/>
        </p:nvSpPr>
        <p:spPr>
          <a:xfrm>
            <a:off x="785818" y="1576909"/>
            <a:ext cx="6902244" cy="1200329"/>
          </a:xfrm>
          <a:prstGeom prst="rect">
            <a:avLst/>
          </a:prstGeom>
        </p:spPr>
        <p:txBody>
          <a:bodyPr wrap="square">
            <a:spAutoFit/>
          </a:bodyPr>
          <a:lstStyle/>
          <a:p>
            <a:r>
              <a:rPr lang="en-US" altLang="ko-KR" dirty="0"/>
              <a:t>First, our method could not reconstruct as many details as the MVS method did when given more than 30 different views of the model. Second, our method performed worse in reconstructing objects with high texture levels. </a:t>
            </a:r>
            <a:endParaRPr lang="ko-KR" altLang="en-US" dirty="0"/>
          </a:p>
        </p:txBody>
      </p:sp>
    </p:spTree>
    <p:extLst>
      <p:ext uri="{BB962C8B-B14F-4D97-AF65-F5344CB8AC3E}">
        <p14:creationId xmlns:p14="http://schemas.microsoft.com/office/powerpoint/2010/main" val="2272247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0"/>
            <a:ext cx="9144000" cy="6858000"/>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자유형 4"/>
          <p:cNvSpPr/>
          <p:nvPr/>
        </p:nvSpPr>
        <p:spPr>
          <a:xfrm>
            <a:off x="-71470"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제목 1"/>
          <p:cNvSpPr txBox="1">
            <a:spLocks/>
          </p:cNvSpPr>
          <p:nvPr/>
        </p:nvSpPr>
        <p:spPr>
          <a:xfrm>
            <a:off x="3066502" y="2177681"/>
            <a:ext cx="5243522" cy="1385896"/>
          </a:xfrm>
          <a:prstGeom prst="rect">
            <a:avLst/>
          </a:prstGeom>
        </p:spPr>
        <p:txBody>
          <a:bodyPr vert="horz" lIns="91440" tIns="45720" rIns="91440" bIns="45720" rtlCol="0" anchor="ctr">
            <a:noAutofit/>
          </a:bodyPr>
          <a:lstStyle/>
          <a:p>
            <a:pPr marL="0" marR="0" lvl="0" indent="0" algn="r" defTabSz="914400" rtl="0" eaLnBrk="1" fontAlgn="auto" latinLnBrk="1" hangingPunct="1">
              <a:lnSpc>
                <a:spcPct val="100000"/>
              </a:lnSpc>
              <a:spcBef>
                <a:spcPct val="0"/>
              </a:spcBef>
              <a:spcAft>
                <a:spcPts val="0"/>
              </a:spcAft>
              <a:buClrTx/>
              <a:buSzTx/>
              <a:buFontTx/>
              <a:buNone/>
              <a:tabLst/>
              <a:defRPr/>
            </a:pPr>
            <a:r>
              <a:rPr kumimoji="0" lang="en-US" altLang="ko-KR" sz="5400" b="0" i="0" u="none" strike="noStrike" kern="1200" cap="none" spc="0" normalizeH="0" baseline="0" noProof="0" dirty="0">
                <a:ln>
                  <a:noFill/>
                </a:ln>
                <a:solidFill>
                  <a:schemeClr val="tx1"/>
                </a:solidFill>
                <a:effectLst/>
                <a:uLnTx/>
                <a:uFillTx/>
                <a:latin typeface="Arial Black" panose="020B0A04020102020204" pitchFamily="34" charset="0"/>
                <a:ea typeface="Sandoll 너랑나랑 03 Bold" pitchFamily="34" charset="-127"/>
                <a:cs typeface="+mj-cs"/>
              </a:rPr>
              <a:t>Thank you</a:t>
            </a:r>
            <a:endParaRPr kumimoji="0" lang="ko-KR" altLang="en-US" sz="5400" b="0" i="0" u="none" strike="noStrike" kern="1200" cap="none" spc="0" normalizeH="0" baseline="0" noProof="0" dirty="0">
              <a:ln>
                <a:noFill/>
              </a:ln>
              <a:solidFill>
                <a:schemeClr val="tx1"/>
              </a:solidFill>
              <a:effectLst/>
              <a:uLnTx/>
              <a:uFillTx/>
              <a:latin typeface="Arial Black" panose="020B0A04020102020204" pitchFamily="34" charset="0"/>
              <a:ea typeface="Sandoll 너랑나랑 03 Bold" pitchFamily="34" charset="-127"/>
              <a:cs typeface="+mj-cs"/>
            </a:endParaRPr>
          </a:p>
        </p:txBody>
      </p:sp>
      <p:cxnSp>
        <p:nvCxnSpPr>
          <p:cNvPr id="11" name="구부러진 연결선 23"/>
          <p:cNvCxnSpPr/>
          <p:nvPr/>
        </p:nvCxnSpPr>
        <p:spPr>
          <a:xfrm>
            <a:off x="3357554" y="2143116"/>
            <a:ext cx="5000660" cy="1588"/>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2" name="구부러진 연결선 23"/>
          <p:cNvCxnSpPr/>
          <p:nvPr/>
        </p:nvCxnSpPr>
        <p:spPr>
          <a:xfrm>
            <a:off x="3413456" y="3760624"/>
            <a:ext cx="5000660" cy="1588"/>
          </a:xfrm>
          <a:prstGeom prst="straightConnector1">
            <a:avLst/>
          </a:prstGeom>
          <a:ln>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3" name="자유형 12"/>
          <p:cNvSpPr/>
          <p:nvPr/>
        </p:nvSpPr>
        <p:spPr>
          <a:xfrm rot="10800000">
            <a:off x="5357818" y="6379029"/>
            <a:ext cx="5904412" cy="478971"/>
          </a:xfrm>
          <a:custGeom>
            <a:avLst/>
            <a:gdLst>
              <a:gd name="connsiteX0" fmla="*/ 0 w 5904412"/>
              <a:gd name="connsiteY0" fmla="*/ 0 h 478971"/>
              <a:gd name="connsiteX1" fmla="*/ 5320937 w 5904412"/>
              <a:gd name="connsiteY1" fmla="*/ 0 h 478971"/>
              <a:gd name="connsiteX2" fmla="*/ 5904412 w 5904412"/>
              <a:gd name="connsiteY2" fmla="*/ 478971 h 478971"/>
              <a:gd name="connsiteX3" fmla="*/ 8709 w 5904412"/>
              <a:gd name="connsiteY3" fmla="*/ 478971 h 478971"/>
              <a:gd name="connsiteX4" fmla="*/ 0 w 5904412"/>
              <a:gd name="connsiteY4" fmla="*/ 0 h 47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4412" h="478971">
                <a:moveTo>
                  <a:pt x="0" y="0"/>
                </a:moveTo>
                <a:lnTo>
                  <a:pt x="5320937" y="0"/>
                </a:lnTo>
                <a:lnTo>
                  <a:pt x="5904412" y="478971"/>
                </a:lnTo>
                <a:lnTo>
                  <a:pt x="8709" y="47897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4114764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3804</TotalTime>
  <Words>500</Words>
  <Application>Microsoft Office PowerPoint</Application>
  <PresentationFormat>화면 슬라이드 쇼(4:3)</PresentationFormat>
  <Paragraphs>85</Paragraphs>
  <Slides>19</Slides>
  <Notes>18</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19</vt:i4>
      </vt:variant>
    </vt:vector>
  </HeadingPairs>
  <TitlesOfParts>
    <vt:vector size="28" baseType="lpstr">
      <vt:lpstr>Sandoll 너랑나랑 03 Bold</vt:lpstr>
      <vt:lpstr>나눔바른고딕</vt:lpstr>
      <vt:lpstr>Calibri Light</vt:lpstr>
      <vt:lpstr>-윤고딕330</vt:lpstr>
      <vt:lpstr>Calibri</vt:lpstr>
      <vt:lpstr>맑은 고딕</vt:lpstr>
      <vt:lpstr>Arial Black</vt:lpstr>
      <vt:lpstr>Arial</vt:lpstr>
      <vt:lpstr>Office 테마</vt:lpstr>
      <vt:lpstr>PowerPoint 프레젠테이션</vt:lpstr>
      <vt:lpstr>Index</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제목을 입력해주세요 @땅콩의 고소한 꿀팁 블로그</dc:title>
  <dc:creator>song</dc:creator>
  <cp:lastModifiedBy>차 진혁</cp:lastModifiedBy>
  <cp:revision>65</cp:revision>
  <dcterms:created xsi:type="dcterms:W3CDTF">2016-11-01T03:46:33Z</dcterms:created>
  <dcterms:modified xsi:type="dcterms:W3CDTF">2018-04-25T06:58:22Z</dcterms:modified>
</cp:coreProperties>
</file>